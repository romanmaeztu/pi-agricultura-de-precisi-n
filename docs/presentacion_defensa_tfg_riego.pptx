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7036c45dcb4f0d" /><Relationship Type="http://schemas.openxmlformats.org/officeDocument/2006/relationships/extended-properties" Target="/docProps/app.xml" Id="R4397fd57c1aa4dc1" /><Relationship Type="http://schemas.openxmlformats.org/officeDocument/2006/relationships/officeDocument" Target="/ppt/presentation.xml" Id="R9e196bd8d7f649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d716c516b644f6"/>
  </p:sldMasterIdLst>
  <p:notesMasterIdLst>
    <p:notesMasterId xmlns:r="http://schemas.openxmlformats.org/officeDocument/2006/relationships" r:id="Rd07d745ea400401c"/>
  </p:notesMasterIdLst>
  <p:sldIdLst>
    <p:sldId xmlns:r="http://schemas.openxmlformats.org/officeDocument/2006/relationships" id="256" r:id="R69eef5a8b23e4a80"/>
    <p:sldId xmlns:r="http://schemas.openxmlformats.org/officeDocument/2006/relationships" id="257" r:id="R731c00fc9f7146bf"/>
    <p:sldId xmlns:r="http://schemas.openxmlformats.org/officeDocument/2006/relationships" id="258" r:id="Ra10cf6721b8f4c45"/>
    <p:sldId xmlns:r="http://schemas.openxmlformats.org/officeDocument/2006/relationships" id="259" r:id="R0e07e7053f1a459a"/>
    <p:sldId xmlns:r="http://schemas.openxmlformats.org/officeDocument/2006/relationships" id="260" r:id="R46b73b36926141a9"/>
    <p:sldId xmlns:r="http://schemas.openxmlformats.org/officeDocument/2006/relationships" id="261" r:id="Re3e28f180fea4f97"/>
    <p:sldId xmlns:r="http://schemas.openxmlformats.org/officeDocument/2006/relationships" id="262" r:id="Ref25931790fc4527"/>
    <p:sldId xmlns:r="http://schemas.openxmlformats.org/officeDocument/2006/relationships" id="263" r:id="Read9f4870fa749f3"/>
    <p:sldId xmlns:r="http://schemas.openxmlformats.org/officeDocument/2006/relationships" id="264" r:id="Rc34af2c70754427f"/>
    <p:sldId xmlns:r="http://schemas.openxmlformats.org/officeDocument/2006/relationships" id="265" r:id="R74c5f15489d94286"/>
    <p:sldId xmlns:r="http://schemas.openxmlformats.org/officeDocument/2006/relationships" id="266" r:id="Rae8b423caed44cfa"/>
    <p:sldId xmlns:r="http://schemas.openxmlformats.org/officeDocument/2006/relationships" id="267" r:id="Rc777a9e846d24374"/>
    <p:sldId xmlns:r="http://schemas.openxmlformats.org/officeDocument/2006/relationships" id="268" r:id="Rb488593d434f40f9"/>
    <p:sldId xmlns:r="http://schemas.openxmlformats.org/officeDocument/2006/relationships" id="269" r:id="R74d75e0eb4894701"/>
    <p:sldId xmlns:r="http://schemas.openxmlformats.org/officeDocument/2006/relationships" id="270" r:id="R0b46b84ba1b74ff9"/>
    <p:sldId xmlns:r="http://schemas.openxmlformats.org/officeDocument/2006/relationships" id="271" r:id="R9624c1f7d7524c87"/>
    <p:sldId xmlns:r="http://schemas.openxmlformats.org/officeDocument/2006/relationships" id="272" r:id="R9b8ffb62c7e049e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d716c516b644f6" /><Relationship Type="http://schemas.openxmlformats.org/officeDocument/2006/relationships/theme" Target="/ppt/theme/theme1.xml" Id="R47266210174848c9" /><Relationship Type="http://schemas.openxmlformats.org/officeDocument/2006/relationships/notesMaster" Target="/ppt/notesMasters/notesMaster1.xml" Id="Rd07d745ea400401c" /><Relationship Type="http://schemas.openxmlformats.org/officeDocument/2006/relationships/presProps" Target="/ppt/presProps.xml" Id="R13a53cc2ea7d46d3" /><Relationship Type="http://schemas.openxmlformats.org/officeDocument/2006/relationships/viewProps" Target="/ppt/viewProps.xml" Id="R7d00d441e0d74f58" /><Relationship Type="http://schemas.openxmlformats.org/officeDocument/2006/relationships/tableStyles" Target="/ppt/tableStyles.xml" Id="Ra74b1596986e4dfa" /><Relationship Type="http://schemas.openxmlformats.org/officeDocument/2006/relationships/slide" Target="/ppt/slides/slide1.xml" Id="R69eef5a8b23e4a80" /><Relationship Type="http://schemas.openxmlformats.org/officeDocument/2006/relationships/slide" Target="/ppt/slides/slide2.xml" Id="R731c00fc9f7146bf" /><Relationship Type="http://schemas.openxmlformats.org/officeDocument/2006/relationships/slide" Target="/ppt/slides/slide3.xml" Id="Ra10cf6721b8f4c45" /><Relationship Type="http://schemas.openxmlformats.org/officeDocument/2006/relationships/slide" Target="/ppt/slides/slide4.xml" Id="R0e07e7053f1a459a" /><Relationship Type="http://schemas.openxmlformats.org/officeDocument/2006/relationships/slide" Target="/ppt/slides/slide5.xml" Id="R46b73b36926141a9" /><Relationship Type="http://schemas.openxmlformats.org/officeDocument/2006/relationships/slide" Target="/ppt/slides/slide6.xml" Id="Re3e28f180fea4f97" /><Relationship Type="http://schemas.openxmlformats.org/officeDocument/2006/relationships/slide" Target="/ppt/slides/slide7.xml" Id="Ref25931790fc4527" /><Relationship Type="http://schemas.openxmlformats.org/officeDocument/2006/relationships/slide" Target="/ppt/slides/slide8.xml" Id="Read9f4870fa749f3" /><Relationship Type="http://schemas.openxmlformats.org/officeDocument/2006/relationships/slide" Target="/ppt/slides/slide9.xml" Id="Rc34af2c70754427f" /><Relationship Type="http://schemas.openxmlformats.org/officeDocument/2006/relationships/slide" Target="/ppt/slides/slide10.xml" Id="R74c5f15489d94286" /><Relationship Type="http://schemas.openxmlformats.org/officeDocument/2006/relationships/slide" Target="/ppt/slides/slide11.xml" Id="Rae8b423caed44cfa" /><Relationship Type="http://schemas.openxmlformats.org/officeDocument/2006/relationships/slide" Target="/ppt/slides/slide12.xml" Id="Rc777a9e846d24374" /><Relationship Type="http://schemas.openxmlformats.org/officeDocument/2006/relationships/slide" Target="/ppt/slides/slide13.xml" Id="Rb488593d434f40f9" /><Relationship Type="http://schemas.openxmlformats.org/officeDocument/2006/relationships/slide" Target="/ppt/slides/slide14.xml" Id="R74d75e0eb4894701" /><Relationship Type="http://schemas.openxmlformats.org/officeDocument/2006/relationships/slide" Target="/ppt/slides/slide15.xml" Id="R0b46b84ba1b74ff9" /><Relationship Type="http://schemas.openxmlformats.org/officeDocument/2006/relationships/slide" Target="/ppt/slides/slide16.xml" Id="R9624c1f7d7524c87" /><Relationship Type="http://schemas.openxmlformats.org/officeDocument/2006/relationships/slide" Target="/ppt/slides/slide17.xml" Id="R9b8ffb62c7e049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c9ebd374b2f46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bfc658b3e2453c" /><Relationship Type="http://schemas.openxmlformats.org/officeDocument/2006/relationships/notesMaster" Target="/ppt/notesMasters/notesMaster1.xml" Id="R3da8e0ec06b846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818429e65f4b51" /><Relationship Type="http://schemas.openxmlformats.org/officeDocument/2006/relationships/notesMaster" Target="/ppt/notesMasters/notesMaster1.xml" Id="R454d63227c8346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81aa5a106c401b" /><Relationship Type="http://schemas.openxmlformats.org/officeDocument/2006/relationships/notesMaster" Target="/ppt/notesMasters/notesMaster1.xml" Id="Rcb6aab273a9143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e434536d7645a1" /><Relationship Type="http://schemas.openxmlformats.org/officeDocument/2006/relationships/notesMaster" Target="/ppt/notesMasters/notesMaster1.xml" Id="R1dba9f5b1c0540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c3b008a0c74a17" /><Relationship Type="http://schemas.openxmlformats.org/officeDocument/2006/relationships/notesMaster" Target="/ppt/notesMasters/notesMaster1.xml" Id="Rbf0822799bf843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ffdbb3ea1e49df" /><Relationship Type="http://schemas.openxmlformats.org/officeDocument/2006/relationships/notesMaster" Target="/ppt/notesMasters/notesMaster1.xml" Id="Ra2df3b0c4c5c4e7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aee63f62b14920" /><Relationship Type="http://schemas.openxmlformats.org/officeDocument/2006/relationships/notesMaster" Target="/ppt/notesMasters/notesMaster1.xml" Id="R5c7bb0f516f44a7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f94ae45f974235" /><Relationship Type="http://schemas.openxmlformats.org/officeDocument/2006/relationships/notesMaster" Target="/ppt/notesMasters/notesMaster1.xml" Id="R1cd96cd33e0b46c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8f1c7d9b58a4881" /><Relationship Type="http://schemas.openxmlformats.org/officeDocument/2006/relationships/notesMaster" Target="/ppt/notesMasters/notesMaster1.xml" Id="Rd75697c3b91145c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10847451e284f76" /><Relationship Type="http://schemas.openxmlformats.org/officeDocument/2006/relationships/notesMaster" Target="/ppt/notesMasters/notesMaster1.xml" Id="Rb50d2c322464458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8ca1658640a41ef" /><Relationship Type="http://schemas.openxmlformats.org/officeDocument/2006/relationships/notesMaster" Target="/ppt/notesMasters/notesMaster1.xml" Id="Rcfedfd57666a4ba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269a72bab804f9a" /><Relationship Type="http://schemas.openxmlformats.org/officeDocument/2006/relationships/notesMaster" Target="/ppt/notesMasters/notesMaster1.xml" Id="Re8d93f376e2e421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bfb74ef60a941f3" /><Relationship Type="http://schemas.openxmlformats.org/officeDocument/2006/relationships/notesMaster" Target="/ppt/notesMasters/notesMaster1.xml" Id="R8a0345b21417492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c772947ec2f4f5c" /><Relationship Type="http://schemas.openxmlformats.org/officeDocument/2006/relationships/notesMaster" Target="/ppt/notesMasters/notesMaster1.xml" Id="R7b857b61bb7d499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3264535693345ba" /><Relationship Type="http://schemas.openxmlformats.org/officeDocument/2006/relationships/notesMaster" Target="/ppt/notesMasters/notesMaster1.xml" Id="Rd76252ff0a724cf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b0433c5ccd74c18" /><Relationship Type="http://schemas.openxmlformats.org/officeDocument/2006/relationships/notesMaster" Target="/ppt/notesMasters/notesMaster1.xml" Id="R3b4b42f0858c424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10c0678a6654cc6" /><Relationship Type="http://schemas.openxmlformats.org/officeDocument/2006/relationships/notesMaster" Target="/ppt/notesMasters/notesMaster1.xml" Id="R174d83f1821848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fc503c96ce463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9d4f6a7494546ce" /><Relationship Type="http://schemas.openxmlformats.org/officeDocument/2006/relationships/slideLayout" Target="/ppt/slideLayouts/slideLayout2.xml" Id="R38d3132fd4cd4f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d3132fd4cd4f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d3be6ddae646a3" /><Relationship Type="http://schemas.openxmlformats.org/officeDocument/2006/relationships/notesSlide" Target="/ppt/notesSlides/notesSlide1.xml" Id="R73b7d916590841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8d129d5d3d4114" /><Relationship Type="http://schemas.openxmlformats.org/officeDocument/2006/relationships/notesSlide" Target="/ppt/notesSlides/notesSlide2.xml" Id="R479d3b9448ba45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2bc6b44ae54f83" /><Relationship Type="http://schemas.openxmlformats.org/officeDocument/2006/relationships/notesSlide" Target="/ppt/notesSlides/notesSlide3.xml" Id="R9b48fde61b1144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d169acc2084aad" /><Relationship Type="http://schemas.openxmlformats.org/officeDocument/2006/relationships/notesSlide" Target="/ppt/notesSlides/notesSlide4.xml" Id="Rfa98fdab5da847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2a359b5e094ec9" /><Relationship Type="http://schemas.openxmlformats.org/officeDocument/2006/relationships/notesSlide" Target="/ppt/notesSlides/notesSlide5.xml" Id="R699254f635ad4e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aab526d57b430f" /><Relationship Type="http://schemas.openxmlformats.org/officeDocument/2006/relationships/notesSlide" Target="/ppt/notesSlides/notesSlide6.xml" Id="R2e36cb2aa08b472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d31b9f11bb42f6" /><Relationship Type="http://schemas.openxmlformats.org/officeDocument/2006/relationships/notesSlide" Target="/ppt/notesSlides/notesSlide7.xml" Id="Ra06c3702f5644e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e3fd1790ce4365" /><Relationship Type="http://schemas.openxmlformats.org/officeDocument/2006/relationships/notesSlide" Target="/ppt/notesSlides/notesSlide8.xml" Id="R3565f4a0b544445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8cbd8fede245e9" /><Relationship Type="http://schemas.openxmlformats.org/officeDocument/2006/relationships/notesSlide" Target="/ppt/notesSlides/notesSlide9.xml" Id="R14cc43dcd65740b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b0787076a24b3e" /><Relationship Type="http://schemas.openxmlformats.org/officeDocument/2006/relationships/notesSlide" Target="/ppt/notesSlides/notesSlide10.xml" Id="R8cb4e8a404a9459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6bcde417364657" /><Relationship Type="http://schemas.openxmlformats.org/officeDocument/2006/relationships/notesSlide" Target="/ppt/notesSlides/notesSlide11.xml" Id="R36ff77cfdeb94ff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4d96d8f32d46f9" /><Relationship Type="http://schemas.openxmlformats.org/officeDocument/2006/relationships/image" Target="/ppt/media/image.jpeg" Id="R3ee32b9c2d4843a4" /><Relationship Type="http://schemas.openxmlformats.org/officeDocument/2006/relationships/notesSlide" Target="/ppt/notesSlides/notesSlide12.xml" Id="R05d4fc284a0d4a9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80d1554a004ca0" /><Relationship Type="http://schemas.openxmlformats.org/officeDocument/2006/relationships/notesSlide" Target="/ppt/notesSlides/notesSlide13.xml" Id="Rdb1d12f6a29c4f9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966bb4b2b34d22" /><Relationship Type="http://schemas.openxmlformats.org/officeDocument/2006/relationships/notesSlide" Target="/ppt/notesSlides/notesSlide14.xml" Id="R9ae05ab8b87e4d5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8916045c1747a2" /><Relationship Type="http://schemas.openxmlformats.org/officeDocument/2006/relationships/notesSlide" Target="/ppt/notesSlides/notesSlide15.xml" Id="R3a68baaa9a6e4c4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91eeb110be4079" /><Relationship Type="http://schemas.openxmlformats.org/officeDocument/2006/relationships/notesSlide" Target="/ppt/notesSlides/notesSlide16.xml" Id="R74cb568415ba4d5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689ec8430e4089" /><Relationship Type="http://schemas.openxmlformats.org/officeDocument/2006/relationships/notesSlide" Target="/ppt/notesSlides/notesSlide17.xml" Id="Rf4f9a07d2944488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ADB28E-78FA-4B2F-84B3-374C1703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C88570-F904-49B6-9FAA-560A4D4E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F988E-0D38-4866-989C-1ED3D1F7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A6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EA5663-BD1C-4B1E-88A4-77053BE0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8650"/>
            <a:ext cx="457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CD4D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CD4D9"/>
                </a:solidFill>
                <a:latin typeface="Aptos"/>
                <a:ea typeface="Aptos"/>
                <a:cs typeface="Aptos"/>
              </a:rPr>
              <a:t>Proyecto Intermodular · Mayo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DEB846-9144-4109-BC30-4A995303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382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Sistema predictivo de recomendación de riego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D2D667-7274-4A48-B06B-60F64950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7E1D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7E1DE"/>
                </a:solidFill>
                <a:latin typeface="Aptos"/>
                <a:ea typeface="Aptos"/>
                <a:cs typeface="Aptos"/>
              </a:rPr>
              <a:t>AEMET + cálculo agronómico + Machine Learning para decidir cuánta agua aplicar a una parcela.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2DCB3D-B0CE-439C-8CD7-9C62C54D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A6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FDC5AD-FCB0-45DC-80B8-E4C03414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AEMET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E199C6-D14B-42EF-BE33-2E683F50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7E1D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7E1DE"/>
                </a:solidFill>
                <a:latin typeface="Aptos"/>
                <a:ea typeface="Aptos"/>
                <a:cs typeface="Aptos"/>
              </a:rPr>
              <a:t>datos oficiales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6A0F69-B5B5-4309-8F9F-C155B6F5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95925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EBEB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AEBEBA"/>
                </a:solidFill>
                <a:latin typeface="Aptos"/>
                <a:ea typeface="Aptos"/>
                <a:cs typeface="Aptos"/>
              </a:rPr>
              <a:t>estación, fechas y clima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7FD519-E674-4349-A741-F8347682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9530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55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BF4B5A-973F-4E66-9258-92DA0E73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9149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ET0/Kc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8950D7-0539-4CE2-A273-8CB11D4A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3340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7E1D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7E1DE"/>
                </a:solidFill>
                <a:latin typeface="Aptos"/>
                <a:ea typeface="Aptos"/>
                <a:cs typeface="Aptos"/>
              </a:rPr>
              <a:t>cálculo trazable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6C4E7F-7357-4965-B5AC-DE1EB475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49592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EBEB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AEBEBA"/>
                </a:solidFill>
                <a:latin typeface="Aptos"/>
                <a:ea typeface="Aptos"/>
                <a:cs typeface="Aptos"/>
              </a:rPr>
              <a:t>mm de riego -&gt; litros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65CAD7-41E2-4C71-A42B-3663D9E0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9530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73E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500839-1BEF-4275-96DD-045C1A2E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149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ML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992D13-3F3F-4F7F-9198-0768A872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3340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7E1D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7E1DE"/>
                </a:solidFill>
                <a:latin typeface="Aptos"/>
                <a:ea typeface="Aptos"/>
                <a:cs typeface="Aptos"/>
              </a:rPr>
              <a:t>capa predictiva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3D4961-E63A-4BDC-89BC-3614D055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49592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EBEB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AEBEBA"/>
                </a:solidFill>
                <a:latin typeface="Aptos"/>
                <a:ea typeface="Aptos"/>
                <a:cs typeface="Aptos"/>
              </a:rPr>
              <a:t>predice riego_bruto_mm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08B6A1-665A-41DF-B756-8527B224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9530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A6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F56C47-E827-4670-9F2C-B51DE0AF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9149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Demo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880064-1F37-45E8-BE03-6E9BAA33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3340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7E1D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7E1DE"/>
                </a:solidFill>
                <a:latin typeface="Aptos"/>
                <a:ea typeface="Aptos"/>
                <a:cs typeface="Aptos"/>
              </a:rPr>
              <a:t>servicio usable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7A7545-3AFE-4131-82E8-02F2614C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49592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EBEB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AEBEBA"/>
                </a:solidFill>
                <a:latin typeface="Aptos"/>
                <a:ea typeface="Aptos"/>
                <a:cs typeface="Aptos"/>
              </a:rPr>
              <a:t>Streamlit + CSV estable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13BE46-DDCD-4562-B49A-03F907FC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96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Roman Maeztu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554416-54DC-4F57-8AC6-3E5AAE1C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1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7C5FC5-29AF-4C36-80BF-72AC662D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Defensa TFG · Agricultura de precisión aplicada al riego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7D8184-3007-4DEE-A82D-6B948CB6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770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9746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0849384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46D20C-FC07-4F48-9253-3F4C0249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3523AC-2C3D-449C-A71D-34C7D248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55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9DD60E-1F6D-4C81-861C-0510B38F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9746B"/>
                </a:solidFill>
                <a:latin typeface="Aptos"/>
                <a:ea typeface="Aptos"/>
                <a:cs typeface="Aptos"/>
              </a:rPr>
              <a:t>ESTRUCTURA DE DEFENSA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70C65B-85BF-460F-A0AE-3134A58D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6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2026"/>
                </a:solidFill>
                <a:latin typeface="Georgia"/>
                <a:ea typeface="Georgia"/>
                <a:cs typeface="Georgia"/>
              </a:rPr>
              <a:t>La presentación cuenta el proyecto en 30 minutos, con una demo breve dentro del relato.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CE93DA-9920-4910-B8E4-8449E781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0"/>
            <a:ext cx="1619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5246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F6748-D114-447F-B7EF-CF057E6D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3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F20D0-CB52-4B9B-98E1-C81420A6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8610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Contexto y problema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C3715C-365C-4878-8001-FFDEB863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667000"/>
            <a:ext cx="1619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55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C9AF41-C239-4B0F-828F-6DCE8E97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194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4 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8C0DC0-C7D7-4AD3-B85E-EBA9365E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08610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Objetivos y alcance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8E380C-33EC-42CC-BDB4-50DC2A0D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67000"/>
            <a:ext cx="1619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A6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C8D6A1-CA36-42AB-91F3-43A9FC42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194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5 min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A8936C-1687-4D4F-9641-0231E319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8610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Arquitectura y datos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3D482A-1D64-4A52-BB46-4D58CFE7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67000"/>
            <a:ext cx="1619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73E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C97846-33D0-457C-B108-D22E58D7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194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6 min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7D3545-04E6-4F0E-A54A-881703C6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8610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Cálculo y ML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2311B6-35CA-47FE-8B52-871E8924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67000"/>
            <a:ext cx="200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55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771C34-181E-4C6C-870F-1217EA17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1940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6-8 min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C3E3D0-7EA1-4EE1-9C47-6684C3E6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86100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Demo estable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8149EB-6745-45F9-8C4E-B397CFF7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667000"/>
            <a:ext cx="1619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A6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C1B122-0681-4E79-B357-F6D6C0D6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194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4-5 min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A40E6F-7703-4201-B41E-3309D4EB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08610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Resultados y cierre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12E0C2-529E-4DF3-8DE0-D1DC334B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0"/>
            <a:ext cx="4476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ED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ABB3F0-57AF-45AD-9579-9166A810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0"/>
            <a:ext cx="447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A6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023054-5868-41DF-856E-34098816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62450"/>
            <a:ext cx="413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Idea de control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96E6F1-FAC7-40EC-AC36-17B44E8D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48200"/>
            <a:ext cx="4133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La demo no dura 30 minutos: es una prueba de 6-8 minutos dentro de una defensa completa.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CCA86B-1621-4E7C-BE9E-96F8D7B6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4476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ED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EF932E-2D74-4DE5-B551-8EEF4977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447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55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00F199-E070-4C03-AEAB-59C3F9AA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62450"/>
            <a:ext cx="413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Regla de exposición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4E56A3-DC8D-4CC5-A5C6-D2825F6F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48200"/>
            <a:ext cx="4133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Cada bloque responde a una pregunta: por qué, qué se ha hecho, cómo funciona y qué resultados produce.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E8D63B-E701-4365-9E57-F8F41821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1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FFB700-CEFF-4DF7-8AC0-B043E927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Guion preparado para defensa oral de 30 minutos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57A439-6BE2-4183-9492-A654FCA7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770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9746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492718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C7745A-C8EC-439F-821D-758437ED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F2C507-0E82-4247-B837-A015C050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55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A3660D-7FF4-4DC8-9328-51B53849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9746B"/>
                </a:solidFill>
                <a:latin typeface="Aptos"/>
                <a:ea typeface="Aptos"/>
                <a:cs typeface="Aptos"/>
              </a:rPr>
              <a:t>PROBLEMA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8633E8-338B-4895-90FF-E7E67265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6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2026"/>
                </a:solidFill>
                <a:latin typeface="Georgia"/>
                <a:ea typeface="Georgia"/>
                <a:cs typeface="Georgia"/>
              </a:rPr>
              <a:t>Regar por calendario o intuición puede desperdiciar agua o generar estrés hídrico.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EFDA94-0B98-4989-8381-927B2C7A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3619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E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8189E0-B4ED-4970-B03E-65F9BA58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3619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5246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89C2C6-C0EE-4BFB-940B-F33252CB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14600"/>
            <a:ext cx="3276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Riego insuficiente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A0EC91-E504-4574-BDA2-F3E9D5F5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0350"/>
            <a:ext cx="3276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La planta recibe menos agua de la necesaria. Puede aparecer estrés hídrico, menor desarrollo y pérdida potencial de producción.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BC8E60-BD31-46D7-B54D-F48797B7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43150"/>
            <a:ext cx="3619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E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451141-C240-4B8F-86E9-D64DCD01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43150"/>
            <a:ext cx="3619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73E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1432D7-4643-4979-9C07-F67D9013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14600"/>
            <a:ext cx="3276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Riego excesivo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223DB7-D755-4416-8B4E-BF1D8493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00350"/>
            <a:ext cx="3276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Se desperdicia agua, aumenta el coste energético y puede empeorar la eficiencia del uso del recurso.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58A0DA-9D81-4249-A9FA-674D0EC8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43150"/>
            <a:ext cx="1714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3831DC-C012-4F87-BF7D-5E27122C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717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CD4D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CD4D9"/>
                </a:solidFill>
                <a:latin typeface="Aptos"/>
                <a:ea typeface="Aptos"/>
                <a:cs typeface="Aptos"/>
              </a:rPr>
              <a:t>Pregunta del proyecto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336A4A-C5D7-43F3-A937-490B2E2A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09900"/>
            <a:ext cx="13716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¿Cuánta agua necesita esta parcela, con este cultivo, en este periodo climático?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ACDAEA-327C-4D48-9BB7-32C85B34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1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0DC32E-7D29-4AF3-8858-56D78E2C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Problema: eficiencia hídrica y toma de decisiones basada en datos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A7069A-2AD5-4999-83AC-BF4DFB3D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770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9746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4789737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CADFA4-6107-4F17-810D-A9E515DD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304F2A-2588-4368-B239-C979B326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55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7379F1-64B9-4325-9C74-158E49A4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9746B"/>
                </a:solidFill>
                <a:latin typeface="Aptos"/>
                <a:ea typeface="Aptos"/>
                <a:cs typeface="Aptos"/>
              </a:rPr>
              <a:t>OBJETIVOS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F8ECE6-3786-45A0-BD2E-875B6966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6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2026"/>
                </a:solidFill>
                <a:latin typeface="Georgia"/>
                <a:ea typeface="Georgia"/>
                <a:cs typeface="Georgia"/>
              </a:rPr>
              <a:t>La escalera de objetivos convierte una idea general en entregables comprobables.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AF2A67-7B84-4F2D-9619-22A9567A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55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A8956C-539C-4544-AA3C-58BEAAA4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18D87F-6693-480B-84D6-277789DB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621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8BC353-2076-4855-A91E-A168C2B6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81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clima, cultivo y parcela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D0E5D6-0289-4363-BC7E-593CC533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9621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55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C9C010-56A5-466C-AA6F-DEA4F362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1930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Cumplido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21AADF-6C37-44EA-9B03-E7083253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A6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A2E4FD-B9F1-4EE4-9208-6B1EA458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E26AD4-34FB-4D99-B81C-86093A6E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146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AEMET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0CA407-DE8F-4E27-BC53-C3C3F755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336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estaciones y datos diarios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6B284A-7A2A-40EA-8E04-9D215520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146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55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16E90B-0C75-4C02-AE60-B6A7F2EC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7175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Cumplido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477B97-72AB-42B1-8AAD-4A506CFF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55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B4E9E9-6585-4A97-B620-9333A500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140DBB-6487-41BA-A915-9BAC3F21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670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Cálculo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7411C8-C620-4BC0-8F10-7053EBEF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861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ETc, lluvia, riego y litros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10D646-57BA-47F1-A01F-7CC94F70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670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55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8D6907-0850-41DD-9EEF-9C39ACE8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2420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Cumplido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8C1269-39DC-4D05-835F-9C1CAD46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A6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E0E426-88BE-4477-8022-4CFE2119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A59C8E-BF20-4F60-A818-F7DBD758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195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Cultivos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288AF0-64F2-4056-8BAB-F8FA46C7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385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olivar, cítricos y almendro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B9EDD5-1ABD-4E5E-A041-1FC756194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195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55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830CA3-BAF7-41F4-97AD-B42F927D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7665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Cumplido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0EF406-D6AC-4CF9-9862-FE7E8443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55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9BFC27-0B35-49C0-A4EF-57F8F805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A584C7-6462-4307-9C09-1ED67492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719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ML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B60CE0-8258-4E40-9776-71123126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910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predicción de riego_bruto_mm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CF9B68-C7DF-45E2-99A7-0578EFF2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1719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55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F864A1-6D4F-4FDA-8D6F-799EC2E9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22910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Cumplido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4A8346-8E66-4532-A514-C23F0FDF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2440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A6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003FF9-E650-4AF0-9B0F-BD193B34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815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8DA105-C81E-4B9C-9D1A-1ED4241E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244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Interfaz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B8CA70-980B-4825-BB4E-00E9BA4B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434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Streamlit para cliente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88B9CFF-311A-4CB0-99EC-6F581058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7244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55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A174EE-7078-4754-9C4A-0AD19ECC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78155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Cumplido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4B2F325-0B7E-45BD-B994-34C3C9BF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7685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55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F3E1267-FCAB-42D1-991D-E4ED756E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B35746-DA44-4220-82C3-915A509B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2768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Validación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A830998-4D88-49CF-8988-7C492385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959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tests, capturas y GitHub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69A4C63-20F7-4357-945E-9484D87E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2768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55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14F423F-F8ED-4B2B-B489-970F85BB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33400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Cumplido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453FCB3-ADA2-4756-AE79-DA12169F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1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571F838-0768-4C40-B146-AC629A8D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Objetivo general: optimizar la recomendación de riego con datos y ML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26631B6-F123-4034-916E-8FC1D794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770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9746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4413759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77B941-4C7C-4D76-BA7F-5839A93E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5DB82B-8AB5-4C70-8D71-A9D51789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55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E4FD50-FA24-4D1C-92EC-70F71CE3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9746B"/>
                </a:solidFill>
                <a:latin typeface="Aptos"/>
                <a:ea typeface="Aptos"/>
                <a:cs typeface="Aptos"/>
              </a:rPr>
              <a:t>ALCANCE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F8D5FD-79C9-4DDB-936D-39D24CC1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6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2026"/>
                </a:solidFill>
                <a:latin typeface="Georgia"/>
                <a:ea typeface="Georgia"/>
                <a:cs typeface="Georgia"/>
              </a:rPr>
              <a:t>El proyecto defiende lo implementado: necesidad hídrica, no diseño hidráulico.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2CECE5-5E00-49C9-9C43-1C099F3D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383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7A5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E7A55"/>
                </a:solidFill>
                <a:latin typeface="Aptos"/>
                <a:ea typeface="Aptos"/>
                <a:cs typeface="Aptos"/>
              </a:rPr>
              <a:t>Sí se entrega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0A4D86-E486-44F2-8C01-14826750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38350"/>
            <a:ext cx="381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552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55246"/>
                </a:solidFill>
                <a:latin typeface="Aptos"/>
                <a:ea typeface="Aptos"/>
                <a:cs typeface="Aptos"/>
              </a:rPr>
              <a:t>Queda fuera / mejora futura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E67300-0FF7-4393-AA01-9BB7183B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336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7A5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E7A55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C63574-7829-4728-B14B-61ACF59F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336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AEMET API, CSV local y caché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CC4B07-4E68-4D9E-BBDF-7ACF38A5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337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7A5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E7A55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1097F7-13E8-4B31-AC1F-4C76302C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337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Cálculo de litros y mm de riego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674F0B-69C0-4735-B8DF-FE0CAC7E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337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7A5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E7A55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54D9F8-B9A6-41D7-A9AE-1EC89BDD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337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Tres cultivos configurables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59CB68-026A-476F-A211-5413995B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338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7A5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E7A55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470CCE-5791-4A2C-BA9A-563B557C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338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Interfaz Streamlit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919224-57FF-4D84-BA98-6B69B514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338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7A5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E7A55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6AC2E9-B85A-45D0-8B93-64A05A1F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338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Modelo ML entrenable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0E7F61-AB17-4788-ACA2-5F9A08FC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339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7A5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E7A55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0501C2-4796-4BBA-9FF3-64276B24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339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Pruebas unitarias y GitHub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62346A-603C-43EA-A74D-66181E9F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5524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55246"/>
                </a:solidFill>
                <a:latin typeface="Aptos"/>
                <a:ea typeface="Aptos"/>
                <a:cs typeface="Aptos"/>
              </a:rPr>
              <a:t>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751361-3020-4FD6-A08D-18672024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336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Sensores IoT en campo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622A89-641A-4401-8C36-8B4ABFC0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337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5524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55246"/>
                </a:solidFill>
                <a:latin typeface="Aptos"/>
                <a:ea typeface="Aptos"/>
                <a:cs typeface="Aptos"/>
              </a:rPr>
              <a:t>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48903A-769B-409A-9A84-B27C0898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337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BigQuery desplegado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367AF9-4F70-419D-B99E-A73B4F03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5524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55246"/>
                </a:solidFill>
                <a:latin typeface="Aptos"/>
                <a:ea typeface="Aptos"/>
                <a:cs typeface="Aptos"/>
              </a:rPr>
              <a:t>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F9CC4A-E0C4-45F1-AFD2-2FEF7505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337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Diseño de goteros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EC0F57-DCC2-4295-9ECF-FD9009C4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338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5524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55246"/>
                </a:solidFill>
                <a:latin typeface="Aptos"/>
                <a:ea typeface="Aptos"/>
                <a:cs typeface="Aptos"/>
              </a:rPr>
              <a:t>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52B394-310A-45F5-BBBE-25D051C3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7338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Humedad del suelo como entrada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C994C7-814C-4E0D-82FA-B7DD0046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338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5524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55246"/>
                </a:solidFill>
                <a:latin typeface="Aptos"/>
                <a:ea typeface="Aptos"/>
                <a:cs typeface="Aptos"/>
              </a:rPr>
              <a:t>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5B514F-DB6B-46F0-96F0-07EEE74E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338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Validación con riego real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82C473-412E-4AB0-852B-A587F50E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339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5524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55246"/>
                </a:solidFill>
                <a:latin typeface="Aptos"/>
                <a:ea typeface="Aptos"/>
                <a:cs typeface="Aptos"/>
              </a:rPr>
              <a:t>—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139BB4-5C08-4D5D-83D1-47F59E19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339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ROI comercial medido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7B705C-4A0B-4086-857B-5849AE27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1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465230-BF68-4DC8-8F71-C35FCFC3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Alcance actualizado: IoT y BigQuery se mencionan solo como futuro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A1B042-2967-4A5E-9C68-7344CC67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770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9746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8961088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704412-DE15-433D-9B10-FBC4D0CB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0C4F89-12BA-499C-AEB9-B5123CBB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55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4EC246-F3D7-4907-B94B-08BF0CF7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9746B"/>
                </a:solidFill>
                <a:latin typeface="Aptos"/>
                <a:ea typeface="Aptos"/>
                <a:cs typeface="Aptos"/>
              </a:rPr>
              <a:t>ARQUITECTURA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B7CBE8-964B-449B-BF44-DF535A37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6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2026"/>
                </a:solidFill>
                <a:latin typeface="Georgia"/>
                <a:ea typeface="Georgia"/>
                <a:cs typeface="Georgia"/>
              </a:rPr>
              <a:t>El sistema transforma una petición del cliente en una recomendación exportable.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84B5C8-1ECD-4217-822A-27CC067A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E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018E52-7B41-482D-A297-4D950D04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55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1D4DF8-EA8C-4907-981E-6CA41261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Cliente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5549D5-870C-414E-B196-B918D740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zona · fechas · cultivo · superficie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5D7BEB-4479-4202-A99E-5F3F6F46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2861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46B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4459D0-1B46-41DB-8D0D-F48ADA78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181350"/>
            <a:ext cx="152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9746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0BED1E-9750-4F1B-9848-C1C667EC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5750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E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5FCCE6-4BFA-4D61-8528-62498FA8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575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A6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DF68A6-ABEF-4402-87E6-698A4284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0289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Streamlit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14972A-05F1-4442-9527-49D34682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9565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interfaz de decisión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246BA8-DF8E-4595-B001-D371C682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2861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46B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029A3A-9247-4287-BB08-C74858A6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81350"/>
            <a:ext cx="152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9746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89DC71-B19F-4518-9A49-470FF298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5750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E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2732AC-6251-46EE-88D6-2B035859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575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73E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E98A53-2E86-42A3-AD90-7984D82C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289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AEMET / CSV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CEAD0E-9A1B-4017-92DE-D7DCF99D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9565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datos climáticos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7C2B56-9D89-4584-BFAA-493C3D91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861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46B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D30638-920C-4A14-BE8F-E78E7829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181350"/>
            <a:ext cx="152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9746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8520EC-7C55-4DB5-96A7-28C2E3AA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5750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ED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ABD046-1A2D-4B5C-9A6E-3ECF52FB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575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55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41137F-1246-4AFA-A60F-514DA07D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289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ETL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3257B2-F351-4D45-8C73-48D4B883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9565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limpieza y estructura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BA6CA5-C92E-4394-ACED-5C3F0024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861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46B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CAED7F-E46F-4C4C-98F5-C02D3160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81350"/>
            <a:ext cx="152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9746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F9F1C7-B1F6-45E1-AF44-9346003E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5750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ED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D174EE-C08E-44C6-B671-0821A4C9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575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A6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36725C-6B96-47C1-AF35-B1FD146F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Cálculo + ML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E65B9D-50AB-4129-8DBA-E996056B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9565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mm de riego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AAFA61-6B60-4B47-9AA8-BCC34FE0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2861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46B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4987E3-29FE-426D-AA83-4C85E2F7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81350"/>
            <a:ext cx="152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9746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93DEC9-2F2E-4AFD-8912-5B89DCA2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85750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ED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076790-5858-4D97-8416-B739A6A3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8575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73E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81BFC3-D91E-4AC7-8274-9D0076F3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0289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Informe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2F74FF-6AEB-4B86-BAD8-C7434120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29565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litros y detalle diario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5AE04F8-A022-4C69-8C75-E9746436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629150"/>
            <a:ext cx="3714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ED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B1AA342-F423-4197-86AA-A4E453D8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629150"/>
            <a:ext cx="371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A6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98886F-8C98-47FC-9D2E-37FFD111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800600"/>
            <a:ext cx="3371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Modo defensa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3256BA7-67AA-4289-8A10-A97BE711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086350"/>
            <a:ext cx="3371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Usar CSV local evita depender de la API durante la exposición y mantiene los resultados reproducibles.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166CDCD-D7F7-40CB-93AC-FA4BA1AE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29150"/>
            <a:ext cx="3714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ED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12F2644-099B-4756-BDF5-A0B6217B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29150"/>
            <a:ext cx="371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55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13D939B-A45B-4DC9-BD39-8ECF1EB5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00600"/>
            <a:ext cx="3371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Modo real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F690BCA-7429-4190-A99D-B0B68D1A9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86350"/>
            <a:ext cx="3371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La misma arquitectura permite volver a AEMET API o caché local cuando se necesite actualizar datos.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B16D1E6-386A-466F-8DFC-0ACC0C1A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1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CD68B1B-F031-4A65-849F-5FD55AE5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Arquitectura: Streamlit + AEMET/CSV + motor agronómico + ML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55B5DA0-2D4B-4DF9-9499-3270C2C9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770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9746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9516333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780BE8-CA2C-4188-A48E-176A8001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A08BBA-7519-4D49-A1F3-FD50A885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55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AE4639-24BD-426D-91B9-55CB3B0D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9746B"/>
                </a:solidFill>
                <a:latin typeface="Aptos"/>
                <a:ea typeface="Aptos"/>
                <a:cs typeface="Aptos"/>
              </a:rPr>
              <a:t>DATOS DE ENTRADA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74B6EB-2793-4218-A653-7A71F7F6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6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2026"/>
                </a:solidFill>
                <a:latin typeface="Georgia"/>
                <a:ea typeface="Georgia"/>
                <a:cs typeface="Georgia"/>
              </a:rPr>
              <a:t>El flujo principal usa solo variables necesarias para calcular agua.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FBF4D8-A9FA-4823-A76F-A27A5AF7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22669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E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7788EB-3BE0-4BBD-9781-0B802929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2266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A6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1D8D03-2AE5-4C47-A755-80FD0E58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7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Localización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177AA1-30FF-4252-862F-8852AB80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62300"/>
            <a:ext cx="1733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estación AEMET</a:t>
            </a:r>
          </a:p>
          <a:p xmlns:a="http://schemas.openxmlformats.org/drawingml/2006/main">
            <a:pPr algn="ctr">
              <a:defRPr sz="1125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provincia</a:t>
            </a:r>
          </a:p>
          <a:p xmlns:a="http://schemas.openxmlformats.org/drawingml/2006/main">
            <a:pPr algn="ctr">
              <a:defRPr sz="1125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nombre estación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3357E2-4543-4839-83B2-AF3129E7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81250"/>
            <a:ext cx="22669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E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D3792E-8191-4E50-A43B-98736C27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81250"/>
            <a:ext cx="2266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55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85ED54-1169-42C2-932B-E20E4505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47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Clima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043DF3-B320-403C-8068-148B9FF6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62300"/>
            <a:ext cx="1733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ET0</a:t>
            </a:r>
          </a:p>
          <a:p xmlns:a="http://schemas.openxmlformats.org/drawingml/2006/main">
            <a:pPr algn="ctr">
              <a:defRPr sz="1125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lluvia</a:t>
            </a:r>
          </a:p>
          <a:p xmlns:a="http://schemas.openxmlformats.org/drawingml/2006/main">
            <a:pPr algn="ctr">
              <a:defRPr sz="1125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temperaturas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0C55DE-D97D-452D-B0AA-78FDC251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22669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E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700AC7-50D2-4CBD-961D-9575A5A6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2266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73E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DF740A-AE12-4D14-8AD3-CFC00F5F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47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Cultivo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957656-B5B7-49EE-A1CA-A9198331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62300"/>
            <a:ext cx="1733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tipo de cultivo</a:t>
            </a:r>
          </a:p>
          <a:p xmlns:a="http://schemas.openxmlformats.org/drawingml/2006/main">
            <a:pPr algn="ctr">
              <a:defRPr sz="1125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fase fenológica</a:t>
            </a:r>
          </a:p>
          <a:p xmlns:a="http://schemas.openxmlformats.org/drawingml/2006/main">
            <a:pPr algn="ctr">
              <a:defRPr sz="1125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Kc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CFD541-A5BA-4517-8FF3-56EB703B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81250"/>
            <a:ext cx="22669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E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A23394-21AD-4AFB-8407-7F368E99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81250"/>
            <a:ext cx="2266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A6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DA3F39-9DE3-4DAF-B488-A385B6FC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47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Parcela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B0DBC9-3BCF-4397-A93A-CCE12A4B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162300"/>
            <a:ext cx="1733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superficie</a:t>
            </a:r>
          </a:p>
          <a:p xmlns:a="http://schemas.openxmlformats.org/drawingml/2006/main">
            <a:pPr algn="ctr">
              <a:defRPr sz="1125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eficiencia</a:t>
            </a:r>
          </a:p>
          <a:p xmlns:a="http://schemas.openxmlformats.org/drawingml/2006/main">
            <a:pPr algn="ctr">
              <a:defRPr sz="1125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lluvia efectiva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0AC91D-7CF2-446F-885A-348AEAE0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895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26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72026"/>
                </a:solidFill>
                <a:latin typeface="Georgia"/>
                <a:ea typeface="Georgia"/>
                <a:cs typeface="Georgia"/>
              </a:rPr>
              <a:t>No se piden goteros, suelo ni humedad inicial porque no son variables necesarias para responder la pregunta comercial de la demo.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E9BBC4-7F13-4DF9-93C4-8E5F845B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1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E410C4-D9B6-4F6A-8591-F0321C80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Variables alineadas con el cálculo mostrado en la app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865892-C1AF-4885-8A5F-68513E5F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770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9746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721451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827547-AA4F-436B-AA8B-B23DAE57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C6A784-DB2B-4FC9-BF0E-0B056FD6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55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4740E2-FD3E-4A48-8413-DAD1518A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9746B"/>
                </a:solidFill>
                <a:latin typeface="Aptos"/>
                <a:ea typeface="Aptos"/>
                <a:cs typeface="Aptos"/>
              </a:rPr>
              <a:t>CÁLCULO AGRONÓMICO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258994-2CA7-401C-B6C4-587A28D8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6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2026"/>
                </a:solidFill>
                <a:latin typeface="Georgia"/>
                <a:ea typeface="Georgia"/>
                <a:cs typeface="Georgia"/>
              </a:rPr>
              <a:t>La recomendación es trazable: cada litro sale de una cadena de cálculo sencilla.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41C2A6-5BB9-4F17-BA01-A33AFBEF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714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E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1BDC72-CAA5-4C56-9CD1-88E7C1A7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714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A6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3A5DD7-D85F-40AA-9D88-13F45600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ET0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A12052-5839-4BD4-96BF-C9AC92F1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447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demanda climática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D390EB-F850-4A85-893C-6CE55C8F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7241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9746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3AA679-FD78-4CEB-8E07-DD926858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62200"/>
            <a:ext cx="1714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E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4C982C-D4CB-4638-955B-A8ECF106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62200"/>
            <a:ext cx="1714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55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88E820-E8F2-4210-B83A-4F657B0D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2890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ETc = ET0 × Kc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4B5A23-0525-4F19-9D3A-2077BC2F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90850"/>
            <a:ext cx="1447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demanda del cultivo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19E077-B2C9-46CA-AB2B-0B0E5F20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241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9746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AACB7E-EC2A-498D-A662-2A791FFC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62200"/>
            <a:ext cx="1714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E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63501D-F20B-471F-A798-533BEAD2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62200"/>
            <a:ext cx="1714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73E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DA055C-3BED-4B47-A832-F369E6DC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2890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Lluvia efectiva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7623D3-014B-4C26-9F3B-3B982E4A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90850"/>
            <a:ext cx="1447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agua que se descuenta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E507DA-4020-47CD-89DA-140863BC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241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9746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899614-FEC4-4894-9870-62A02319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62200"/>
            <a:ext cx="1714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E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40EF96-63EE-4131-84FC-90356F28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62200"/>
            <a:ext cx="1714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A6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53F5F2-2675-498E-9FE0-1D2A999F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2890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Riego bruto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6496BC-4C0E-45AB-83C2-37ABA4ED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90850"/>
            <a:ext cx="1447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corrige eficiencia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7458F7-C8B5-4A96-8AB1-02F5A32D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241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9746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2E1126-B250-4CA4-B9AE-918CB36D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62200"/>
            <a:ext cx="1714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ED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7E949B-9DEC-4505-AC17-C262F69D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62200"/>
            <a:ext cx="1714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55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B843DA-6377-4DF6-9AE8-32AFD096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2890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Litros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4D5673-EB3E-4DE1-BAEA-8D722B5F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447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mm × superficie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DDBABE-A574-42AE-8045-CA704C2C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52900"/>
            <a:ext cx="9544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458B34-DE41-46AC-9F7E-B33E0EAA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362450"/>
            <a:ext cx="8801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riego_bruto = max(0, ET0 × Kc - lluvia_efectiva) / eficiencia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594B70-A3A0-4788-A9D2-1B42DDDE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62500"/>
            <a:ext cx="880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C9D8D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D8D5"/>
                </a:solidFill>
                <a:latin typeface="Aptos"/>
                <a:ea typeface="Aptos"/>
                <a:cs typeface="Aptos"/>
              </a:rPr>
              <a:t>1 mm de lámina equivale a 1 litro por metro cuadrado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C9974A-1D78-4F26-8BA0-0E8FFA8B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1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5568BA-E62C-4AF0-AB63-7B6FD491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Base conceptual: enfoque ET0/Kc de FAO-56 [2]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D1F005-1121-4118-9A59-11C8861D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770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9746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0295759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D11507-5F88-4A53-BF2F-E86368B5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5929E3-3842-414F-BBB5-136B87AC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55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61CA82-9BED-429A-8548-4753163D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9746B"/>
                </a:solidFill>
                <a:latin typeface="Aptos"/>
                <a:ea typeface="Aptos"/>
                <a:cs typeface="Aptos"/>
              </a:rPr>
              <a:t>COMPARACIÓN DE CULTIVOS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058DA8-C8AF-4551-950E-57CAF0EF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6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2026"/>
                </a:solidFill>
                <a:latin typeface="Georgia"/>
                <a:ea typeface="Georgia"/>
                <a:cs typeface="Georgia"/>
              </a:rPr>
              <a:t>Con el mismo clima y parcela, el cultivo modifica la demanda de agua.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CB36C1-5C1B-4E58-AB6D-91F42111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Olivar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7C917C-2389-4B46-8D05-0E81EDC9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19350"/>
            <a:ext cx="533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1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12FE95-4EA0-4104-ADA7-FB51D46B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19350"/>
            <a:ext cx="414826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55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30F684-CD77-4F0F-A6C7-E6693549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913" y="2371725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97.156 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DA092E-2597-4265-907B-896AD494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479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Kc 0,70 · marco 8 m2/planta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458307-1059-4FFC-838B-556311EF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Cítricos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555FCE-50E7-4BD0-AEC9-28B93622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76600"/>
            <a:ext cx="533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1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765FC8-C498-40FD-A65B-F6C64B6D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76600"/>
            <a:ext cx="4445007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A6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7A0B30-BC73-4263-9986-58DAA505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9657" y="3228975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104.106 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0CD114-7271-4161-8F3E-123B03AD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05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Kc 0,75 · marco 20 m2/planta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6E5B9D-D483-4165-84EE-C86B48D4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Almendro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DD4DBB-394C-489F-A3F2-09C619B3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133850"/>
            <a:ext cx="533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1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949BE3-122F-4B4E-9184-49108BB8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133850"/>
            <a:ext cx="533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73E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1CF7F9-81F8-4121-9F46-6D52000C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86225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124.927 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A060F7-7902-473B-AAD8-188FA1D9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624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Kc 0,90 · marco 30 m2/planta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0A14B5-FB0C-4134-888C-F47B51D8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24100"/>
            <a:ext cx="2381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E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E4DF24-2B2B-47BC-B926-913BAC9C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2410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73E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ABD0D4-E508-4232-B0FB-45AA7B58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9555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Lectura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C25BFE-2257-47E3-BCDE-EC5AD6FC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81300"/>
            <a:ext cx="2038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El almendro aparece como el cultivo de mayor demanda en fase media. El olivar queda como el de menor demanda en este escenario.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717E97-61AD-43B1-9B9F-CE30C80B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0"/>
            <a:ext cx="847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6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72026"/>
                </a:solidFill>
                <a:latin typeface="Georgia"/>
                <a:ea typeface="Georgia"/>
                <a:cs typeface="Georgia"/>
              </a:rPr>
              <a:t>Misma estación, mismas fechas y misma superficie: lo que cambia es el perfil agronómico del cultivo.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AF96F1-4124-4123-9348-DA26135F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1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6FD633-6039-4231-9867-8DB5A5C7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Datos de demo: Sevilla Aeropuerto, 2024-05-01 a 2024-05-07, 3.500 m2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1EA7E7-4ABC-4C9A-92A3-41672412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770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9746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9214892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5BA438-A982-4CD5-9843-9EA1BDB2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1B0911-59D2-4A98-947C-7126AB28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55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A46783-C976-4C25-B2E9-0BEA47CF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9746B"/>
                </a:solidFill>
                <a:latin typeface="Aptos"/>
                <a:ea typeface="Aptos"/>
                <a:cs typeface="Aptos"/>
              </a:rPr>
              <a:t>MACHINE LEARNING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AF4661-A97F-453C-AB2A-1494AA35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6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2026"/>
                </a:solidFill>
                <a:latin typeface="Georgia"/>
                <a:ea typeface="Georgia"/>
                <a:cs typeface="Georgia"/>
              </a:rPr>
              <a:t>El ML predice la lámina de riego; los litros se calculan después con la superficie.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A5D402-0835-4040-BFF8-6E9783B7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2667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E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53075F-67E1-464A-A76D-C01B98B7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2667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A6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9D0A80-942B-40D8-BA5C-92C8568A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19350"/>
            <a:ext cx="232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Entradas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0B6E84-08AC-482C-A909-C452DBC7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05100"/>
            <a:ext cx="2324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estación, fecha, ET0, lluvia, temperaturas, cultivo, fase, Kc, marco de plantación, eficiencia y lluvia efectiva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D724FF-F3E2-4C3A-B6CE-B03F79B6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47900"/>
            <a:ext cx="2667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E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CA1A51-024C-447D-AA9A-0F2BA123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47900"/>
            <a:ext cx="2667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55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A51BB8-1087-44D4-986F-F3B3614B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19350"/>
            <a:ext cx="232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Modelo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06ADD1-4D8E-46D1-AA35-3B0638F7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05100"/>
            <a:ext cx="2324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Capa ML entrenable. En la demo estable se versiona un modelo linear_ridge; el proyecto también documenta entrenamiento Keras.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772DA7-A042-47CD-8888-DA78ED28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47900"/>
            <a:ext cx="2667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E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9E8E1C-AD48-4AD2-BDD3-4A9C0F86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47900"/>
            <a:ext cx="2667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73E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6D1C98-676A-4727-A43E-86CF3E90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19350"/>
            <a:ext cx="232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Salida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4BAACA-EA1B-4D2D-827F-4B17B101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05100"/>
            <a:ext cx="2324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riego_bruto_mm: lámina diaria recomendada antes de convertirla a litros.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875D6C-8427-47C4-AA8B-C267FE66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76550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9746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F215B3-F0CB-4E70-BEF9-3FA4C993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76550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9746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318488-2AFF-4DB8-A13D-4C268024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530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55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FE8558-1038-4AD4-B1BF-03A1EA4B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9149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26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72026"/>
                </a:solidFill>
                <a:latin typeface="Georgia"/>
                <a:ea typeface="Georgia"/>
                <a:cs typeface="Georgia"/>
              </a:rPr>
              <a:t>0,9755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F4CD30-EECF-4D85-9228-10BD317F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3340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R2 demo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1DEB53-480C-47A5-8DD3-B5314313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495925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modelo versionado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62C5A7-FA7E-4F6B-AF70-ADB6774A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9530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A6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6301A9-2047-40EE-9B8D-48545F59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914900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26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72026"/>
                </a:solidFill>
                <a:latin typeface="Georgia"/>
                <a:ea typeface="Georgia"/>
                <a:cs typeface="Georgia"/>
              </a:rPr>
              <a:t>0,0704 mm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5C348F-65F0-46F9-9CDC-F9DE02AA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33400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MAE demo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008A42-69EC-4B5D-AF98-967CAFED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495925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error medio absoluto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6AE7EB-86D9-4112-998E-66A045EB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73E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5DC718-2336-4C28-B376-DA2503F4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91490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26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72026"/>
                </a:solidFill>
                <a:latin typeface="Georgia"/>
                <a:ea typeface="Georgia"/>
                <a:cs typeface="Georgia"/>
              </a:rPr>
              <a:t>campo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1B6681-5819-4FA3-9F64-57E7E0CB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3340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siguiente salto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89646F-EC7D-4779-A685-408085FA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495925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datos reales de riego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8F3A10-A10B-49DD-AF3D-7069A5EA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1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FAD259-5CA6-439D-BAAA-617F5C4C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Lectura rigurosa: el modelo aprende la referencia agronómica, no una verdad de campo medida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19EF3D-E521-49B3-A954-DB0328C0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770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9746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1207199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5606C9-9E32-4122-8C20-D21A64CE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6D890B-3188-432C-932C-D0132BB3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55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CFF96F-867F-41B3-AE6B-F0C11EDA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9746B"/>
                </a:solidFill>
                <a:latin typeface="Aptos"/>
                <a:ea typeface="Aptos"/>
                <a:cs typeface="Aptos"/>
              </a:rPr>
              <a:t>DEMO ESTABLE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E803BD-02E0-4DEF-9BAD-6A240E8F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6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2026"/>
                </a:solidFill>
                <a:latin typeface="Georgia"/>
                <a:ea typeface="Georgia"/>
                <a:cs typeface="Georgia"/>
              </a:rPr>
              <a:t>La demostración está preparada para funcionar sin depender de la API en directo.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4719B5-7041-4474-BC62-0B4B933F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002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9746B"/>
                </a:solidFill>
                <a:latin typeface="Aptos"/>
                <a:ea typeface="Aptos"/>
                <a:cs typeface="Aptos"/>
              </a:rPr>
              <a:t>Datos climáticos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B3518F-4BFB-4B17-B3F6-667E8F70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002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CSV local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D3C462-C455-44DD-B739-C5BA2D50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05050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1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E1FED6-A6B8-43BD-9860-18F3BB31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574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9746B"/>
                </a:solidFill>
                <a:latin typeface="Aptos"/>
                <a:ea typeface="Aptos"/>
                <a:cs typeface="Aptos"/>
              </a:rPr>
              <a:t>Archivo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B38669-3E7F-4617-B71A-CFA3CCA9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574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data/demo/aemet_sevilla_mayo_2024.csv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13ADA5-046C-45A0-B5F1-3D18ED5C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62250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1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F42AF3-7193-4E98-82C4-05416E9B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146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9746B"/>
                </a:solidFill>
                <a:latin typeface="Aptos"/>
                <a:ea typeface="Aptos"/>
                <a:cs typeface="Aptos"/>
              </a:rPr>
              <a:t>Estación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DE99E7-C464-46FB-AC91-E3D09B47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146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5783 · Sevilla Aeropuerto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6E751D-08B1-47D7-A3FA-02A2BE9F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19450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1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ECB1B3-56EA-418D-980D-5AF8F256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718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9746B"/>
                </a:solidFill>
                <a:latin typeface="Aptos"/>
                <a:ea typeface="Aptos"/>
                <a:cs typeface="Aptos"/>
              </a:rPr>
              <a:t>Periodo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4E8979-5EC2-4D41-89AC-463E72AC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718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2024-05-01 a 2024-05-07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3C25D5-0EDC-4C9C-BDDE-8B319A6E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76650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1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6955E6-6DC2-4E13-919E-11A1CF29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290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9746B"/>
                </a:solidFill>
                <a:latin typeface="Aptos"/>
                <a:ea typeface="Aptos"/>
                <a:cs typeface="Aptos"/>
              </a:rPr>
              <a:t>Cultivo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804ABA-F8F2-4DA1-A770-7B0806C2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290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olivar · fase media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EB6558-F139-4B37-9BD4-DD98DB4A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33850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1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9EFAB5-D3E7-4155-AA35-0611E689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862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9746B"/>
                </a:solidFill>
                <a:latin typeface="Aptos"/>
                <a:ea typeface="Aptos"/>
                <a:cs typeface="Aptos"/>
              </a:rPr>
              <a:t>Superficie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1FD968-A2C6-497A-B72A-2FB29F5C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862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3.500 m2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90C68F-4210-47AF-B765-03958635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91050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1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399162-EC9C-48A1-8E58-7F89545F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434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9746B"/>
                </a:solidFill>
                <a:latin typeface="Aptos"/>
                <a:ea typeface="Aptos"/>
                <a:cs typeface="Aptos"/>
              </a:rPr>
              <a:t>ML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3150D2-A481-4DF9-843E-ED3CA985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434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models/riego_predictivo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FEFB8B-4164-4CD6-AEDA-873AD162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48250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1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36EC57-A9EC-4C2E-ABCE-89B15D44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57400"/>
            <a:ext cx="2571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E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C24F3E-DD96-4E65-9386-227F7C2C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57400"/>
            <a:ext cx="2571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5246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865956-6BC2-4186-8DC6-D29BDDA7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28850"/>
            <a:ext cx="2228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Plan 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7E2DD8-E96E-4921-82B0-6654C4A7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14600"/>
            <a:ext cx="22288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Si Streamlit falla: abrir capturas, simulación documentada y comando CLI equivalente.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A47946-A729-417F-8168-61578DA7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1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457238-3282-41AF-A4FE-8F603747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Demo recomendada: 6-8 minutos dentro de la defensa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8D3617-8C08-4389-8FB5-29B959EC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770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9746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0687612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A689E2-FD81-41FF-B860-25EDDFDC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AB0B2C-A2D0-4B6F-B0FF-BB645719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55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2B593B-1124-424A-AC0F-F6109E94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9746B"/>
                </a:solidFill>
                <a:latin typeface="Aptos"/>
                <a:ea typeface="Aptos"/>
                <a:cs typeface="Aptos"/>
              </a:rPr>
              <a:t>RESULTADOS DE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A05722-D2BC-427D-AFE4-BF33206F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6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2026"/>
                </a:solidFill>
                <a:latin typeface="Georgia"/>
                <a:ea typeface="Georgia"/>
                <a:cs typeface="Georgia"/>
              </a:rPr>
              <a:t>La app devuelve una recomendación entendible para el cliente.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e32b9c2d4843a4"/>
          <a:stretch xmlns:a="http://schemas.openxmlformats.org/drawingml/2006/main"/>
        </p:blipFill>
        <p:spPr>
          <a:xfrm xmlns:a="http://schemas.openxmlformats.org/drawingml/2006/main">
            <a:off x="552450" y="1869877"/>
            <a:ext cx="5238750" cy="294679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0B507D-E55A-4727-B06A-064B149F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55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3DDB63-C343-4B0B-953B-9FA657DE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62150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26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72026"/>
                </a:solidFill>
                <a:latin typeface="Georgia"/>
                <a:ea typeface="Georgia"/>
                <a:cs typeface="Georgia"/>
              </a:rPr>
              <a:t>97.156 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266DFA-17C0-4046-A3DE-65528F6B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8125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Riego total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D02C0A-101E-44DC-8D14-6C366A0D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43175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toda la parcela · 7 días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D90AD8-AC67-4415-84C5-075C2800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A6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3AD5D3-A1CA-4E74-8FBF-CC380233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962150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26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72026"/>
                </a:solidFill>
                <a:latin typeface="Georgia"/>
                <a:ea typeface="Georgia"/>
                <a:cs typeface="Georgia"/>
              </a:rPr>
              <a:t>13.879 L/día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6B4D54-97BA-4733-BC9E-28D7FCDF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8125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Riego medio diario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5E2F4A-D195-4106-AF72-9C656FB2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43175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media para la parcela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FE2077-299B-4663-B0C2-0C0DC83C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57625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73E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94F421-D22E-44CF-B3D8-B7F91906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19525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26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72026"/>
                </a:solidFill>
                <a:latin typeface="Georgia"/>
                <a:ea typeface="Georgia"/>
                <a:cs typeface="Georgia"/>
              </a:rPr>
              <a:t>31,72 L/planta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3A6853-6D5A-4CA4-9DFC-1FC57532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38625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Litros por planta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CC046C-D636-448C-826A-D171E02A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005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media diaria por planta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E0B04E-0F90-4A62-B9D4-713AD589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57625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55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F1D546-0589-4DD0-BC57-F603886D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819525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26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72026"/>
                </a:solidFill>
                <a:latin typeface="Georgia"/>
                <a:ea typeface="Georgia"/>
                <a:cs typeface="Georgia"/>
              </a:rPr>
              <a:t>3,97 mm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3CE500-5621-492D-8163-D8E3FA59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238625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Lámina diaria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5525D4-2AED-44C3-B654-DBF974D1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4005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1 mm = 1 L/m2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B3D02D-B0B3-49CD-86F3-C9ECAC58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6735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72026"/>
                </a:solidFill>
                <a:latin typeface="Georgia"/>
                <a:ea typeface="Georgia"/>
                <a:cs typeface="Georgia"/>
              </a:rPr>
              <a:t>Predicción ML: 97.160 L, prácticamente alineada con el cálculo agronómico.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6E8F70-D222-4242-A49C-DB9BF8D7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1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87942A-F87F-4147-8DA7-DECDB1EA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Escenario: olivar, Sevilla Aeropuerto, 3.500 m2, primera semana de mayo de 2024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214BD6-2375-4C37-AE38-90B3FEBC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770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9746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6935533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48FCE6-DF48-4E37-B378-73D5235B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30873D-982F-45A6-9A9D-2B570077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55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5753A9-64C0-46EF-BB95-7902F51C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9746B"/>
                </a:solidFill>
                <a:latin typeface="Aptos"/>
                <a:ea typeface="Aptos"/>
                <a:cs typeface="Aptos"/>
              </a:rPr>
              <a:t>VALIDACIÓN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EFC0A6-AF8D-44A4-81C0-484601045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6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2026"/>
                </a:solidFill>
                <a:latin typeface="Georgia"/>
                <a:ea typeface="Georgia"/>
                <a:cs typeface="Georgia"/>
              </a:rPr>
              <a:t>El prototipo es reproducible: código, pruebas, datos de demo y repositorio.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DEA037-512D-4BB3-8CB5-01274159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55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07C080-E9A4-46EE-8AFE-71D1D50D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479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26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72026"/>
                </a:solidFill>
                <a:latin typeface="Georgia"/>
                <a:ea typeface="Georgia"/>
                <a:cs typeface="Georgia"/>
              </a:rPr>
              <a:t>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C959D5-4832-44CB-BE28-1A7CD996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670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pruebas OK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A57BA0-7D52-440E-A081-50DC125B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2892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unittest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5676A0-25D5-4800-A2ED-357E063F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860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A6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6F8E68-22B7-4A16-BF7E-69F68976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2479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26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72026"/>
                </a:solidFill>
                <a:latin typeface="Georgia"/>
                <a:ea typeface="Georgia"/>
                <a:cs typeface="Georgia"/>
              </a:rPr>
              <a:t>CSV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A8D344-EBB0-4E81-84E0-3642E99E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6670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demo estable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3502A4-791C-44E2-8B53-7724B839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2892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sin saturar AEMET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2043A5-A8C6-49A3-8384-DB13A336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860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73E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ECCCDE-C0DB-426A-9689-49A5B5A1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479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26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72026"/>
                </a:solidFill>
                <a:latin typeface="Georgia"/>
                <a:ea typeface="Georgia"/>
                <a:cs typeface="Georgia"/>
              </a:rPr>
              <a:t>GitHub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88087F-F043-4703-9FE7-AD724656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670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control de versiones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37E3CF-792D-472C-B3FD-2AB398F6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2892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main actualizado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F98615-DA78-40F5-B62B-0203AD80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860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55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7AD935-2E5C-4D49-9CE8-71A1C41F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479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26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72026"/>
                </a:solidFill>
                <a:latin typeface="Georgia"/>
                <a:ea typeface="Georgia"/>
                <a:cs typeface="Georgia"/>
              </a:rPr>
              <a:t>MD/JSON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8B1848-0104-47BE-A842-A6A95AB8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670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exportación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48001C-EB7A-406E-AED9-88703224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2892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informes descargables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94564F-2792-43CE-9603-5D0E3710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81500"/>
            <a:ext cx="4191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ED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3C8D41-B551-4183-9EFE-4304EB74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81500"/>
            <a:ext cx="419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A6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F9B021-3113-4B3F-8F7C-A1872A99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552950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Qué validan los tests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BB923E-F5D8-4A8F-BE84-417BF42B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838700"/>
            <a:ext cx="3848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cálculo diario, lluvia efectiva, ET0, cultivos, exportaciones, dataset ML, predicción y selector de estaciones.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DB0644-CF2D-4A35-AF34-1FF03C1B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8150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ED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CB0020-B046-40D1-8CFC-734B0BE6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8150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55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50F925-0B38-4B1A-9ECC-6C062B88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552950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Qué valida la demo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D9B58C-347F-40FE-A546-56F85669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38700"/>
            <a:ext cx="2800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el flujo completo desde datos climáticos hasta recomendación final en litros.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B11AE7-7753-4F07-82F2-2F350316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1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0F8636-2320-467A-B41E-46CE4FA6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Última validación conocida: Ran 26 tests · OK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C2F5E2-A4D6-46C4-8840-17EFFA56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770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9746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5137244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C12B60-82F8-49EF-940E-29F771CA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F38EA7-F8F9-4B93-9E48-1A7F8DFD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55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B0DBB7-A378-4944-8C93-E6CA1C58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9746B"/>
                </a:solidFill>
                <a:latin typeface="Aptos"/>
                <a:ea typeface="Aptos"/>
                <a:cs typeface="Aptos"/>
              </a:rPr>
              <a:t>LIMITACIONES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BCF1BB-E321-49C3-B9A3-6174E146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6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2026"/>
                </a:solidFill>
                <a:latin typeface="Georgia"/>
                <a:ea typeface="Georgia"/>
                <a:cs typeface="Georgia"/>
              </a:rPr>
              <a:t>La defensa es más sólida cuando separa prototipo, mejora futura y validación real.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FD1A86-1728-405E-98C2-A275BC02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193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IoT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DE03A4-76C1-475B-B01B-36D6FDC7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002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5246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7C7F64-FDFD-4BF2-80FC-41C293ED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57400"/>
            <a:ext cx="1200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 implementado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54A53E-9597-4D04-ACC4-47531F08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19300"/>
            <a:ext cx="581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mejora futura si se incorporan sensores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633516-0F01-4D5E-851E-9485FDB8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193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1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BE7BEB-A088-4676-BB96-7452BC77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79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BigQuery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CD2D37-DD99-475F-AA81-B132E2F8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289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5246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23638B-0E92-447C-800B-CC9AE65F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86050"/>
            <a:ext cx="1200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 desplegado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28CA99-A18E-42D4-9247-9551C51F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47950"/>
            <a:ext cx="581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solo referencia para futura versión cloud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F9FA22-D5F1-4B1A-8B02-9791A7E9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1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6FD4A8-0A12-4E8E-BFE2-63F5FA6E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Goteros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A5144B-A498-4184-A0F1-87A3B377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575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73E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BF497A-7DBD-4413-8F44-C98586DF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314700"/>
            <a:ext cx="1200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fuera de alcance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BC19B6-5464-4B2E-B276-AD8C2EBB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76600"/>
            <a:ext cx="581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se calcula necesidad hídrica, no hidráulica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2EFA77-F288-478C-91B6-40B3BE6F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766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1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488422-E344-4215-BEF3-161A33153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Suelo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79C5B3-99E3-4C00-BBE7-23F63AFB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862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73E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F6DC4A-31C8-4DC1-B619-6285ACB9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943350"/>
            <a:ext cx="1200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sin protagonismo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430008-7C97-4A1E-B75C-C48F7659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05250"/>
            <a:ext cx="581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no se pide al usuario en el flujo principal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7ECFA4-F196-4D83-B54E-6A1E9ECE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053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1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E8C9BA-EE6B-4095-9411-5B8C9E97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339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Campo real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C446FB-3F10-4463-9DFF-76606471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148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73E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560DE0-3B32-4633-919A-1D05C24C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572000"/>
            <a:ext cx="1200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pendiente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34E8CC-6405-4341-A64E-7B520B99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33900"/>
            <a:ext cx="581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requiere riegos aplicados y producción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009DB6-9239-4362-9B3B-B0ECDC68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339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1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9192E9-2293-4C15-9ED9-353F6E54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1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98C131-D019-4DED-86EA-811E8DB5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Frase clave: prototipo funcional, no producto comercial validado en campo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AAE116-F145-4769-AB93-138D0973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770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9746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90663006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00EA23-8B03-4699-AB63-4406926C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3A03B2-86BE-4B33-959E-711AF0B6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55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4949E4-4DA7-4C99-B168-C65BAD3B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9746B"/>
                </a:solidFill>
                <a:latin typeface="Aptos"/>
                <a:ea typeface="Aptos"/>
                <a:cs typeface="Aptos"/>
              </a:rPr>
              <a:t>EVOLUCIÓN FUTURA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9D5846-F064-4532-8DE6-FB8602CC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6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2026"/>
                </a:solidFill>
                <a:latin typeface="Georgia"/>
                <a:ea typeface="Georgia"/>
                <a:cs typeface="Georgia"/>
              </a:rPr>
              <a:t>El salto comercial depende más de datos reales que de rehacer la base técnica.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75B500-CC93-41EB-884D-C9D2A82D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22098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E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48FA83-4ADB-46A9-8EE8-6806E6E1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55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4BD36D-9F81-49D1-B22F-81D5488C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622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109BF8-3C25-4B96-8EDF-C8DBC056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956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Calibración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B25C35-ADC1-47E8-94FE-B10C8C03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0"/>
            <a:ext cx="1752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recoger riegos reales, estado del cultivo y producción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2D03B7-C81F-4C9F-AD93-F06D8582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57450"/>
            <a:ext cx="22098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E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FA52F4-B07B-4BA6-85CF-25EF241F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67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A6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0B38F1-86F0-45EF-BE62-D552C4DE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622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8F012F-A9BA-4145-B5BC-48D067693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2956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Predicción futura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908113-62AE-4BBC-9DB6-C72E2FCF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714750"/>
            <a:ext cx="1752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añadir previsión meteorológica y campañas completas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55F788-74C0-415A-94D9-7290C269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57450"/>
            <a:ext cx="22098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E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957FA8-EA26-44E2-A93B-AFBE681D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67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73E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89B46E-E4E6-4C08-A854-0C8FE4CE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622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9A514C-997A-45B8-B0C0-1011464C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956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Servicio cloud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9BAFB8-3CF7-4753-9E54-2623674A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14750"/>
            <a:ext cx="1752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usuarios, parcelas, histórico y despliegue escalable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586A5A-B249-43D3-BB98-12DBACDE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57450"/>
            <a:ext cx="22098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E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6E2828-53D0-4F19-BE62-E15C926C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67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55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559C17-399F-4246-8F9E-DB405857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622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6F88AC-98D1-4DB7-90C1-1087B261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2956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Valor comercial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167163-46F1-43DA-90C3-9AA590A1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714750"/>
            <a:ext cx="1752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informes, alertas, ahorro estimado y validación agronómica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5D5D06-7D20-4E82-93B0-5FCEB38D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1970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6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72026"/>
                </a:solidFill>
                <a:latin typeface="Georgia"/>
                <a:ea typeface="Georgia"/>
                <a:cs typeface="Georgia"/>
              </a:rPr>
              <a:t>La estructura actual ya permite ampliar: cambiar la etiqueta del modelo por datos reales de campo.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BC9DFA-E6D4-4336-998A-E580D8C0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1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808DB6-8617-4373-86DD-71BB9FEB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Roadmap: de prototipo académico a servicio predictivo calibrado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FF3C7D-3FBC-4EFD-9E82-9E60FD02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770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9746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5113739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090E2B-0439-4FDD-BA96-AC07ED8C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E73DF3-EEBF-4028-9615-E8DBE901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A6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9040A7-D8D2-4A7C-A2BE-8D631B08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CCDD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CCDD5"/>
                </a:solidFill>
                <a:latin typeface="Aptos"/>
                <a:ea typeface="Aptos"/>
                <a:cs typeface="Aptos"/>
              </a:rPr>
              <a:t>CIERRE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09E922-EA57-447E-94EF-66C26E2D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952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El objetivo general queda cumplido a nivel de prototipo funcional y defendible.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E47693-A1CD-4543-B42D-B2085936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0985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0A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80A6"/>
                </a:solidFill>
                <a:latin typeface="Aptos"/>
                <a:ea typeface="Aptos"/>
                <a:cs typeface="Aptos"/>
              </a:rPr>
              <a:t>1.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F59DE2-EA77-4B35-A6C9-E9D97D64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09850"/>
            <a:ext cx="762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Convierte datos AEMET en una recomendación de riego.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DEF21-D333-4BE0-B740-15F15253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242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0A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80A6"/>
                </a:solidFill>
                <a:latin typeface="Aptos"/>
                <a:ea typeface="Aptos"/>
                <a:cs typeface="Aptos"/>
              </a:rPr>
              <a:t>2.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4AD636-101E-40A0-BD71-7693C460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24200"/>
            <a:ext cx="762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Explica el resultado en litros, litros por planta y mm.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E034AF-590E-4DF5-A9BE-2A3DD5C0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0A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80A6"/>
                </a:solidFill>
                <a:latin typeface="Aptos"/>
                <a:ea typeface="Aptos"/>
                <a:cs typeface="Aptos"/>
              </a:rPr>
              <a:t>3.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58A47B-E5D2-4D33-82B5-4E564503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38550"/>
            <a:ext cx="762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Compara cultivos bajo las mismas condiciones.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F424B1-499E-4256-A841-4D0C82E3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529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0A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80A6"/>
                </a:solidFill>
                <a:latin typeface="Aptos"/>
                <a:ea typeface="Aptos"/>
                <a:cs typeface="Aptos"/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58C852-DFD7-4E7A-90A7-7FFDFF15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52900"/>
            <a:ext cx="762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Integra ML como capa predictiva ampliable.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0537DC-2D44-4387-9DEA-61B57442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6725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0A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80A6"/>
                </a:solidFill>
                <a:latin typeface="Aptos"/>
                <a:ea typeface="Aptos"/>
                <a:cs typeface="Aptos"/>
              </a:rPr>
              <a:t>5.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BA8C2D-1D35-47E4-9B41-37CB8306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67250"/>
            <a:ext cx="762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Reconoce los límites: sin validación real de campo todavía.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8AEEBE-5F2B-49EE-8C13-9E1A2B5A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197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7E1DE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D7E1DE"/>
                </a:solidFill>
                <a:latin typeface="Georgia"/>
                <a:ea typeface="Georgia"/>
                <a:cs typeface="Georgia"/>
              </a:rPr>
              <a:t>Mensaje final: no se vende una caja negra; se defiende un sistema trazable que puede evolucionar con datos reales.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334EC3-8779-438A-A035-3A7B8E85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1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AC3AC7-3624-4796-B8CA-D4114DD0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Conclusión: base técnica preparada para evolucionar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0F2E41-A8AF-4B25-AF60-06F3ECC6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770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9746B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471295868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07CF00-5731-4FA9-A72F-06299F45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662596-F2B2-4976-B601-11C07E0D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55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1C4685-E4AE-409A-A093-BFE5D2C1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9746B"/>
                </a:solidFill>
                <a:latin typeface="Aptos"/>
                <a:ea typeface="Aptos"/>
                <a:cs typeface="Aptos"/>
              </a:rPr>
              <a:t>REFERENCIAS IEEE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31E730-F8BC-4493-A4C8-14B6780C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33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72026"/>
                </a:solidFill>
                <a:latin typeface="Georgia"/>
                <a:ea typeface="Georgia"/>
                <a:cs typeface="Georgia"/>
              </a:rPr>
              <a:t>Fuentes utilizadas para sostener el marco técnico.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025882-97BF-435F-B0E9-907ED86B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1019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[1] Agencia Estatal de Meteorología, "AEMET OpenData," Gobierno de España. [En línea]. Disponible en: https://www.aemet.es/es/datos_abiertos/AEMET_OpenData.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3BCCA1-8D9F-4646-AFCD-691B16B8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1019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[2] R. G. Allen, L. S. Pereira, D. Raes y M. Smith, "Crop evapotranspiration - Guidelines for computing crop water requirements," FAO Irrigation and Drainage Paper 56, 1998.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6A1BCD-0019-4B00-9E10-0C4F5C38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1019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[3] G. H. Hargreaves y Z. A. Samani, "Reference crop evapotranspiration from temperature," Applied Engineering in Agriculture, vol. 1, no. 2, pp. 96-99, 1985.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735515-3246-43BE-B510-03BA2EB6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1019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[4] TensorFlow, "Install TensorFlow with pip," TensorFlow. [En línea]. Disponible en: https://www.tensorflow.org/install/pip.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FD897D-427C-4A0E-A499-F7EC2991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1019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[5] Keras, "Getting started with Keras," Keras. [En línea]. Disponible en: https://keras.io/getting_started/.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BC6B09-5977-4338-AB93-6F26CC03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1019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[6] Streamlit, "Streamlit documentation," Streamlit. [En línea]. Disponible en: https://docs.streamlit.io/.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F84A33-F1C6-42AD-B30D-68320E46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95850"/>
            <a:ext cx="1019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[7] K. Schwaber y J. Sutherland, "The Scrum Guide," Scrum Guides, nov. 2020.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90B6F2-0824-4969-92B6-C9DED553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48300"/>
            <a:ext cx="1019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[8] Parlamento Europeo y Consejo de la Unión Europea, "Regulation (EU) 2024/1689," Diario Oficial de la Unión Europea, 2024.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400A04-16F4-4C6A-89E7-4DD011B0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1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9C4CAC-517E-4671-9612-35DC5A3D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9746B"/>
                </a:solidFill>
                <a:latin typeface="Aptos"/>
                <a:ea typeface="Aptos"/>
                <a:cs typeface="Aptos"/>
              </a:rPr>
              <a:t>Formato IEEE resumido para diapositiva; detalle completo en la memoria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D75B05-12B7-49C4-9871-28D12C50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770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974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9746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856503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2026-05-19T20:36:42.1500000Z</dcterms:created>
  <dcterms:modified xsi:type="dcterms:W3CDTF">2026-05-19T20:36:42.1500000Z</dcterms:modified>
</coreProperties>
</file>