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1305b230b854791" /><Relationship Type="http://schemas.openxmlformats.org/officeDocument/2006/relationships/extended-properties" Target="/docProps/app.xml" Id="Rb44b7ece0017485f" /><Relationship Type="http://schemas.openxmlformats.org/officeDocument/2006/relationships/officeDocument" Target="/ppt/presentation.xml" Id="R411d8805015848b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2f5012d550c4262"/>
  </p:sldMasterIdLst>
  <p:notesMasterIdLst>
    <p:notesMasterId xmlns:r="http://schemas.openxmlformats.org/officeDocument/2006/relationships" r:id="R2f5eb5a481734ba0"/>
  </p:notesMasterIdLst>
  <p:sldIdLst>
    <p:sldId xmlns:r="http://schemas.openxmlformats.org/officeDocument/2006/relationships" id="256" r:id="R1184ad94b8df4e35"/>
    <p:sldId xmlns:r="http://schemas.openxmlformats.org/officeDocument/2006/relationships" id="257" r:id="R5bbc1c45a2f44cfa"/>
    <p:sldId xmlns:r="http://schemas.openxmlformats.org/officeDocument/2006/relationships" id="258" r:id="Rdbdcdf439f204543"/>
    <p:sldId xmlns:r="http://schemas.openxmlformats.org/officeDocument/2006/relationships" id="259" r:id="R672385be34154033"/>
    <p:sldId xmlns:r="http://schemas.openxmlformats.org/officeDocument/2006/relationships" id="260" r:id="R72a922ab297b4fb4"/>
    <p:sldId xmlns:r="http://schemas.openxmlformats.org/officeDocument/2006/relationships" id="261" r:id="Rc080d0c2e8ac40bd"/>
    <p:sldId xmlns:r="http://schemas.openxmlformats.org/officeDocument/2006/relationships" id="262" r:id="R61cc62192b5746be"/>
    <p:sldId xmlns:r="http://schemas.openxmlformats.org/officeDocument/2006/relationships" id="263" r:id="Re2816c234cf64040"/>
    <p:sldId xmlns:r="http://schemas.openxmlformats.org/officeDocument/2006/relationships" id="264" r:id="R0b02233ade5a4ce6"/>
    <p:sldId xmlns:r="http://schemas.openxmlformats.org/officeDocument/2006/relationships" id="265" r:id="R0f26565c6c334643"/>
    <p:sldId xmlns:r="http://schemas.openxmlformats.org/officeDocument/2006/relationships" id="266" r:id="R9782bcc566b840e6"/>
    <p:sldId xmlns:r="http://schemas.openxmlformats.org/officeDocument/2006/relationships" id="267" r:id="Rf1b4c8c0b5324c4f"/>
    <p:sldId xmlns:r="http://schemas.openxmlformats.org/officeDocument/2006/relationships" id="268" r:id="R0924dc26e4044ee5"/>
    <p:sldId xmlns:r="http://schemas.openxmlformats.org/officeDocument/2006/relationships" id="269" r:id="Rb4380cbd081a4d25"/>
    <p:sldId xmlns:r="http://schemas.openxmlformats.org/officeDocument/2006/relationships" id="270" r:id="R3bb925e088554c7a"/>
    <p:sldId xmlns:r="http://schemas.openxmlformats.org/officeDocument/2006/relationships" id="271" r:id="Rce3529f919144a82"/>
    <p:sldId xmlns:r="http://schemas.openxmlformats.org/officeDocument/2006/relationships" id="272" r:id="R207c4296c7244ef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f5012d550c4262" /><Relationship Type="http://schemas.openxmlformats.org/officeDocument/2006/relationships/theme" Target="/ppt/theme/theme1.xml" Id="R8f0c5b96b3454b6d" /><Relationship Type="http://schemas.openxmlformats.org/officeDocument/2006/relationships/notesMaster" Target="/ppt/notesMasters/notesMaster1.xml" Id="R2f5eb5a481734ba0" /><Relationship Type="http://schemas.openxmlformats.org/officeDocument/2006/relationships/presProps" Target="/ppt/presProps.xml" Id="Rf046ecb6ea1c479f" /><Relationship Type="http://schemas.openxmlformats.org/officeDocument/2006/relationships/viewProps" Target="/ppt/viewProps.xml" Id="Ra402ac238aea4b3a" /><Relationship Type="http://schemas.openxmlformats.org/officeDocument/2006/relationships/tableStyles" Target="/ppt/tableStyles.xml" Id="R02481a5058c64510" /><Relationship Type="http://schemas.openxmlformats.org/officeDocument/2006/relationships/slide" Target="/ppt/slides/slide1.xml" Id="R1184ad94b8df4e35" /><Relationship Type="http://schemas.openxmlformats.org/officeDocument/2006/relationships/slide" Target="/ppt/slides/slide2.xml" Id="R5bbc1c45a2f44cfa" /><Relationship Type="http://schemas.openxmlformats.org/officeDocument/2006/relationships/slide" Target="/ppt/slides/slide3.xml" Id="Rdbdcdf439f204543" /><Relationship Type="http://schemas.openxmlformats.org/officeDocument/2006/relationships/slide" Target="/ppt/slides/slide4.xml" Id="R672385be34154033" /><Relationship Type="http://schemas.openxmlformats.org/officeDocument/2006/relationships/slide" Target="/ppt/slides/slide5.xml" Id="R72a922ab297b4fb4" /><Relationship Type="http://schemas.openxmlformats.org/officeDocument/2006/relationships/slide" Target="/ppt/slides/slide6.xml" Id="Rc080d0c2e8ac40bd" /><Relationship Type="http://schemas.openxmlformats.org/officeDocument/2006/relationships/slide" Target="/ppt/slides/slide7.xml" Id="R61cc62192b5746be" /><Relationship Type="http://schemas.openxmlformats.org/officeDocument/2006/relationships/slide" Target="/ppt/slides/slide8.xml" Id="Re2816c234cf64040" /><Relationship Type="http://schemas.openxmlformats.org/officeDocument/2006/relationships/slide" Target="/ppt/slides/slide9.xml" Id="R0b02233ade5a4ce6" /><Relationship Type="http://schemas.openxmlformats.org/officeDocument/2006/relationships/slide" Target="/ppt/slides/slide10.xml" Id="R0f26565c6c334643" /><Relationship Type="http://schemas.openxmlformats.org/officeDocument/2006/relationships/slide" Target="/ppt/slides/slide11.xml" Id="R9782bcc566b840e6" /><Relationship Type="http://schemas.openxmlformats.org/officeDocument/2006/relationships/slide" Target="/ppt/slides/slide12.xml" Id="Rf1b4c8c0b5324c4f" /><Relationship Type="http://schemas.openxmlformats.org/officeDocument/2006/relationships/slide" Target="/ppt/slides/slide13.xml" Id="R0924dc26e4044ee5" /><Relationship Type="http://schemas.openxmlformats.org/officeDocument/2006/relationships/slide" Target="/ppt/slides/slide14.xml" Id="Rb4380cbd081a4d25" /><Relationship Type="http://schemas.openxmlformats.org/officeDocument/2006/relationships/slide" Target="/ppt/slides/slide15.xml" Id="R3bb925e088554c7a" /><Relationship Type="http://schemas.openxmlformats.org/officeDocument/2006/relationships/slide" Target="/ppt/slides/slide16.xml" Id="Rce3529f919144a82" /><Relationship Type="http://schemas.openxmlformats.org/officeDocument/2006/relationships/slide" Target="/ppt/slides/slide17.xml" Id="R207c4296c7244ef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27d5bbfa6454e8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8553efaea854c35" /><Relationship Type="http://schemas.openxmlformats.org/officeDocument/2006/relationships/notesMaster" Target="/ppt/notesMasters/notesMaster1.xml" Id="R59537dfae65846f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51befc373d4e96" /><Relationship Type="http://schemas.openxmlformats.org/officeDocument/2006/relationships/notesMaster" Target="/ppt/notesMasters/notesMaster1.xml" Id="R1ffa8c383dc848f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d486c84ef4048fc" /><Relationship Type="http://schemas.openxmlformats.org/officeDocument/2006/relationships/notesMaster" Target="/ppt/notesMasters/notesMaster1.xml" Id="Rd639252034084b6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2133f202c4a47fb" /><Relationship Type="http://schemas.openxmlformats.org/officeDocument/2006/relationships/notesMaster" Target="/ppt/notesMasters/notesMaster1.xml" Id="Ra614fc7a8c13421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05018d3a82d47aa" /><Relationship Type="http://schemas.openxmlformats.org/officeDocument/2006/relationships/notesMaster" Target="/ppt/notesMasters/notesMaster1.xml" Id="R15d275173cae48d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236c0d80d044525" /><Relationship Type="http://schemas.openxmlformats.org/officeDocument/2006/relationships/notesMaster" Target="/ppt/notesMasters/notesMaster1.xml" Id="R7642df01a0c84b1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1a214b3beac43a3" /><Relationship Type="http://schemas.openxmlformats.org/officeDocument/2006/relationships/notesMaster" Target="/ppt/notesMasters/notesMaster1.xml" Id="R7cb32d7de65b4a9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17f13213b374fdc" /><Relationship Type="http://schemas.openxmlformats.org/officeDocument/2006/relationships/notesMaster" Target="/ppt/notesMasters/notesMaster1.xml" Id="Rac8183db20e2424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50aadc358b343e1" /><Relationship Type="http://schemas.openxmlformats.org/officeDocument/2006/relationships/notesMaster" Target="/ppt/notesMasters/notesMaster1.xml" Id="R1818c57028a14d6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80c22f14fd54e6e" /><Relationship Type="http://schemas.openxmlformats.org/officeDocument/2006/relationships/notesMaster" Target="/ppt/notesMasters/notesMaster1.xml" Id="R5b34b230ba914cd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b4aa852b2974768" /><Relationship Type="http://schemas.openxmlformats.org/officeDocument/2006/relationships/notesMaster" Target="/ppt/notesMasters/notesMaster1.xml" Id="Redbb78a4ee8c488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3a66b3471e14539" /><Relationship Type="http://schemas.openxmlformats.org/officeDocument/2006/relationships/notesMaster" Target="/ppt/notesMasters/notesMaster1.xml" Id="R0bdf54ce28ec405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af9636671db47e7" /><Relationship Type="http://schemas.openxmlformats.org/officeDocument/2006/relationships/notesMaster" Target="/ppt/notesMasters/notesMaster1.xml" Id="R3709d589d926472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9e4fafcd5af46ec" /><Relationship Type="http://schemas.openxmlformats.org/officeDocument/2006/relationships/notesMaster" Target="/ppt/notesMasters/notesMaster1.xml" Id="R100ed5c14ca54df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1c2ae2e040743c4" /><Relationship Type="http://schemas.openxmlformats.org/officeDocument/2006/relationships/notesMaster" Target="/ppt/notesMasters/notesMaster1.xml" Id="R8c5873b668534a7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51101bba8104c52" /><Relationship Type="http://schemas.openxmlformats.org/officeDocument/2006/relationships/notesMaster" Target="/ppt/notesMasters/notesMaster1.xml" Id="Rbd1f7c0e14b1463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d42c7969fb04389" /><Relationship Type="http://schemas.openxmlformats.org/officeDocument/2006/relationships/notesMaster" Target="/ppt/notesMasters/notesMaster1.xml" Id="R29fe34bfd7274fc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74de7565594b0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423200770c364a00" /><Relationship Type="http://schemas.openxmlformats.org/officeDocument/2006/relationships/slideLayout" Target="/ppt/slideLayouts/slideLayout2.xml" Id="Rbc194cc475ad40e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c194cc475ad40e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a7ac13e3924ad6" /><Relationship Type="http://schemas.openxmlformats.org/officeDocument/2006/relationships/notesSlide" Target="/ppt/notesSlides/notesSlide1.xml" Id="Ree80b1a8ee3d4c8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ac91d2b25a4fab" /><Relationship Type="http://schemas.openxmlformats.org/officeDocument/2006/relationships/notesSlide" Target="/ppt/notesSlides/notesSlide2.xml" Id="Rc419d6379eec46c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05b1d10c65445a" /><Relationship Type="http://schemas.openxmlformats.org/officeDocument/2006/relationships/notesSlide" Target="/ppt/notesSlides/notesSlide3.xml" Id="R7ad9d6dd5f8742c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0eea96e4ea491e" /><Relationship Type="http://schemas.openxmlformats.org/officeDocument/2006/relationships/notesSlide" Target="/ppt/notesSlides/notesSlide4.xml" Id="R9690010c08db44d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31d2ea2f2746d4" /><Relationship Type="http://schemas.openxmlformats.org/officeDocument/2006/relationships/notesSlide" Target="/ppt/notesSlides/notesSlide5.xml" Id="R02658bc3369a408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d02cf5a9964c54" /><Relationship Type="http://schemas.openxmlformats.org/officeDocument/2006/relationships/notesSlide" Target="/ppt/notesSlides/notesSlide6.xml" Id="R8338dfb525dc48d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269620565749b5" /><Relationship Type="http://schemas.openxmlformats.org/officeDocument/2006/relationships/notesSlide" Target="/ppt/notesSlides/notesSlide7.xml" Id="Rd784262eff83405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0d31064c0e448a" /><Relationship Type="http://schemas.openxmlformats.org/officeDocument/2006/relationships/notesSlide" Target="/ppt/notesSlides/notesSlide8.xml" Id="R2a14e773a7dc475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72c6fe7ffb42a9" /><Relationship Type="http://schemas.openxmlformats.org/officeDocument/2006/relationships/notesSlide" Target="/ppt/notesSlides/notesSlide9.xml" Id="R184ea1c534e842f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994e060acb460a" /><Relationship Type="http://schemas.openxmlformats.org/officeDocument/2006/relationships/notesSlide" Target="/ppt/notesSlides/notesSlide10.xml" Id="R4ba8fc7baf194ae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c20cc61a64414e" /><Relationship Type="http://schemas.openxmlformats.org/officeDocument/2006/relationships/notesSlide" Target="/ppt/notesSlides/notesSlide11.xml" Id="Ra4d55ea5892b4d1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5072054df84f45" /><Relationship Type="http://schemas.openxmlformats.org/officeDocument/2006/relationships/notesSlide" Target="/ppt/notesSlides/notesSlide12.xml" Id="R49dff38a243140d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e362761c0e4817" /><Relationship Type="http://schemas.openxmlformats.org/officeDocument/2006/relationships/notesSlide" Target="/ppt/notesSlides/notesSlide13.xml" Id="R54f2d0ab4da446f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d6075048b94e5e" /><Relationship Type="http://schemas.openxmlformats.org/officeDocument/2006/relationships/notesSlide" Target="/ppt/notesSlides/notesSlide14.xml" Id="Rb740f0cb5b4c4f0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ffb16a55d974292" /><Relationship Type="http://schemas.openxmlformats.org/officeDocument/2006/relationships/notesSlide" Target="/ppt/notesSlides/notesSlide15.xml" Id="Re0cb482c97f84ae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faadc67a2f494f" /><Relationship Type="http://schemas.openxmlformats.org/officeDocument/2006/relationships/notesSlide" Target="/ppt/notesSlides/notesSlide16.xml" Id="R8953b1855672498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07c697cb6c4a24" /><Relationship Type="http://schemas.openxmlformats.org/officeDocument/2006/relationships/notesSlide" Target="/ppt/notesSlides/notesSlide17.xml" Id="Rd53dd73240f744c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F193B5-EFC3-4C4D-8F71-0E161FC28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B951ED-82DE-4937-B223-4E2301F64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476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07C671-7306-4AF7-9413-388ECDC24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A797DD-9ABE-44D5-AF51-2AC058A2F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8F2E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E8F2E2"/>
                </a:solidFill>
                <a:latin typeface="Aptos"/>
                <a:ea typeface="Aptos"/>
                <a:cs typeface="Aptos"/>
              </a:rPr>
              <a:t>Proyecto intermodular / TFG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CD1083-5316-42C6-A298-E01DC5323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3810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Sistema predictivo de</a:t>
            </a:r>
          </a:p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recomendación de riego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6BE550-B2AE-44FC-A1FA-B45B82159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8F2E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8F2E2"/>
                </a:solidFill>
                <a:latin typeface="Aptos"/>
                <a:ea typeface="Aptos"/>
                <a:cs typeface="Aptos"/>
              </a:rPr>
              <a:t>AEMET, variables de cultivo y Machine Learning aplicados a la agricultura de precisión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035C4F-CFAD-4689-8763-FEBA164A8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4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E8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BFA050-44FB-4A9B-8E5F-E77DB4F06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43425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Olivar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0FB7C1-0998-4927-BC78-B3EEC4797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76750"/>
            <a:ext cx="114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2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925BEB-CB8F-4BDC-AB51-A00E4F54E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543425"/>
            <a:ext cx="95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Cítricos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C33AB4-2BAF-48F5-BED2-53341011E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476750"/>
            <a:ext cx="123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33EEAC-881A-422F-8BFE-BDCC1696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543425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Almendro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A435BD-0ED3-40E9-81B1-02E704724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123950"/>
            <a:ext cx="3429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530"/>
          </a:solidFill>
          <a:ln xmlns:a="http://schemas.openxmlformats.org/drawingml/2006/main" w="9525">
            <a:solidFill>
              <a:srgbClr val="334C5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E4D6F7-0F0A-45E2-A4E3-4CDD10484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95450"/>
            <a:ext cx="2476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localización</a:t>
            </a:r>
          </a:p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+</a:t>
            </a:r>
          </a:p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clima</a:t>
            </a:r>
          </a:p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+</a:t>
            </a:r>
          </a:p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cultivo</a:t>
            </a:r>
          </a:p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+</a:t>
            </a:r>
          </a:p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superficie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0CD300-56EC-471C-B6B4-2E7D695DF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133850"/>
            <a:ext cx="1123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EF6367-7C88-49CF-AD9D-B8CFB796B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34340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DCEAD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CEAD8"/>
                </a:solidFill>
                <a:latin typeface="Aptos"/>
                <a:ea typeface="Aptos"/>
                <a:cs typeface="Aptos"/>
              </a:rPr>
              <a:t>recomendación de agua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A7A19D-90F4-4C05-A2C7-4D9625981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E8F2E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8F2E2"/>
                </a:solidFill>
                <a:latin typeface="Aptos"/>
                <a:ea typeface="Aptos"/>
                <a:cs typeface="Aptos"/>
              </a:rPr>
              <a:t>Roman Maeztu</a:t>
            </a:r>
          </a:p>
        </p:txBody>
      </p:sp>
    </p:spTree>
    <p:extLst>
      <p:ext uri="{BB962C8B-B14F-4D97-AF65-F5344CB8AC3E}">
        <p14:creationId xmlns:p14="http://schemas.microsoft.com/office/powerpoint/2010/main" val="35484144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E6DD7D-907F-4E28-BD23-4A858DCF3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DD1EAD-63FB-422F-8E5C-60AE2A45E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EF68B7-08F9-4C3E-9C03-989E8DE89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05A800-13B0-46B6-B6FE-EE7E9239B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ESTRUCTURA DEL PROYECTO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8E25D4-9703-4564-ACB6-0DD103980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solución se presenta como una cadena verificable de datos, cálculo y recomendación.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96B726-D73B-41CB-910A-75652747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Cada bloque aporta una evidencia concreta para defender la utilidad técnica del prototipo.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A14CE2-3203-408E-8F11-F0DB94ADD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2596AA-8B9B-4743-976B-E34A7E30A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F4662F-20FC-456D-97D1-B18418375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Problema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5CF89E-FF36-4137-9EB4-CD8E5697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Escasez hídrica y riesgo agronómico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241369-7382-45F7-95CD-A38400BD6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0289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ACF1C2-348C-48AD-8B6A-9318A7BEE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9939F5-307C-4204-9B00-5DF3A4CC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0E16C2-B2B4-40F5-AD71-90C4B108E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Objetivos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3DFD05-95BA-4327-8C5C-995DE7E74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Alcance y entregables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D4E873-769A-4EE9-B8D8-0798F1167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0289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215E25-1DBC-4B11-8E8E-86186F64C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89A2B2-0D43-40A4-9C9D-2EEECE939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7650DF-FFB4-40AE-A474-2AFF8CE3D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Datos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A5AE64-51AF-40E2-BB85-12C1C91A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AEMET y variables necesarias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DDAC95-5B24-4A22-9FB2-30269740F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0289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534A2C-773F-4BAD-9272-97C344585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E368C0-132A-4826-BF60-3732F66D1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8A23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D8A23A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0B8B76-7682-444D-A49E-D917D35A7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Cálculo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85D733-F189-47B5-B4A4-4C21057B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ET0, Kc, lluvia y eficiencia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4E36CE-4318-4BD2-89BA-51B42EF5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0289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18F73B-AB4B-4770-8769-8B0C1A44C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0B09612-A482-47F1-A4DF-6FF8124D0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ECEE2D-B2E9-4D4C-BCBD-CD414A6CD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BF0CFFC-0B1E-45EB-ACF3-78DAD20B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Predicción supervisada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5798EE-4E9F-4E72-81DF-22F48F519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ECEF96-CFB5-403B-84AD-D4A50C474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3B892C-584B-45E9-8E0B-CC5E2A155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rPr>
              <a:t>06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A0B8779-F5F7-464A-BE64-E9BDE3224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Resultados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CC73C56-E26B-4140-8CDB-8AEB0E5B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Demo y validación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1F3BD5D-3A6C-48D7-B43D-92E4A55B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0289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799E1CE-C13F-49FD-89F3-3323150CD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E31576D-3062-49F2-9F9A-D69F8F0FB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rPr>
              <a:t>07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770E0E0-45DA-4360-A249-030C4C23A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Cierre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20357B-8753-40FE-981A-E97AAC5B7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Limitaciones y evolución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6311C14-91EA-47B3-8C37-3A8ED193C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98583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10182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D0B8517-2EE3-4938-982E-BDC7FCB78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923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El objetivo es transformar datos meteorológicos oficiales y parámetros de cultivo en una recomendación clara de agua para una parcela.</a:t>
            </a:r>
          </a:p>
        </p:txBody>
      </p:sp>
    </p:spTree>
    <p:extLst>
      <p:ext uri="{BB962C8B-B14F-4D97-AF65-F5344CB8AC3E}">
        <p14:creationId xmlns:p14="http://schemas.microsoft.com/office/powerpoint/2010/main" val="40440779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D07839-4C70-4378-9D80-CD046A976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7C54D9-A4F9-416F-BE13-F7A7DE1FF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8C1C53-A8B7-4EBB-B39A-D53C8B37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EA42D4-74C7-4459-B524-34AE71A19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PROBLEMA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5C5C70-6E27-4DA3-88A1-9F43A4E5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decisión de riego necesita pasar de la intuición a una recomendación trazable.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890697-6280-47B0-95D0-1AEAD1DE6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En escenarios de sequía, tanto el exceso como el defecto de riego generan pérdidas técnicas y económicas.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1F30B6-615E-4832-86B3-054FDB990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1DE7B3-E376-4DB6-938D-FBF27144F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Escasez de agua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CA6437-4F6C-409B-9126-4ED98FD5E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38450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agricultor necesita ajustar la dosis de riego sin depender de estimaciónes generales.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50679B-FF81-40AF-8A67-0E0D4A65B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381250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AF68C6-30F6-4D3C-B3A3-767F6DA7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5270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Riesgo productivo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73F99D-B866-4C77-9212-B4867F926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38450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Regar de menos puede provocar estres hidrico y afectar al desarrollo del cultivo.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E2B544-F833-481C-8EAC-792746264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381250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E0B97B-9F4C-4567-B84C-99E83B37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55270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Ineficiencia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CB2088-8926-4F8D-AF6D-F27064A42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838450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Regar de mas incrementa coste, consumo energetico y perdida de recurso hidrico.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DC672E-7EF3-40DB-A0AD-68A71BF4A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AA04BD-00A9-4ECE-BED4-8A0D8BBF4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29075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Pregunta central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2B14B8-B762-4B16-AFD2-15190C357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14825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Cuanta agua necesita esta parcela, con este cultivo y en este periodo climatico.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142A2A-B2BC-444A-AD7A-49D266BC3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57625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EA618C-0AA2-420B-8CB3-23D538E71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29075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Enfoque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52A192-4BD4-46ED-A21F-1D5F9C97C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14825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sistema calcula la necesidad hídrica antes de entrar en detalles de instalacion.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A18BEB-17DF-4A3C-AE46-4AA7A4789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57625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F3271F-AD29-4347-AACE-7B766655A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29075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Valor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62200B-7995-44EF-9C19-3A90F0B0C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314825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salida se expresa en litros totales, litros díarios, litros por planta y lámina de riego.</a:t>
            </a:r>
          </a:p>
        </p:txBody>
      </p:sp>
    </p:spTree>
    <p:extLst>
      <p:ext uri="{BB962C8B-B14F-4D97-AF65-F5344CB8AC3E}">
        <p14:creationId xmlns:p14="http://schemas.microsoft.com/office/powerpoint/2010/main" val="166982012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64002BD-813F-4523-BD1A-2C3EA1392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097604-506F-4A0A-BF4B-E29F29137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9C716F-D1FD-4410-BEB8-EE702FE0D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B16F33-46D1-4A8F-9EBD-F62C99696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OBJETIVOS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958EB8-4DB9-4E34-B06A-0F69A65A8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escalera de objetivos conecta el problema inicial con un prototipo funcional.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A3CD5D-5757-46D5-B84A-FCB879531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Los objetivos especificos se tratan como pasos obligatorios para alcanzar el objetivo general.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1B0E41-E14C-44D1-8F65-EA91BC92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72000"/>
            <a:ext cx="58578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A66A"/>
          </a:solidFill>
          <a:ln xmlns:a="http://schemas.openxmlformats.org/drawingml/2006/main" w="9525">
            <a:solidFill>
              <a:srgbClr val="83A66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CE3AA5-6FEB-430E-A5B5-F7629FEB8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95825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7D1CE3-FBA7-4271-81A8-0F7ED3AC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705350"/>
            <a:ext cx="50006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Definir las variables climaticas, agronómicas y de parcela necesarias.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3A91CC-54E9-4AAF-A0B5-E3300B59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67150"/>
            <a:ext cx="58578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9525">
            <a:solidFill>
              <a:srgbClr val="2E6B4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F6649A-2E10-4450-A42C-79CDE534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990975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FA131E-B0F0-4D5D-8B6A-6CE3BD3C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00500"/>
            <a:ext cx="50006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Integrar datos meteorológicos oficiales de AEMET o CSV cacheado.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60B702-D34C-4E69-9A35-5E0C1D692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162300"/>
            <a:ext cx="58578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E88"/>
          </a:solidFill>
          <a:ln xmlns:a="http://schemas.openxmlformats.org/drawingml/2006/main" w="9525">
            <a:solidFill>
              <a:srgbClr val="2F5E8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55A2F8-234C-4A6A-A19F-6FD3CF260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286125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848126-6E6E-4D45-96FE-569623A80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295650"/>
            <a:ext cx="50006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Calcular la necesidad hídrica mediante ET0, Kc, lluvia efectiva y eficiencia.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E3B3C2-BB57-4B9E-91BB-961EAAE09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457450"/>
            <a:ext cx="58578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22D"/>
          </a:solidFill>
          <a:ln xmlns:a="http://schemas.openxmlformats.org/drawingml/2006/main" w="9525">
            <a:solidFill>
              <a:srgbClr val="C4622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0924F4-9A3C-489E-95B7-A05AC8F2F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81275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55A67D-8082-46EE-BD5B-756BE9D79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590800"/>
            <a:ext cx="50006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Comparar tres cultivos configurados: olivar, cítricos y almendro.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802600-6265-4EC0-AAFD-969300329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752600"/>
            <a:ext cx="58578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3A"/>
          </a:solidFill>
          <a:ln xmlns:a="http://schemas.openxmlformats.org/drawingml/2006/main" w="9525">
            <a:solidFill>
              <a:srgbClr val="D8A23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AD6D4E-C3AE-4C14-9209-EC55648E0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876425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EE0FAA-3041-499E-82A3-C23ABFC07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885950"/>
            <a:ext cx="50006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Incorporar una capa ML para predecir la lámina de riego del periodo.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F1F6DA-28EA-4730-9913-81795252A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38350"/>
            <a:ext cx="18097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5F372D-C8CB-4DC2-BE20-06F98E0CD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2860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Objetivo general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6BC809-41AC-44BA-976C-65F0AF47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28900"/>
            <a:ext cx="13525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Desarrollar un sistema de análisis y predicción que recomiende la cantidad de agua a aplicar en una parcela segun localización, cultivo, fechas y superficie.</a:t>
            </a:r>
          </a:p>
        </p:txBody>
      </p:sp>
    </p:spTree>
    <p:extLst>
      <p:ext uri="{BB962C8B-B14F-4D97-AF65-F5344CB8AC3E}">
        <p14:creationId xmlns:p14="http://schemas.microsoft.com/office/powerpoint/2010/main" val="174533456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D8CD65-12A2-4FDE-9AB0-51114342E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2A2570-DAE0-43E5-9AB6-D22666820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446B4B-B8CC-43A2-9083-D12A81458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3E62AF-48E9-45B6-835A-3C1383D62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ALCANCE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F62BB0-92F6-4A24-88E5-25C015B41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prototipo prioriza la recomendación de agua, no el diseno de la instalacion.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3C8385-5336-4B86-B642-D4B43E963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decisión clave para el cliente es la cantidad de agua que debe distribuir en la plantación.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DC8F5F-FC66-4924-8F06-74A036A60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47625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80D0F0-9FEC-42E7-B2AA-AD6048E8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266950"/>
            <a:ext cx="47625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41A60B-EF19-4BC8-BBA5-666B2F48B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5270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Implementado en el prototipo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216A8A-8117-40CC-9436-46A787DCE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5270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Delimitado como mejora futura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7BD88E-E0D6-41EB-9A02-BDB492FDA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623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BBDAAA-4561-44E1-8F4E-C186D8393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05150"/>
            <a:ext cx="386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Seleccion de localización, estacion, cultivo, fase y superficie.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226773-711D-44D4-9260-D091067EC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C04354-FD18-4313-A181-E18E51137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57600"/>
            <a:ext cx="386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Uso de datos AEMET o CSV local para asegurar reproducibilidad.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99AA52-1BEF-4D9B-8EA6-F0B2708F1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672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7E6749-C5FB-40C8-8B48-785E15601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10050"/>
            <a:ext cx="386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Cálculo agronómico trazable y predicción ML complementaria.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31DE73-41B9-4982-AEF1-26444100A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196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E37A12-DF7A-4098-9616-F4270CC5E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762500"/>
            <a:ext cx="386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Interfaz Streamlit con resultados exportables para defensa.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2028D4-CB0C-4E4D-879B-9E52DC3EB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1623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2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092F70-0AE0-443E-9AB8-414FB900C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05150"/>
            <a:ext cx="386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Sensores IoT reales y humedad de suelo como calibración de campo.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6BAE69-B5B4-472A-8B0D-1FADD073F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14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2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1CF8CE-8DC5-40FA-8BA1-2317CDEA6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57600"/>
            <a:ext cx="386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BigQuery como repositorio masivo cuando exista despliegue cloud.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AD50F2-8F92-4807-9653-7632FAB3F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672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2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483905-608A-47B8-906F-0BF32A2FB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210050"/>
            <a:ext cx="386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Validación con históricos reales de riegos aplicados por agricultores.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5EFF1E-1DBD-4D6A-9C35-3B4FF9847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196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2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58365A-DD51-4E23-AAA7-58C89FEB1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762500"/>
            <a:ext cx="386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Gestión comercial de usuarios, parcelas y recomendaciónes recurrentes.</a:t>
            </a:r>
          </a:p>
        </p:txBody>
      </p:sp>
    </p:spTree>
    <p:extLst>
      <p:ext uri="{BB962C8B-B14F-4D97-AF65-F5344CB8AC3E}">
        <p14:creationId xmlns:p14="http://schemas.microsoft.com/office/powerpoint/2010/main" val="15038797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C3CF4E-AC60-482E-9EB1-15F198D4C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C1F0C0-8BBB-4A97-AA32-EF6F13A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C17834-2F1C-4B6C-96AD-30742BB6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8BB530-F9E5-414B-AF64-F099EF41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ARQUITECTURA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85240D-6FE0-44E3-9A98-9B67EE9E2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flujo técnico convierte una consulta de parcela en una recomendación de riego.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47D402-2A17-4195-AFD6-9CAE460F9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prototipo esta organizado para separar datos, cálculo, predicción y visualizacion.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61CD6A-F5BB-4245-BE77-7B92AC97D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16954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9525">
            <a:solidFill>
              <a:srgbClr val="2E6B4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59F426-6F5E-4BF3-9747-04035B332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05100"/>
            <a:ext cx="1390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Cliente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F5C8FE-FA96-434A-9A9D-11F5BE340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051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Zona, fechas, cultivo y superficie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EF1157-F46D-43B1-B924-41C339D1D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067050"/>
            <a:ext cx="361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4EA274-4039-4E8C-A71B-4E60B8947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476500"/>
            <a:ext cx="16954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E88"/>
          </a:solidFill>
          <a:ln xmlns:a="http://schemas.openxmlformats.org/drawingml/2006/main" w="9525">
            <a:solidFill>
              <a:srgbClr val="2F5E8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845FBF-DF5A-40F2-9A18-583B2ADF8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705100"/>
            <a:ext cx="1390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AEMET / CSV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ADEAA3-BE21-4F18-8965-1CE7CD33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1051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Datos meteorológicos oficiales o cacheados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A6BA6F-80A4-4A62-B9EB-07933AEA8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067050"/>
            <a:ext cx="361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725FD5-0F9E-4956-BAF9-9BCBC8CC2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476500"/>
            <a:ext cx="16954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22D"/>
          </a:solidFill>
          <a:ln xmlns:a="http://schemas.openxmlformats.org/drawingml/2006/main" w="9525">
            <a:solidFill>
              <a:srgbClr val="C4622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C9BA83-41F3-4243-80ED-E17AF3B4C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705100"/>
            <a:ext cx="1390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ETL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5E4685-65A7-435F-A78C-962E5081E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1051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Normalizacion de fechas, lluvia y temperatura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3BC4AC-3241-4DA5-B0D7-8FD8795CD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67050"/>
            <a:ext cx="361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40D94C-6316-46E7-B83E-BCB4F402E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76500"/>
            <a:ext cx="16954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3A"/>
          </a:solidFill>
          <a:ln xmlns:a="http://schemas.openxmlformats.org/drawingml/2006/main" w="9525">
            <a:solidFill>
              <a:srgbClr val="D8A23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B3BBEE-80CD-4848-9638-1DF703419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705100"/>
            <a:ext cx="1390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Motor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B6DE5A-5899-4979-8BCA-76DA10AE1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1051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Cálculo agronómico y modelo ML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BE289C-945C-47EF-9F39-DA97B0DDF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067050"/>
            <a:ext cx="361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61EE84-1ADE-430E-95D3-162897C87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476500"/>
            <a:ext cx="16954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10182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C464F2-0227-4A74-B4C4-CD8DC5F0D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05100"/>
            <a:ext cx="1390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Informe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F7732B-D9DB-4D71-8488-4ACE59067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1051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Litros, lámina, detalle díario y descarga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15491D-6528-4842-B206-2059D41F6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9810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1FFF66-9D3F-4190-AA38-454E80730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2915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cache local evita saturar AEMET durante la demostración y mantiene resultados repetibles.</a:t>
            </a:r>
          </a:p>
        </p:txBody>
      </p:sp>
    </p:spTree>
    <p:extLst>
      <p:ext uri="{BB962C8B-B14F-4D97-AF65-F5344CB8AC3E}">
        <p14:creationId xmlns:p14="http://schemas.microsoft.com/office/powerpoint/2010/main" val="20583164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22B065-00B8-43A1-8D77-7DC2A4C0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38C648-94D8-4D47-B911-0DDF25C45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02F6ED-7A78-4060-B42C-AFFEC97B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135660-6B64-4D26-AB64-7A130DDAA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DATOS DE ENTRADA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A44B28-966D-4E6E-BACC-B2670D786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Solo se mantienen las variables necesarias para calcular el agua recomendada.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FCB389-D2CD-4D42-B01C-26C44A6A7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limpieza del alcance elimina variables que no intervienen directamente en el resultado.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400FC2-2DC6-4CAC-9322-2ACADBF60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2000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9525">
            <a:solidFill>
              <a:srgbClr val="2E6B4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11157F-F8FC-4489-ACD1-E47240741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0030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Bloque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5475E4-77D3-44D6-8E72-8EA67C282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305050"/>
            <a:ext cx="2667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9525">
            <a:solidFill>
              <a:srgbClr val="2E6B4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FFF2FE-A686-4E32-9BB9-215DF2C74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4003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Variable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505B2D-CD09-4AE6-B531-D05589CB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305050"/>
            <a:ext cx="533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9525">
            <a:solidFill>
              <a:srgbClr val="2E6B4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0BDCCD-8D7F-4FBA-A100-69BF698E1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400300"/>
            <a:ext cx="514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Uso en el sistema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9BC491-A4D5-44E6-AC34-C76C2C1FB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EAD39E-7B55-48DA-91A9-3D42A6B3B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622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Localización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EA0F50-8756-4F93-AF5E-BAA2FCA5A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667000"/>
            <a:ext cx="266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453F70-B34C-40AC-93DE-94F37CB33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7622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Provincia, estacion AEMET o CSV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179ACC-DDC0-45E0-86AB-56A57169C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667000"/>
            <a:ext cx="533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3DF62B-65AF-45A7-9EC5-D90A26177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762250"/>
            <a:ext cx="514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Selecciona el origen climatico del escenario.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0ADB68-7B69-4DA8-9B1B-AD861AC5D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3C05AB-B351-4D7E-9504-1B43F2F27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813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Periodo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C48A4D-6849-4130-A677-3D0308FB7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086100"/>
            <a:ext cx="266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F19A50-DDB4-4F64-B155-7A179379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1813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Fecha inicial y final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F0AA11-CC09-4411-B69F-4E134D757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086100"/>
            <a:ext cx="533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6EA723-0E07-4935-847C-4F3864082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181350"/>
            <a:ext cx="514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Define los días sobre los que se acumula la recomendación.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241FA5-7656-4B99-9817-FED4B96A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052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BC4B10-3644-42DA-B8D4-8A15E6C3E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004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Clima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9CADFF8-A3CE-4457-83B0-7A6383889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505200"/>
            <a:ext cx="266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960062-B7EA-4247-9608-9F9A9163E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6004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Temperatura y lluvia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CAEF2C-FD00-45EE-936C-66B8DB963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505200"/>
            <a:ext cx="533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C27591-4453-4796-8B5F-FF3731452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600450"/>
            <a:ext cx="514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Permite estimar ET0 y restar lluvia efectiva.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92189FC-59AF-4488-9952-96B733E43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BF1E6B5-F2F6-4D03-9D5F-6073585FD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195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Cultivo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16D94CB-4C98-4479-B4D8-5D9B70F38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924300"/>
            <a:ext cx="266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2442A99-24E4-4280-8345-1952669D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0195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Tipo de cultivo y fase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D3B35F-402E-4182-83AE-AA8781563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924300"/>
            <a:ext cx="533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D79A7E6-8D39-45CD-811E-BA999E638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019550"/>
            <a:ext cx="514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Aplica el coeficiente Kc correspondiente.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7E9DF38-39E7-407C-919C-F8F8D35B7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9BD9393-024B-4109-9B9F-D7A082CEA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386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Parcela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5DA3FCF-EF0E-4329-9477-464B86881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343400"/>
            <a:ext cx="266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8864D6E-7F2C-4C76-A240-7B41795F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4386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Superficie en m2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1D2CBB0-6C66-46C8-9546-4253D93D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343400"/>
            <a:ext cx="533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BBE95A1-258F-4C69-A2D3-3D454FA6F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438650"/>
            <a:ext cx="514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Convierte la lámina de riego en litros totales.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054AAE0-0885-4AAF-B937-BA69AB83B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A79C11A-086D-4441-BFE4-3FAB82475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Riego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FE993F9-856D-46B3-A65D-AF19E5288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762500"/>
            <a:ext cx="266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2226BD1-0C03-436E-B4E9-6252C6AD0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8577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Eficiencia del sistema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A6E17E0-94F4-4031-B809-2D1334A20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762500"/>
            <a:ext cx="533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1E4988E-CB43-451D-B61D-AAB0E97D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857750"/>
            <a:ext cx="514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Corrige la dosis neta para obtener dosis bruta.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A3C31AB-79F1-49C6-8E1F-49D9C16E3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9525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humedad de suelo, IoT y BigQuery quedan descritos como evolución futura, no como base actual del cálculo.</a:t>
            </a:r>
          </a:p>
        </p:txBody>
      </p:sp>
    </p:spTree>
    <p:extLst>
      <p:ext uri="{BB962C8B-B14F-4D97-AF65-F5344CB8AC3E}">
        <p14:creationId xmlns:p14="http://schemas.microsoft.com/office/powerpoint/2010/main" val="207110630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376307-2C70-47B2-A1BF-ED7CA799D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52E7FF-BCFF-40DD-AAEC-DD517AFB4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0105A4-5898-4F22-A6AA-71E03AE3A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9D8B5A-929F-48BB-A8CA-6D07ADC38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MÉTODO AGRONÓMICO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6B4730-6EEA-41AB-BE7C-DE9A3C61C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cálculo base es explicable y auditable antes de aplicar Machine Learning.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47B964-0353-4E71-99D2-92287FF1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predicción ML se apoya en una referencia agronómica transparente.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169E2E-5C75-4514-B751-C3D9DB92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0096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10182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3E5999-C5D8-472F-B3F7-A45C7E729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86025"/>
            <a:ext cx="942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9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ETc = ET0 x Kc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DCB4A6-551E-4975-AC25-211DB4009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86075"/>
            <a:ext cx="942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rPr>
              <a:t>necesidad_neta_mm = max(0, ETc - lluvia_efectiva)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547AEC-B0BD-4A68-BE07-A5BF328D1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86125"/>
            <a:ext cx="942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rPr>
              <a:t>riego_bruto_mm = necesidad_neta_mm / eficiencia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5537C8-51BA-4F15-8B33-228C244B9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86175"/>
            <a:ext cx="942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rPr>
              <a:t>litros_totales = riego_bruto_mm x superficie_m2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EDFB1A-8750-4446-AE94-C02C2FEBF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9810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8CF026-9191-4484-A3C5-9A3C39448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Un milimetro de riego equivale a un litro por metro cuadrado. Por eso la lámina díaria se transforma directamente en litros para la parcela.</a:t>
            </a:r>
          </a:p>
        </p:txBody>
      </p:sp>
    </p:spTree>
    <p:extLst>
      <p:ext uri="{BB962C8B-B14F-4D97-AF65-F5344CB8AC3E}">
        <p14:creationId xmlns:p14="http://schemas.microsoft.com/office/powerpoint/2010/main" val="31522810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D3219B-88E5-4DFE-8F93-55EF4E6DC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BB5ED9-4CA4-4D80-B9EA-8D30BC142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894E63-F1E9-4D78-A217-1E9B6560F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CB7CF9-EFD9-406E-A946-84CBE30AE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COMPARACION DE CULTIVOS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2F095F-F220-4B14-B479-438BD2F8E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Con el mismo clima y la misma parcela, el cultivo cambia la demanda de agua.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0329FF-4F58-4D08-A2FA-721BC6054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coeficiente Kc representa la demanda relativa del cultivo en una fase fenológica.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483D7E-FFF1-4460-BA3D-28F40E7F6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33625"/>
            <a:ext cx="13811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Olivar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EF60AB-E9AA-4934-8F94-F67403761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371725"/>
            <a:ext cx="70961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7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CF9E74-0478-43C8-9451-BAEE2E03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371725"/>
            <a:ext cx="5216966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D5E350-42D1-4E83-9D2D-450233D34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371725"/>
            <a:ext cx="76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630"/>
                </a:solidFill>
                <a:latin typeface="Aptos"/>
                <a:ea typeface="Aptos"/>
                <a:cs typeface="Aptos"/>
              </a:rPr>
              <a:t>3.97 mm/día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6BD1E0-1978-46F0-B4B9-13A6892A7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676525"/>
            <a:ext cx="781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Kc fase media configurado: 0,70.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D01C11-A7AD-46E8-B1E6-F6152EB61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38475"/>
            <a:ext cx="13811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Cítricos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E4810A-075C-4328-9006-BAC0D462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076575"/>
            <a:ext cx="70961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7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8F7913-EDA9-43FC-981E-03F3F278C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076575"/>
            <a:ext cx="5584913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E8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35E8F5-909C-457A-AD50-234146F32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076575"/>
            <a:ext cx="76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630"/>
                </a:solidFill>
                <a:latin typeface="Aptos"/>
                <a:ea typeface="Aptos"/>
                <a:cs typeface="Aptos"/>
              </a:rPr>
              <a:t>4.25 mm/día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DDF4A7-8C20-4610-A516-3BF7BF389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81375"/>
            <a:ext cx="781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Kc fase media configurado: 0,75.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B2AE2F-A6A8-48B5-89FE-AA64F0A79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43325"/>
            <a:ext cx="13811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Almendro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A11CB3-00C2-4424-BB69-BEAFA5B7D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81425"/>
            <a:ext cx="70961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7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3531DC-7B5F-4116-9CA7-E2FCDBC4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81425"/>
            <a:ext cx="6701896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2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DCE157-CBF3-41B0-9439-A8FBA56DB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781425"/>
            <a:ext cx="76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630"/>
                </a:solidFill>
                <a:latin typeface="Aptos"/>
                <a:ea typeface="Aptos"/>
                <a:cs typeface="Aptos"/>
              </a:rPr>
              <a:t>5.10 mm/día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0D7E5-8218-4DFE-9581-508B7324E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086225"/>
            <a:ext cx="781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Kc fase media configurado: 0,90.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042DCD-C332-4CDA-973A-C65EFD757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34000"/>
            <a:ext cx="904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Estimación orientativa con ET0 media de 5,10 mm/día, lluvia nula y eficiencia de riego del 90%.</a:t>
            </a:r>
          </a:p>
        </p:txBody>
      </p:sp>
    </p:spTree>
    <p:extLst>
      <p:ext uri="{BB962C8B-B14F-4D97-AF65-F5344CB8AC3E}">
        <p14:creationId xmlns:p14="http://schemas.microsoft.com/office/powerpoint/2010/main" val="118814473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3B60049-4D9C-412B-B751-F4020C7D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4FF9C1-8C32-4A7C-8578-437928A45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211C0D-024C-406F-BBAD-A3818A9CF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A4BE1C-9A8E-4E3F-8070-0AF25A793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MACHINE LEARNING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EFD62C-E619-4827-B2EE-CAD04FB0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capa ML aprende a predecir la lámina de riego a partir de clima, cultivo y parcela.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4E0019-9C9D-471C-A09F-9613245B5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modelo complementa el cálculo agronómico; no sustituye la necesidad de calibración real en campo.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18D5CC-E55A-4186-9E62-A0595538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2190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9525">
            <a:solidFill>
              <a:srgbClr val="2E6B4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09187C-C69B-45AF-8D19-E2A39D046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6700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Variables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3E2BBA-9208-4681-92EA-D638AB0C7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43250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ET0, lluvia, cultivo, fase, Kc, superficie y eficiencia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4C9F35-201D-45A2-A5BD-A46501B1A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067050"/>
            <a:ext cx="438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41F203-9972-49CE-B597-A8AB24672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381250"/>
            <a:ext cx="2190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E88"/>
          </a:solidFill>
          <a:ln xmlns:a="http://schemas.openxmlformats.org/drawingml/2006/main" w="9525">
            <a:solidFill>
              <a:srgbClr val="2F5E8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70C833-54B3-4F8A-A5D1-ED4240012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66700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Entrenamiento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85E558-D1DF-4561-9824-4A3591AB2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43250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Regresion supervisada con históricos y etiqueta riego_bruto_mm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A750AC-80B4-43F4-A8CC-13C27CC79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067050"/>
            <a:ext cx="438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EBDF75-4446-4C0F-B795-6E98F252D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381250"/>
            <a:ext cx="2190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22D"/>
          </a:solidFill>
          <a:ln xmlns:a="http://schemas.openxmlformats.org/drawingml/2006/main" w="9525">
            <a:solidFill>
              <a:srgbClr val="C4622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D23C4F-DF02-4B5E-8F49-A9BC76465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6700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Predicción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1CB1C5-0167-46EE-B7BA-76D07AF62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143250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Lámina díaria prevista y conversion a litros de parcela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F24D8E-499A-4E0A-A96D-B79E698D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067050"/>
            <a:ext cx="438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2CAD73-7110-4380-8DA8-663D3F614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81250"/>
            <a:ext cx="2190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3A"/>
          </a:solidFill>
          <a:ln xmlns:a="http://schemas.openxmlformats.org/drawingml/2006/main" w="9525">
            <a:solidFill>
              <a:srgbClr val="D8A23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B3CA01-A115-49E4-9937-79EFA878E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66700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Calibración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DD9798-7BB7-451F-8F35-3F2A4D74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143250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Mejora futura con riegos reales aplicados en campo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F3472F-E562-4B8C-A9FB-8FECF23E2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95800"/>
            <a:ext cx="98107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B29226-D4D2-4A47-AF00-0021DCEBE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Lectura tecnica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771E2C-2F51-49A9-A26A-02932A56D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10150"/>
            <a:ext cx="914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En la version actual, el modelo aprende la referencia técnica del sistema. Con datos reales de explotaciones podria ajustarse para capturar diferencias de manejo, suelo y respuesta local.</a:t>
            </a:r>
          </a:p>
        </p:txBody>
      </p:sp>
    </p:spTree>
    <p:extLst>
      <p:ext uri="{BB962C8B-B14F-4D97-AF65-F5344CB8AC3E}">
        <p14:creationId xmlns:p14="http://schemas.microsoft.com/office/powerpoint/2010/main" val="21687134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B5B3BA-9DEC-4650-A9A5-ACB90D22E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9AEDBD-1E2D-4258-ACC1-8F963BE0F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189E0B-02C4-49C2-AD04-6704724FB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21CD99-E378-43E2-9F89-67B1B1912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ESCENARIO DE DEMOSTRACIÓN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0A6E1E-B91F-4CFB-B5D5-9F5F69FE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demo se basa en un escenario estable, reproducible y documentado.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A24882-1D08-4CF8-BB96-91E35558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objetivo es evidenciar el funcionamiento del servicio sin depender de nuevas peticiones a AEMET.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6203F5-3A4D-4846-AFDE-90F9683A7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2381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9525">
            <a:solidFill>
              <a:srgbClr val="2E6B4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F52DA6-B8C0-4F4F-BD16-074B2B63F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00300"/>
            <a:ext cx="2190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Elemento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824F1C-21EC-4C15-A3A5-590BC2AB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05050"/>
            <a:ext cx="2857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9525">
            <a:solidFill>
              <a:srgbClr val="2E6B4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BCDDA9-9AEA-4E47-9FEA-1918D09C6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40030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B2318C-A4E5-4DC5-8067-386CCB128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305050"/>
            <a:ext cx="4762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9525">
            <a:solidFill>
              <a:srgbClr val="2E6B4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57B908-BBD0-485A-99A1-7B27334B8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400300"/>
            <a:ext cx="457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Justificacion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28C806-1C20-491E-A584-8044EB6FA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6E62C0-5E3A-4A92-A67C-810B2307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6225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Fuente climatica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9A98FF-D3D1-4092-86C5-0A5D8A2D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667000"/>
            <a:ext cx="285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A0BE98-424C-4209-B247-88CC096DD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76225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CSV local versionado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A47506-765C-46A6-8113-D74822F34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667000"/>
            <a:ext cx="476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7B0335-25C3-4A38-88AE-C586EDFAF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762250"/>
            <a:ext cx="457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Evita saturacion de AEMET y garantiza repetibilidad.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DB35E5-25D9-415F-9B65-6DBDF79DE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E766D3-7A68-4785-B5EB-099C8ECC1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8135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Estacion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E76B6F-313B-4462-A1E2-7DB86013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086100"/>
            <a:ext cx="285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6D43E5-1AF8-4E36-9A21-5DA581037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18135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5783 Sevilla Aeropuerto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0C1EC4-37B6-46A2-B5AD-B7DCDA612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086100"/>
            <a:ext cx="476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379A2C-4F96-432D-8451-44B31735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181350"/>
            <a:ext cx="457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Escenario real de datos meteorológicos.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479145-7F5E-489D-9CF1-DA440133B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0520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7B2BFB-1709-4FEA-B7F0-A078F1670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0045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Periodo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F32F05-62B7-4C8A-B70F-A97FDCA65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505200"/>
            <a:ext cx="285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7FCA78-A784-4405-9424-C7BCC6952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60045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2024-05-01 a 2024-05-07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9CA73D7-662E-43F6-93DA-081CD7E17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05200"/>
            <a:ext cx="476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931B7D8-53F3-4688-AACE-4851ACDD5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600450"/>
            <a:ext cx="457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Primera semana de mayo para comparacion díaria.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56DCEED-F066-45C3-82BD-098B22A5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8559E25-8DE8-42FE-92C1-B21EBCD2E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1955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Cultivo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422B807-121A-427A-8135-4079E4130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24300"/>
            <a:ext cx="285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E2BB103-7699-45F6-A859-BCBFDA3FF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01955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Olivar en fase media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644B6B7-DC19-435A-9F86-598B8467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924300"/>
            <a:ext cx="476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B26ECC-551F-4904-8934-8CCAB6BEE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019550"/>
            <a:ext cx="457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Caso principal del Valle del Guadalquivir.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14AC86E-41B3-439C-ACDB-B56A5B4C4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605E2AB-CC8F-45E4-9CA0-954623AD3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3865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Superficie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1A158BC-18C9-45DC-8344-14670FA6A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343400"/>
            <a:ext cx="285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87AC996-E130-4CEF-9AC8-F09C57BF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43865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3.500 m2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FD3C463-D8F4-4154-9169-00943E10F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43400"/>
            <a:ext cx="476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02913C4-9024-45AE-A6D3-73EF53A50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38650"/>
            <a:ext cx="457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Dimension de parcela usada en la simulacion.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D794B9E-FC75-4A5E-8118-F8D2526CE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7026BD1-37B9-4177-90F2-DFC576C5C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Modelo ML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62F25C1-D946-4E50-A0DE-D9EB6C8C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762500"/>
            <a:ext cx="285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A7D746E-8094-4297-846A-F5BBDFD9D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85775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models/riego_predictivo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BCB7E02-18D5-4C75-AB72-CCC6109A5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762500"/>
            <a:ext cx="476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4540A99-AA20-4BE5-9A2E-A641C1BB2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57750"/>
            <a:ext cx="457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Modelo versionado dentro del repositorio.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4E0F66E-4C97-4C86-B922-D27CBA5C5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9525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configuración permite repetir la misma salida ante el tribunal y comparar posteriormente otros cultivos.</a:t>
            </a:r>
          </a:p>
        </p:txBody>
      </p:sp>
    </p:spTree>
    <p:extLst>
      <p:ext uri="{BB962C8B-B14F-4D97-AF65-F5344CB8AC3E}">
        <p14:creationId xmlns:p14="http://schemas.microsoft.com/office/powerpoint/2010/main" val="65176930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FAC77F-4EE2-4380-B9AF-C3F39077E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ADC30B-23BB-414B-8479-BBCB4B270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BD40A0-7C28-4A19-9320-35CC8E9EA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BD3DF1-2A0D-4403-AE72-8D23DB087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RESULTADOS DE LA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F7F912-B714-4904-9BE6-34C975B3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prototipo devuelve una recomendación cuantificada para la parcela completa.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6D3567-AC57-4060-8839-247044BC3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Los indicadores se expresan en unidades comprensibles para la toma de decisiónes.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43342-4AC3-48D1-8AC9-EF78C1ECD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233362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3C6B97-2203-459F-B548-56F0591F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19350"/>
            <a:ext cx="19907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Riego total del periodo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D79712-0DE2-4B4E-9B79-C1BDD80AA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1990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97.156 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D8A12A-4334-4F12-9F78-7D27EE1C1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86100"/>
            <a:ext cx="1990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Agua total recomendada para los siete días.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FBCDE2-B91A-4EEE-9057-4D2C71BE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266950"/>
            <a:ext cx="233362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7532DB-EEDB-4682-BFDE-D872D8787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419350"/>
            <a:ext cx="19907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Riego medio díario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A92B73-1758-494D-ACF0-D49D458DB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47950"/>
            <a:ext cx="1990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13.879 L/día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E959BC-A86F-4AB4-BA8C-E5698B765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86100"/>
            <a:ext cx="1990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Promedio díario para toda la parcela.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827281-1438-413F-8E6B-D584448F0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266950"/>
            <a:ext cx="233362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755839-40F2-47FE-A1DF-5D03903DF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19350"/>
            <a:ext cx="19907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Litros por planta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BFE408-DDAA-4AF4-A74F-99417C6C1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1990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31,72 L/planta/día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18A6BE-77C8-47AA-BAB5-280201479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86100"/>
            <a:ext cx="1990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Media díaria estimada por planta.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A3867B-5509-439A-9272-69EBDA1F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266950"/>
            <a:ext cx="233362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F62C6D-3090-4664-8A7B-1BF8EAE8F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19350"/>
            <a:ext cx="19907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Lámina díaria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04C442-71DC-472D-9C38-B90D9BA6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47950"/>
            <a:ext cx="1990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3,97 mm/día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A6107D-EBA8-410F-90EB-A92A3DAE9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86100"/>
            <a:ext cx="1990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Profundidad media aplicada al terreno.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9BC57F-ADF2-42A3-AC26-FAAEC0EAC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48075"/>
            <a:ext cx="233362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9F60B4-8268-4DF7-87C4-E9970F968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00475"/>
            <a:ext cx="19907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ET0 media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C4141E-7D17-45E3-A047-4B67B1FEF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29075"/>
            <a:ext cx="1990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5,10 mm/día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CC0666-1359-46E2-9190-9455ADECE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67225"/>
            <a:ext cx="1990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Demanda atmosferica media del periodo.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5AA722-45BA-4396-BC86-E1719D9C0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648075"/>
            <a:ext cx="233362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A2D394-9A28-4591-8BBD-E2C3CA26A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00475"/>
            <a:ext cx="19907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Lluvia total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159C21E-29F6-4D31-90F0-48AA534F7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29075"/>
            <a:ext cx="1990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0,00 mm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4940AA-ED70-4AAD-9000-3352DFC5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467225"/>
            <a:ext cx="1990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No reduce la necesidad de riego.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171A5D-B8BF-448E-B653-88990E8D7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648075"/>
            <a:ext cx="233362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63C0A47-AA86-44E6-9F6C-5587E09C4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00475"/>
            <a:ext cx="19907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Predicción ML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0411B08-24D7-4A5B-9E5F-E93846A13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29075"/>
            <a:ext cx="1990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97.160 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1F21FCA-8067-4466-99D0-A42F3310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67225"/>
            <a:ext cx="1990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Resultado muy cercano al cálculo base.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1794ABC-6C1B-4E70-9312-05F016BDB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648075"/>
            <a:ext cx="233362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8F6FCFE-9CDF-45CB-AA0F-D6E03972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800475"/>
            <a:ext cx="19907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Modelo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4689882-0056-48D0-B4F4-9C1FAD210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29075"/>
            <a:ext cx="1990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R2 0,9755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E115C5E-ACD8-4F89-AA54-6AC79C50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467225"/>
            <a:ext cx="1990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Evaluacion del modelo versionado.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EB1B434-E65F-445E-AC14-DD55ABADA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001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Lectura principal: para el escenario de olivar, el sistema recomienda aproximadamente 97 mil litros en el periodo completo.</a:t>
            </a:r>
          </a:p>
        </p:txBody>
      </p:sp>
    </p:spTree>
    <p:extLst>
      <p:ext uri="{BB962C8B-B14F-4D97-AF65-F5344CB8AC3E}">
        <p14:creationId xmlns:p14="http://schemas.microsoft.com/office/powerpoint/2010/main" val="820374581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49E08B-D6E2-48B7-8119-E7495EDF8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EC8DFC-D565-4627-9883-9CC6743C2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FD156F-3629-476A-A077-CB8F8A239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BA594B-92B8-49DF-9B8E-5CD8EB8DE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VALIDACIÓN TÉCNICA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F6DAE6-26EF-4CEF-9F39-6D73DE58C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defensa del prototipo se apoya en pruebas, datos versionados y control de cambios.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19453B-1BA9-40A5-BE14-A0D4987B6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validación se centra en demostrar coherencia interna y reproducibilidad del cálculo.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1DBA3A-6E0B-4976-B33C-A811620F9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8C619F-E934-4B29-A0EB-11EB7D53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Pruebas unitarias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6CC097-2555-453C-A12A-04EAD7428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38450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bateria de tests valida cálculo, cultivos, CLI, exportacion y predicción ML.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713735-29D6-4616-83BD-36A95A32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381250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9B98DC-42EB-40E0-A5D5-6A8326AB6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5270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Dataset demo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F92ECC-676B-4024-8505-5A97120B4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38450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CSV de Sevilla esta versionado para repetir la salida sin depender de la API.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0359D4-D476-4219-B8B9-17C52F6D5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381250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7A35BB-F08B-465B-816B-9A000F025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55270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Modelo versionado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C4928E-5BB6-44DC-95EB-BDFC353C9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838450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modelo predictivo se conserva en el repositorio para reproducir la inferencia.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771ABB-A536-4AE1-9EA3-E21F99BBF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02D9D2-98C0-4E81-B18B-9947E65FD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29075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GitHub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9D8023-CF32-4404-8EFE-D04262606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14825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código, documentacion y resultados se mantienen bajo control de versiones.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0F5AFC-92C6-4D54-B1B5-FC84D28B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57625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008ECF-A47F-43D1-9BF2-8081A6D6E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29075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Exportacion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0FD639-5489-4856-BDA2-CF5F50D5E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14825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salida puede generarse en Markdown, JSON o desde la interfaz Streamlit.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C78B96-EE37-4E93-B612-FCA024BA8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57625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112CDD-066E-4BA3-A3AF-8ED224B36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29075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Trazabilidad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996293-81BF-4263-84EE-FC18EF14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314825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Cada resultado puede explicarse desde las variables de entrada hasta la formula aplicada.</a:t>
            </a:r>
          </a:p>
        </p:txBody>
      </p:sp>
    </p:spTree>
    <p:extLst>
      <p:ext uri="{BB962C8B-B14F-4D97-AF65-F5344CB8AC3E}">
        <p14:creationId xmlns:p14="http://schemas.microsoft.com/office/powerpoint/2010/main" val="160549544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1F30D1-3385-4151-9029-899364C4B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F5A918-71E7-467C-AB0C-97D21F2AA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27B661-84E7-4E61-93E4-E5A6662CE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CD6398-64D0-4540-8FA4-5B6459ECE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LIMITACIONES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1CB399-E063-41AE-885D-02E978AA0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prototipo es aplicable como demostrador técnico, con limites claros para uso comercial.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A52002-D6B9-4508-8EA6-78AA2180C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delimitacion evita atribuir al sistema capacidades no implementadas.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782CE5-089E-475E-8F0F-044724D9A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8BD1B0-AD54-4D1A-A30C-75EE2AD1D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Sin campo real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BB2017-E44C-4520-A540-9AD1E1BDD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38450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No se ha calibrado con riegos reales aplicados por agricultores.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40744B-485A-459A-A055-4BECE52F2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381250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92DB9E-D355-43DD-B959-EF3F7FE82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5270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Sin IoT desplegado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E2BBCE-1801-4587-8513-94411052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38450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Los sensores se plantean como evolución para alimentar datos de suelo.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DD93DD-7CA5-4D3F-99D7-1E9CDB7A4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381250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F9392E-9A3C-425C-99EC-A96A4D7F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55270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Sin BigQuery operativo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0FF8A4-0BCF-48CF-90EE-FEF314814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838450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almacenamiento masivo se reserva para una fase cloud posterior.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FD2282-0F00-4190-8F62-446A1C5EA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AA2E34-2D11-4220-8469-0F3672A07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29075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Dependencia de datos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B6BB00-ED38-42DC-A341-E485E169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14825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AEMET puede limitar peticiones; por eso se usa cache local en la demo.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38CB62-AD91-4EB6-A2F2-5B7724516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57625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B7646B-9249-4696-AF3C-8EDE650C9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29075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Recomendación, no automatización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EC230C-DCB1-4069-847E-BE6F53543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14825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sistema calcula agua recomendada; no abre ni cierra valvulas.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144132-A0CB-4176-B766-270CE4437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57625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B09235-AE3E-42F0-AEAF-10B1A2BE2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29075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Modelo calibrable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2F998F-9860-46F3-BF13-8A880BCEB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314825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precisión real aumentaria con datos históricos de parcela y respuesta del cultivo.</a:t>
            </a:r>
          </a:p>
        </p:txBody>
      </p:sp>
    </p:spTree>
    <p:extLst>
      <p:ext uri="{BB962C8B-B14F-4D97-AF65-F5344CB8AC3E}">
        <p14:creationId xmlns:p14="http://schemas.microsoft.com/office/powerpoint/2010/main" val="87055148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899094-B220-453E-861B-275801D6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3E3A44-E48D-4C94-B7E8-129204BB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BDF2D3-CF6D-4431-8419-1B59D5F1D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E37D9F-DEE6-4924-A6B4-22B213AC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EVOLUCIÓN FUTURA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6B73F8-3708-48DA-85DF-5DC9E7C7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camino de mejora convierte el prototipo en un servicio predictivo de mayor valor.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2EE0A4-C661-4A51-B987-BF63FFB76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arquitectura actual permite crecer sin perder trazabilidad.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B71222-E791-464E-B676-76E0CC195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2203E0-87E8-410B-BC82-C510BD01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BE8A67-C935-48A0-BD9C-586A3F4C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Riegos reales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7980CF-187A-4A82-9DE4-B7C6BCDE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Etiquetas de campo para calibrar el modelo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80E126-F97D-42B3-8A3F-80AD6F0AA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0289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6373F1-8085-40E3-B270-597CA49A0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98014A-A998-4F98-975A-A999F5C78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A3698D-F5A0-46E4-8AC3-01BAA89F1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Sensores IoT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60FD3A-8439-466E-8EA8-2534ED801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Humedad de suelo y respuesta local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C1B686-9731-41DA-91C1-C47F5F09D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0289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4D9E18-061E-4EC5-8ADB-39855ADDB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F25A99-1BAA-48B4-B120-DB962A17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DA627A-2E35-4AA0-A47D-08F7CC7E8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Predicción clima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97A006-ACA6-4C58-AC7E-1D4AC67DA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Incorporar prevision meteorológica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1075DF-1B62-4B8D-AF83-3E1155004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0289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89A155-ADA8-4666-BDB5-B8E496A3F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3ABC83-81F4-4A81-A9BC-4E4EDEA52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8A23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D8A23A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F8BA2B-5691-4488-AD17-31FED1D73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BigQuery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5F1A13-997D-4930-9AB6-ECC91E0A6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Históricos y escalado de datos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4C16DB-6229-4926-B38A-7660BFCD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0289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002DF0E-64FF-4814-BE86-5E7851B9A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8C9CB9-E989-4C68-86F5-DE2F22A6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C13556-158A-48A8-BE2D-1E9BCDEBB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Parcelas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2F818C-3EB2-4FA9-9B84-3FCFA060A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Gestión de clientes y ubicaciones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1B3C88-4DE3-42D9-B015-C268CBE94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78091F1-3D2E-46DB-8AC2-03A87650D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F9671F7-ECA6-4D2E-8D9B-286D0799D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rPr>
              <a:t>06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8038550-347B-46CE-AA21-0845798EC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Alertas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DFC751-7E0D-45D1-BD69-0B4417BE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Recomendaciónes recurrentes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AA84312-4B71-470C-83EB-FD77DE4AE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0289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FB6CB37-4768-453D-BC43-12C4AE457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4BD7CA3-EA3E-43DB-A8C3-A32499851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rPr>
              <a:t>07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BEF31D5-7B38-4041-B17E-6AA321727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SaaS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BC0BC00-9AB5-42D5-9E0C-0B9C51657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Servicio comercializable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8D3EF1D-7532-4B9D-80AC-55FBFA053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98583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10182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C4FE617-52E9-402A-9308-EA9BFF6B3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923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La prioridad de la siguiente fase seria entrenar con riegos reales para pasar de una referencia técnica a un modelo calibrado por parcela.</a:t>
            </a:r>
          </a:p>
        </p:txBody>
      </p:sp>
    </p:spTree>
    <p:extLst>
      <p:ext uri="{BB962C8B-B14F-4D97-AF65-F5344CB8AC3E}">
        <p14:creationId xmlns:p14="http://schemas.microsoft.com/office/powerpoint/2010/main" val="52160478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AF41D1-0992-4FB6-ACB3-87027A1FE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A8B8D5-CACB-4601-82C9-BBB89F981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0E1C0F-78CF-4195-8DBF-120F27E25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03CC9E-502C-485A-B9C6-6F43567B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F7438E-B96A-46F2-8BBA-227C34EA5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proyecto demuestra una cadena completa desde el dato oficial hasta la recomendación de riego.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6AF2EE-FC13-4D4D-A823-E530031B8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resultado es un prototipo defendible, reproducible y ampliable.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5B1B9D-CB6C-47B6-B40A-737B267FD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90750"/>
            <a:ext cx="9144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10182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C5D8A2-269B-4450-92C8-12D5C9189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819400"/>
            <a:ext cx="8191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El sistema responde a una pregunta concreta: cuanta agua necesita una plantación segun lugar, cultivo, fechas y superficie.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CAE036-0494-4203-ADB4-686BAC7CE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248150"/>
            <a:ext cx="195262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CDB0E5-C6BC-4D88-A064-9DADDC5F6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514850"/>
            <a:ext cx="7239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CEAD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CEAD8"/>
                </a:solidFill>
                <a:latin typeface="Aptos"/>
                <a:ea typeface="Aptos"/>
                <a:cs typeface="Aptos"/>
              </a:rPr>
              <a:t>La solución no depende del numero de goteros; se centra en la demanda hídrica de la parcela y en una salida comprensible para el agricultor.</a:t>
            </a:r>
          </a:p>
        </p:txBody>
      </p:sp>
    </p:spTree>
    <p:extLst>
      <p:ext uri="{BB962C8B-B14F-4D97-AF65-F5344CB8AC3E}">
        <p14:creationId xmlns:p14="http://schemas.microsoft.com/office/powerpoint/2010/main" val="155516433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7601D8-1748-4853-8C44-5128A2EB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96D5E8-53FD-42AC-91FA-F033D7E4C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AD066F-44BC-4B39-8105-6442A42C3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2BCB2C-635C-458C-AB4E-FD88524C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REFERENCIAS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75894D-48D3-4824-8E2D-903C55608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Fuentes principales empleadas en la fundamentacion técnica.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7B4705-1018-43BF-99EF-DB789AF7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Referencias en formato IEEE, ampliadas en la memoria del proyecto.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EB903A-944F-40F7-BF50-0DA636E3B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857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9525">
            <a:solidFill>
              <a:srgbClr val="2E6B4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B76466-FD08-471D-95BD-53479FCFE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003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Ref.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2ADDE1-AB0C-4CB3-B488-DA17E8FBD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305050"/>
            <a:ext cx="6477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9525">
            <a:solidFill>
              <a:srgbClr val="2E6B4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C3274D-9D00-4EA6-BFFD-ED551455B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400300"/>
            <a:ext cx="628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Fuente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9FC7DA-2F25-4BCC-A688-7CFCC892F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05050"/>
            <a:ext cx="2667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9525">
            <a:solidFill>
              <a:srgbClr val="2E6B4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CB679D-4D02-4C2A-883C-AA879622D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003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Uso en el proyecto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F61665-10DE-45E0-8CCB-4512C31F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857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7F5E4F-A2E3-4DC2-A7FD-1D071FDF8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6225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[1]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EE8CD2-B30A-48B3-88E5-FCAEB8598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667000"/>
            <a:ext cx="647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09ABA7-1E94-4BA5-9326-9E66280BD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762250"/>
            <a:ext cx="628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AEMET, "AEMET OpenData API," Agencia Estatal de Meteorología.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1BB2B0-FC55-4765-8783-43AFA773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667000"/>
            <a:ext cx="266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4E2F6E-495B-450C-83D9-1B24E5EBC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7622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Datos meteorológicos.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0B8A5B-1CD0-4FD3-AEF2-D57E14221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857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4D2BE3-EDEF-4F37-BB5E-15EF0311A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8135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[2]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E907C6-BF3E-4C80-870C-55C76C2B5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086100"/>
            <a:ext cx="647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78BA48-7079-4FD6-ADA1-95CDC3752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181350"/>
            <a:ext cx="628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R. G. Allen et al., Crop Evapotranspiration, FAO Irrigation and Drainage Paper 56, 1998.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10264D-800A-4850-B089-70BE38581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86100"/>
            <a:ext cx="266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D39DF5-E435-43C1-B558-3E7F59A23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1813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ET0, ETc y Kc.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03A8B6-8C6B-40A0-835D-AA6F2CB9A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05200"/>
            <a:ext cx="857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00081C-6ED3-436E-BCF3-314E83539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0045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[3]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3733BB-EA59-4315-BEBD-71BF08937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505200"/>
            <a:ext cx="647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232AB5-D3AD-4714-8F4F-2403DB27B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600450"/>
            <a:ext cx="628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G. H. Hargreaves and Z. A. Samani, "Reference crop evapotranspiration from temperature," Applied Engineering in Agriculture, 1985.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1975EBD-8E7E-431A-A9B8-5B22D1BD8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505200"/>
            <a:ext cx="266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D7EA7C-8D23-4CEA-A54D-C6368A8E3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6004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Estimación ET0.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1F7473A-4120-4C4D-A352-33F4E6BBF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857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71B355C-D3A6-4011-98F6-BDF45AB97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1955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[4]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0910C31-9834-48ED-9FB6-78BF8460E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924300"/>
            <a:ext cx="647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24FB3F-EDB0-4C04-A1E4-11F62F32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19550"/>
            <a:ext cx="628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F. Chollet, Deep Learning with Python, 2nd ed., Manning, 2021.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5680515-7A89-45D4-A1C3-20EA5C148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24300"/>
            <a:ext cx="266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E3EAFC4-C275-4184-B36F-F214233E1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0195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Base conceptual ML/Keras.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8BA0D99-EFE5-422C-A67B-D2D142F3D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857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800201D-6DEB-4795-841C-7AD3C1B2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3865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[5]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1877239-A440-4A41-B4BA-D994FC8E7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343400"/>
            <a:ext cx="647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4CCC2EC-3139-4449-9C38-BF78ACABB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438650"/>
            <a:ext cx="628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TensorFlow, "TensorFlow documentation," Google, 2026. [Online]. Available: https://www.tensorflow.org/.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103AC7D-BED1-4F6D-B953-E44045501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43400"/>
            <a:ext cx="266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F01C0DC-8384-447D-938E-22139BFA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386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Capa predictiva.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F180378-D942-4020-A7D7-1EC771574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857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B0019D8-2A48-48D8-A8F6-F2707216B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[6]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D0C4FB8-F5F0-46AD-86C8-95529251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762500"/>
            <a:ext cx="647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482D387-563C-4995-AC10-AF4B51372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857750"/>
            <a:ext cx="628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Streamlit, "Streamlit documentation," 2026. [Online]. Available: https://docs.streamlit.io/.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1734D72-3C21-4516-AE7D-90D83C442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762500"/>
            <a:ext cx="266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B89E348-A071-4639-815D-E5C24182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8577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Interfaz web.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6BBCED6-744E-4787-A135-00DE8D914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9525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memoria incluye el desarrollo documental completo y el repositorio conserva código, datos de demo y modelo.</a:t>
            </a:r>
          </a:p>
        </p:txBody>
      </p:sp>
    </p:spTree>
    <p:extLst>
      <p:ext uri="{BB962C8B-B14F-4D97-AF65-F5344CB8AC3E}">
        <p14:creationId xmlns:p14="http://schemas.microsoft.com/office/powerpoint/2010/main" val="20227427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2026-05-19T20:57:00.0580000Z</dcterms:created>
  <dcterms:modified xsi:type="dcterms:W3CDTF">2026-05-19T20:57:00.0580000Z</dcterms:modified>
</coreProperties>
</file>