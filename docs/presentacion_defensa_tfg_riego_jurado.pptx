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05b230b854791" /><Relationship Type="http://schemas.openxmlformats.org/officeDocument/2006/relationships/extended-properties" Target="/docProps/app.xml" Id="Rb44b7ece0017485f" /><Relationship Type="http://schemas.openxmlformats.org/officeDocument/2006/relationships/officeDocument" Target="/ppt/presentation.xml" Id="R411d8805015848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f5012d550c4262"/>
  </p:sldMasterIdLst>
  <p:notesMasterIdLst>
    <p:notesMasterId xmlns:r="http://schemas.openxmlformats.org/officeDocument/2006/relationships" r:id="R2f5eb5a481734ba0"/>
  </p:notesMasterIdLst>
  <p:sldIdLst>
    <p:sldId xmlns:r="http://schemas.openxmlformats.org/officeDocument/2006/relationships" id="256" r:id="R1184ad94b8df4e35"/>
    <p:sldId xmlns:r="http://schemas.openxmlformats.org/officeDocument/2006/relationships" id="257" r:id="R5bbc1c45a2f44cfa"/>
    <p:sldId xmlns:r="http://schemas.openxmlformats.org/officeDocument/2006/relationships" id="258" r:id="Rdbdcdf439f204543"/>
    <p:sldId xmlns:r="http://schemas.openxmlformats.org/officeDocument/2006/relationships" id="259" r:id="R672385be34154033"/>
    <p:sldId xmlns:r="http://schemas.openxmlformats.org/officeDocument/2006/relationships" id="260" r:id="R72a922ab297b4fb4"/>
    <p:sldId xmlns:r="http://schemas.openxmlformats.org/officeDocument/2006/relationships" id="261" r:id="Rc080d0c2e8ac40bd"/>
    <p:sldId xmlns:r="http://schemas.openxmlformats.org/officeDocument/2006/relationships" id="262" r:id="R61cc62192b5746be"/>
    <p:sldId xmlns:r="http://schemas.openxmlformats.org/officeDocument/2006/relationships" id="263" r:id="Re2816c234cf64040"/>
    <p:sldId xmlns:r="http://schemas.openxmlformats.org/officeDocument/2006/relationships" id="264" r:id="R0b02233ade5a4ce6"/>
    <p:sldId xmlns:r="http://schemas.openxmlformats.org/officeDocument/2006/relationships" id="265" r:id="R0f26565c6c334643"/>
    <p:sldId xmlns:r="http://schemas.openxmlformats.org/officeDocument/2006/relationships" id="266" r:id="R9782bcc566b840e6"/>
    <p:sldId xmlns:r="http://schemas.openxmlformats.org/officeDocument/2006/relationships" id="267" r:id="Rf1b4c8c0b5324c4f"/>
    <p:sldId xmlns:r="http://schemas.openxmlformats.org/officeDocument/2006/relationships" id="268" r:id="R0924dc26e4044ee5"/>
    <p:sldId xmlns:r="http://schemas.openxmlformats.org/officeDocument/2006/relationships" id="269" r:id="Rb4380cbd081a4d25"/>
    <p:sldId xmlns:r="http://schemas.openxmlformats.org/officeDocument/2006/relationships" id="270" r:id="R3bb925e088554c7a"/>
    <p:sldId xmlns:r="http://schemas.openxmlformats.org/officeDocument/2006/relationships" id="271" r:id="Rce3529f919144a82"/>
    <p:sldId xmlns:r="http://schemas.openxmlformats.org/officeDocument/2006/relationships" id="272" r:id="R207c4296c7244ef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f5012d550c4262" /><Relationship Type="http://schemas.openxmlformats.org/officeDocument/2006/relationships/theme" Target="/ppt/theme/theme1.xml" Id="R8f0c5b96b3454b6d" /><Relationship Type="http://schemas.openxmlformats.org/officeDocument/2006/relationships/notesMaster" Target="/ppt/notesMasters/notesMaster1.xml" Id="R2f5eb5a481734ba0" /><Relationship Type="http://schemas.openxmlformats.org/officeDocument/2006/relationships/presProps" Target="/ppt/presProps.xml" Id="Rf046ecb6ea1c479f" /><Relationship Type="http://schemas.openxmlformats.org/officeDocument/2006/relationships/viewProps" Target="/ppt/viewProps.xml" Id="Ra402ac238aea4b3a" /><Relationship Type="http://schemas.openxmlformats.org/officeDocument/2006/relationships/tableStyles" Target="/ppt/tableStyles.xml" Id="R02481a5058c64510" /><Relationship Type="http://schemas.openxmlformats.org/officeDocument/2006/relationships/slide" Target="/ppt/slides/slide1.xml" Id="R1184ad94b8df4e35" /><Relationship Type="http://schemas.openxmlformats.org/officeDocument/2006/relationships/slide" Target="/ppt/slides/slide2.xml" Id="R5bbc1c45a2f44cfa" /><Relationship Type="http://schemas.openxmlformats.org/officeDocument/2006/relationships/slide" Target="/ppt/slides/slide3.xml" Id="Rdbdcdf439f204543" /><Relationship Type="http://schemas.openxmlformats.org/officeDocument/2006/relationships/slide" Target="/ppt/slides/slide4.xml" Id="R672385be34154033" /><Relationship Type="http://schemas.openxmlformats.org/officeDocument/2006/relationships/slide" Target="/ppt/slides/slide5.xml" Id="R72a922ab297b4fb4" /><Relationship Type="http://schemas.openxmlformats.org/officeDocument/2006/relationships/slide" Target="/ppt/slides/slide6.xml" Id="Rc080d0c2e8ac40bd" /><Relationship Type="http://schemas.openxmlformats.org/officeDocument/2006/relationships/slide" Target="/ppt/slides/slide7.xml" Id="R61cc62192b5746be" /><Relationship Type="http://schemas.openxmlformats.org/officeDocument/2006/relationships/slide" Target="/ppt/slides/slide8.xml" Id="Re2816c234cf64040" /><Relationship Type="http://schemas.openxmlformats.org/officeDocument/2006/relationships/slide" Target="/ppt/slides/slide9.xml" Id="R0b02233ade5a4ce6" /><Relationship Type="http://schemas.openxmlformats.org/officeDocument/2006/relationships/slide" Target="/ppt/slides/slide10.xml" Id="R0f26565c6c334643" /><Relationship Type="http://schemas.openxmlformats.org/officeDocument/2006/relationships/slide" Target="/ppt/slides/slide11.xml" Id="R9782bcc566b840e6" /><Relationship Type="http://schemas.openxmlformats.org/officeDocument/2006/relationships/slide" Target="/ppt/slides/slide12.xml" Id="Rf1b4c8c0b5324c4f" /><Relationship Type="http://schemas.openxmlformats.org/officeDocument/2006/relationships/slide" Target="/ppt/slides/slide13.xml" Id="R0924dc26e4044ee5" /><Relationship Type="http://schemas.openxmlformats.org/officeDocument/2006/relationships/slide" Target="/ppt/slides/slide14.xml" Id="Rb4380cbd081a4d25" /><Relationship Type="http://schemas.openxmlformats.org/officeDocument/2006/relationships/slide" Target="/ppt/slides/slide15.xml" Id="R3bb925e088554c7a" /><Relationship Type="http://schemas.openxmlformats.org/officeDocument/2006/relationships/slide" Target="/ppt/slides/slide16.xml" Id="Rce3529f919144a82" /><Relationship Type="http://schemas.openxmlformats.org/officeDocument/2006/relationships/slide" Target="/ppt/slides/slide17.xml" Id="R207c4296c7244e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7d5bbfa6454e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553efaea854c35" /><Relationship Type="http://schemas.openxmlformats.org/officeDocument/2006/relationships/notesMaster" Target="/ppt/notesMasters/notesMaster1.xml" Id="R59537dfae658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51befc373d4e96" /><Relationship Type="http://schemas.openxmlformats.org/officeDocument/2006/relationships/notesMaster" Target="/ppt/notesMasters/notesMaster1.xml" Id="R1ffa8c383dc848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86c84ef4048fc" /><Relationship Type="http://schemas.openxmlformats.org/officeDocument/2006/relationships/notesMaster" Target="/ppt/notesMasters/notesMaster1.xml" Id="Rd63925203408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133f202c4a47fb" /><Relationship Type="http://schemas.openxmlformats.org/officeDocument/2006/relationships/notesMaster" Target="/ppt/notesMasters/notesMaster1.xml" Id="Ra614fc7a8c1342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5018d3a82d47aa" /><Relationship Type="http://schemas.openxmlformats.org/officeDocument/2006/relationships/notesMaster" Target="/ppt/notesMasters/notesMaster1.xml" Id="R15d275173cae48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36c0d80d044525" /><Relationship Type="http://schemas.openxmlformats.org/officeDocument/2006/relationships/notesMaster" Target="/ppt/notesMasters/notesMaster1.xml" Id="R7642df01a0c8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a214b3beac43a3" /><Relationship Type="http://schemas.openxmlformats.org/officeDocument/2006/relationships/notesMaster" Target="/ppt/notesMasters/notesMaster1.xml" Id="R7cb32d7de65b4a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7f13213b374fdc" /><Relationship Type="http://schemas.openxmlformats.org/officeDocument/2006/relationships/notesMaster" Target="/ppt/notesMasters/notesMaster1.xml" Id="Rac8183db20e2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aadc358b343e1" /><Relationship Type="http://schemas.openxmlformats.org/officeDocument/2006/relationships/notesMaster" Target="/ppt/notesMasters/notesMaster1.xml" Id="R1818c57028a14d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0c22f14fd54e6e" /><Relationship Type="http://schemas.openxmlformats.org/officeDocument/2006/relationships/notesMaster" Target="/ppt/notesMasters/notesMaster1.xml" Id="R5b34b230ba914c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4aa852b2974768" /><Relationship Type="http://schemas.openxmlformats.org/officeDocument/2006/relationships/notesMaster" Target="/ppt/notesMasters/notesMaster1.xml" Id="Redbb78a4ee8c48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66b3471e14539" /><Relationship Type="http://schemas.openxmlformats.org/officeDocument/2006/relationships/notesMaster" Target="/ppt/notesMasters/notesMaster1.xml" Id="R0bdf54ce28ec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f9636671db47e7" /><Relationship Type="http://schemas.openxmlformats.org/officeDocument/2006/relationships/notesMaster" Target="/ppt/notesMasters/notesMaster1.xml" Id="R3709d589d92647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e4fafcd5af46ec" /><Relationship Type="http://schemas.openxmlformats.org/officeDocument/2006/relationships/notesMaster" Target="/ppt/notesMasters/notesMaster1.xml" Id="R100ed5c14ca54d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c2ae2e040743c4" /><Relationship Type="http://schemas.openxmlformats.org/officeDocument/2006/relationships/notesMaster" Target="/ppt/notesMasters/notesMaster1.xml" Id="R8c5873b668534a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1101bba8104c52" /><Relationship Type="http://schemas.openxmlformats.org/officeDocument/2006/relationships/notesMaster" Target="/ppt/notesMasters/notesMaster1.xml" Id="Rbd1f7c0e14b146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2c7969fb04389" /><Relationship Type="http://schemas.openxmlformats.org/officeDocument/2006/relationships/notesMaster" Target="/ppt/notesMasters/notesMaster1.xml" Id="R29fe34bfd727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4de7565594b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23200770c364a00" /><Relationship Type="http://schemas.openxmlformats.org/officeDocument/2006/relationships/slideLayout" Target="/ppt/slideLayouts/slideLayout2.xml" Id="Rbc194cc475ad40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94cc475ad40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7ac13e3924ad6" /><Relationship Type="http://schemas.openxmlformats.org/officeDocument/2006/relationships/notesSlide" Target="/ppt/notesSlides/notesSlide1.xml" Id="Ree80b1a8ee3d4c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c91d2b25a4fab" /><Relationship Type="http://schemas.openxmlformats.org/officeDocument/2006/relationships/notesSlide" Target="/ppt/notesSlides/notesSlide2.xml" Id="Rc419d6379eec46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05b1d10c65445a" /><Relationship Type="http://schemas.openxmlformats.org/officeDocument/2006/relationships/notesSlide" Target="/ppt/notesSlides/notesSlide3.xml" Id="R7ad9d6dd5f8742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eea96e4ea491e" /><Relationship Type="http://schemas.openxmlformats.org/officeDocument/2006/relationships/notesSlide" Target="/ppt/notesSlides/notesSlide4.xml" Id="R9690010c08db44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31d2ea2f2746d4" /><Relationship Type="http://schemas.openxmlformats.org/officeDocument/2006/relationships/notesSlide" Target="/ppt/notesSlides/notesSlide5.xml" Id="R02658bc3369a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d02cf5a9964c54" /><Relationship Type="http://schemas.openxmlformats.org/officeDocument/2006/relationships/notesSlide" Target="/ppt/notesSlides/notesSlide6.xml" Id="R8338dfb525dc48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269620565749b5" /><Relationship Type="http://schemas.openxmlformats.org/officeDocument/2006/relationships/notesSlide" Target="/ppt/notesSlides/notesSlide7.xml" Id="Rd784262eff8340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d31064c0e448a" /><Relationship Type="http://schemas.openxmlformats.org/officeDocument/2006/relationships/notesSlide" Target="/ppt/notesSlides/notesSlide8.xml" Id="R2a14e773a7dc47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72c6fe7ffb42a9" /><Relationship Type="http://schemas.openxmlformats.org/officeDocument/2006/relationships/notesSlide" Target="/ppt/notesSlides/notesSlide9.xml" Id="R184ea1c534e842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94e060acb460a" /><Relationship Type="http://schemas.openxmlformats.org/officeDocument/2006/relationships/notesSlide" Target="/ppt/notesSlides/notesSlide10.xml" Id="R4ba8fc7baf19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c20cc61a64414e" /><Relationship Type="http://schemas.openxmlformats.org/officeDocument/2006/relationships/notesSlide" Target="/ppt/notesSlides/notesSlide11.xml" Id="Ra4d55ea5892b4d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072054df84f45" /><Relationship Type="http://schemas.openxmlformats.org/officeDocument/2006/relationships/notesSlide" Target="/ppt/notesSlides/notesSlide12.xml" Id="R49dff38a243140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362761c0e4817" /><Relationship Type="http://schemas.openxmlformats.org/officeDocument/2006/relationships/notesSlide" Target="/ppt/notesSlides/notesSlide13.xml" Id="R54f2d0ab4da446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6075048b94e5e" /><Relationship Type="http://schemas.openxmlformats.org/officeDocument/2006/relationships/notesSlide" Target="/ppt/notesSlides/notesSlide14.xml" Id="Rb740f0cb5b4c4f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b16a55d974292" /><Relationship Type="http://schemas.openxmlformats.org/officeDocument/2006/relationships/notesSlide" Target="/ppt/notesSlides/notesSlide15.xml" Id="Re0cb482c97f84a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faadc67a2f494f" /><Relationship Type="http://schemas.openxmlformats.org/officeDocument/2006/relationships/notesSlide" Target="/ppt/notesSlides/notesSlide16.xml" Id="R8953b185567249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7c697cb6c4a24" /><Relationship Type="http://schemas.openxmlformats.org/officeDocument/2006/relationships/notesSlide" Target="/ppt/notesSlides/notesSlide17.xml" Id="Rd53dd73240f744c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F193B5-EFC3-4C4D-8F71-0E161FC2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951ED-82DE-4937-B223-4E2301F6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476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7C671-7306-4AF7-9413-388ECDC2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797DD-9ABE-44D5-AF51-2AC058A2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TFG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D1083-5316-42C6-A298-E01DC532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3810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 xmlns:a="http://schemas.openxmlformats.org/drawingml/2006/main"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6BE550-B2AE-44FC-A1FA-B45B8215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035C4F-CFAD-4689-8763-FEBA164A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47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FA050-44FB-4A9B-8E5F-E77DB4F0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0FB7C1-0998-4927-BC78-B3EEC479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7675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25BEB-CB8F-4BDC-AB51-A00E4F54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543425"/>
            <a:ext cx="95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33AB4-2BAF-48F5-BED2-53341011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47675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3EEAC-881A-422F-8BFE-BDCC1696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5434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435BD-0ED3-40E9-81B1-02E70472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429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530"/>
          </a:solidFill>
          <a:ln xmlns:a="http://schemas.openxmlformats.org/drawingml/2006/main" w="9525">
            <a:solidFill>
              <a:srgbClr val="334C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E4D6F7-0F0A-45E2-A4E3-4CDD1048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2476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localización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clima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cultivo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superficie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0CD300-56EC-471C-B6B4-2E7D695D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33850"/>
            <a:ext cx="1123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EF6367-7C88-49CF-AD9D-B8CFB796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3434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recomendación de agua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A7A19D-90F4-4C05-A2C7-4D9625981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Roman Maeztu</a:t>
            </a:r>
          </a:p>
        </p:txBody>
      </p:sp>
    </p:spTree>
    <p:extLst>
      <p:ext uri="{BB962C8B-B14F-4D97-AF65-F5344CB8AC3E}">
        <p14:creationId xmlns:p14="http://schemas.microsoft.com/office/powerpoint/2010/main" val="35484144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E6DD7D-907F-4E28-BD23-4A858DCF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DD1EAD-63FB-422F-8E5C-60AE2A45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EF68B7-08F9-4C3E-9C03-989E8DE8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5A800-13B0-46B6-B6FE-EE7E9239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E25D4-9703-4564-ACB6-0DD10398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6B726-D73B-41CB-910A-75652747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para defender la utilidad técnica del prototipo.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14CE2-3203-408E-8F11-F0DB94A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2596AA-8B9B-4743-976B-E34A7E3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4662F-20FC-456D-97D1-B1841837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CF89E-FF36-4137-9EB4-CD8E5697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41369-7382-45F7-95CD-A38400BD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CF1C2-348C-48AD-8B6A-9318A7BEE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939F5-307C-4204-9B00-5DF3A4CC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E16C2-B2B4-40F5-AD71-90C4B108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3DFD05-95BA-4327-8C5C-995DE7E7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4E873-769A-4EE9-B8D8-0798F116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15E25-1DBC-4B11-8E8E-86186F64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9A2B2-0D43-40A4-9C9D-2EEECE93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650DF-FFB4-40AE-A474-2AFF8CE3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5AE64-51AF-40E2-BB85-12C1C91A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DAC95-5B24-4A22-9FB2-3026974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534A2C-773F-4BAD-9272-97C34458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E368C0-132A-4826-BF60-3732F66D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B8B76-7682-444D-A49E-D917D35A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85D733-F189-47B5-B4A4-4C21057B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4E36CE-4318-4BD2-89BA-51B42EF5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18F73B-AB4B-4770-8769-8B0C1A44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B09612-A482-47F1-A4DF-6FF8124D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ECEE2D-B2E9-4D4C-BCBD-CD414A6C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F0CFFC-0B1E-45EB-ACF3-78DAD20B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5798EE-4E9F-4E72-81DF-22F48F51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ECEF96-CFB5-403B-84AD-D4A50C47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3B892C-584B-45E9-8E0B-CC5E2A155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0B8779-F5F7-464A-BE64-E9BDE322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C73C56-E26B-4140-8CDB-8AEB0E5B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Demo y validación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F3BD5D-3A6C-48D7-B43D-92E4A55B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99E1CE-C13F-49FD-89F3-3323150C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31576D-3062-49F2-9F9A-D69F8F0F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70E0E0-45DA-4360-A249-030C4C23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20357B-8753-40FE-981A-E97AAC5B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311C14-91EA-47B3-8C37-3A8ED193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5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0B8517-2EE3-4938-982E-BDC7FCB7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p14:creationId xmlns:p14="http://schemas.microsoft.com/office/powerpoint/2010/main" val="40440779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D07839-4C70-4378-9D80-CD046A97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7C54D9-A4F9-416F-BE13-F7A7DE1F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8C1C53-A8B7-4EBB-B39A-D53C8B37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EA42D4-74C7-4459-B524-34AE71A1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C5C70-6E27-4DA3-88A1-9F43A4E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90697-6280-47B0-95D0-1AEAD1DE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1F30B6-615E-4832-86B3-054FDB99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DE7B3-E376-4DB6-938D-FBF27144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A6437-4F6C-409B-9126-4ED98FD5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estimaciónes generales.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50679B-FF81-40AF-8A67-0E0D4A65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F68C6-30F6-4D3C-B3A3-767F6DA7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3F99D-B866-4C77-9212-B4867F92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estres hidrico y afectar al desarrollo del cultivo.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2B544-F833-481C-8EAC-79274626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E0B97B-9F4C-4567-B84C-99E83B37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B2088-8926-4F8D-AF6D-F27064A4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mas incrementa coste, consumo energetico y perdida de recurso hidrico.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DC672E-7EF3-40DB-A0AD-68A71BF4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A04BD-00A9-4ECE-BED4-8A0D8BBF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2B14B8-B762-4B16-AFD2-15190C35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Cuanta agua necesita esta parcela, con este cultivo y en este periodo climatico.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142A2A-B2BC-444A-AD7A-49D266B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A618C-0AA2-420B-8CB3-23D538E7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2A192-4BD4-46ED-A21F-1D5F9C97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18BEB-17DF-4A3C-AE46-4AA7A478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F3271F-AD29-4347-AACE-7B766655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62200B-7995-44EF-9C19-3A90F0B0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díarios, litros por planta y lámina de riego.</a:t>
            </a:r>
          </a:p>
        </p:txBody>
      </p:sp>
    </p:spTree>
    <p:extLst>
      <p:ext uri="{BB962C8B-B14F-4D97-AF65-F5344CB8AC3E}">
        <p14:creationId xmlns:p14="http://schemas.microsoft.com/office/powerpoint/2010/main" val="166982012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4002BD-813F-4523-BD1A-2C3EA139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097604-506F-4A0A-BF4B-E29F2913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C716F-D1FD-4410-BEB8-EE702FE0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16F33-46D1-4A8F-9EBD-F62C9969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58EB8-4DB9-4E34-B06A-0F69A65A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3CD5D-5757-46D5-B84A-FCB87953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especificos se tratan como pasos obligatorios para alcanzar el objetivo general.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B0E41-E14C-44D1-8F65-EA91BC92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7200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A66A"/>
          </a:solidFill>
          <a:ln xmlns:a="http://schemas.openxmlformats.org/drawingml/2006/main" w="9525">
            <a:solidFill>
              <a:srgbClr val="83A6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E3AA5-6FEB-430E-A5B5-F7629FEB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958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D1CE3-FBA7-4271-81A8-0F7ED3AC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70535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climaticas, agronómicas y de parcela necesarias.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3A91CC-54E9-4AAF-A0B5-E3300B59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6715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F6649A-2E10-4450-A42C-79CDE534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9097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A131E-B0F0-4D5D-8B6A-6CE3BD3C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0050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60B702-D34C-4E69-9A35-5E0C1D6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6230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9525">
            <a:solidFill>
              <a:srgbClr val="2F5E8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5A2F8-234C-4A6A-A19F-6FD3CF26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861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48126-6E6E-4D45-96FE-569623A8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29565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3B3C2-BB57-4B9E-91BB-961EAAE0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45745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9525">
            <a:solidFill>
              <a:srgbClr val="C4622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0924F4-9A3C-489E-95B7-A05AC8F2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8127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5A67D-8082-46EE-BD5B-756BE9D7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59080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02600-6265-4EC0-AAFD-96930032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752600"/>
            <a:ext cx="58578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AD6D4E-C3AE-4C14-9209-EC55648E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876425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EE0FAA-3041-499E-82A3-C23ABFC0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885950"/>
            <a:ext cx="5000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F1F6DA-28EA-4730-9913-81795252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38350"/>
            <a:ext cx="18097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5F372D-C8CB-4DC2-BE20-06F98E0C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860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6BC809-41AC-44BA-976C-65F0AF47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28900"/>
            <a:ext cx="13525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segun localización, cultivo, fechas y superficie.</a:t>
            </a:r>
          </a:p>
        </p:txBody>
      </p:sp>
    </p:spTree>
    <p:extLst>
      <p:ext uri="{BB962C8B-B14F-4D97-AF65-F5344CB8AC3E}">
        <p14:creationId xmlns:p14="http://schemas.microsoft.com/office/powerpoint/2010/main" val="17453345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D8CD65-12A2-4FDE-9AB0-51114342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A2570-DAE0-43E5-9AB6-D2266682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446B4B-B8CC-43A2-9083-D12A8145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E62AF-48E9-45B6-835A-3C1383D6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62BB0-92F6-4A24-88E5-25C015B4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diseno de la instalacion.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C8385-5336-4B86-B642-D4B43E96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C8F5F-FC66-4924-8F06-74A036A6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0D0F0-9FEC-42E7-B2AA-AD6048E8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669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1A60B-EF19-4BC8-BBA5-666B2F48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16A8A-8117-40CC-9436-46A787DCE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527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BD88E-E0D6-41EB-9A02-BDB492FD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BDAAA-4561-44E1-8F4E-C186D839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Seleccion de localización, estacion, cultivo, fase y superficie.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226773-711D-44D4-9260-D091067E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04354-FD18-4313-A181-E18E5113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576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9AA52-1BEF-4D9B-8EA6-F0B2708F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7E6749-C5FB-40C8-8B48-785E1560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1DE73-41B9-4982-AEF1-26444100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19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E37A12-DF7A-4098-9616-F4270CC5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625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Streamlit con resultados exportables para defensa.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028D4-CB0C-4E4D-879B-9E52DC3E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092F70-0AE0-443E-9AB8-414FB900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051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6BAE69-B5B4-472A-8B0D-1FADD073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1CF8CE-8DC5-40FA-8BA1-2317CDEA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576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D50F2-8F92-4807-9653-7632FAB3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67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483905-608A-47B8-906F-0BF32A2F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1005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5EFF1E-1DBD-4D6A-9C35-3B4FF984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196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58365A-DD51-4E23-AAA7-58C89FEB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762500"/>
            <a:ext cx="386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recomendaciónes recurrentes.</a:t>
            </a:r>
          </a:p>
        </p:txBody>
      </p:sp>
    </p:spTree>
    <p:extLst>
      <p:ext uri="{BB962C8B-B14F-4D97-AF65-F5344CB8AC3E}">
        <p14:creationId xmlns:p14="http://schemas.microsoft.com/office/powerpoint/2010/main" val="15038797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C3CF4E-AC60-482E-9EB1-15F198D4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1F0C0-8BBB-4A97-AA32-EF6F13A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C17834-2F1C-4B6C-96AD-30742BB6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BB530-F9E5-414B-AF64-F099EF41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5240D-6FE0-44E3-9A98-9B67EE9E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7D402-2A17-4195-AFD6-9CAE460F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esta organizado para separar datos, cálculo, predicción y visualizacion.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1CD6A-F5BB-4245-BE77-7B92AC97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59F426-6F5E-4BF3-9747-04035B33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5C8FE-FA96-434A-9A9D-11F5BE34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EF1157-F46D-43B1-B924-41C339D1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EA274-4039-4E8C-A71B-4E60B894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9525">
            <a:solidFill>
              <a:srgbClr val="2F5E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845FBF-DF5A-40F2-9A18-583B2ADF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DEAA3-BE21-4F18-8965-1CE7CD33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6BA6F-80A4-4A62-B9EB-07933AEA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25FD5-0F9E-4956-BAF9-9BCBC8CC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9525">
            <a:solidFill>
              <a:srgbClr val="C462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C9BA83-41F3-4243-80ED-E17AF3B4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5E4685-65A7-435F-A78C-962E5081E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Normalizacion de fechas, lluvia y temperatura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3BC4AC-3241-4DA5-B0D7-8FD8795C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40D94C-6316-46E7-B83E-BCB4F402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B3BBEE-80CD-4848-9638-1DF70341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B6DE5A-5899-4979-8BCA-76DA10AE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BE289C-945C-47EF-9F39-DA97B0DD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067050"/>
            <a:ext cx="361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61EE84-1ADE-430E-95D3-162897C87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476500"/>
            <a:ext cx="16954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C464F2-0227-4A74-B4C4-CD8DC5F0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05100"/>
            <a:ext cx="1390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Informe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7732B-D9DB-4D71-8488-4ACE5906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05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detalle díario y descarga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15491D-6528-4842-B206-2059D41F6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9810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1FFF66-9D3F-4190-AA38-454E8073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291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cache local evita saturar AEMET durante la demostración y mantiene resultados repetibles.</a:t>
            </a:r>
          </a:p>
        </p:txBody>
      </p:sp>
    </p:spTree>
    <p:extLst>
      <p:ext uri="{BB962C8B-B14F-4D97-AF65-F5344CB8AC3E}">
        <p14:creationId xmlns:p14="http://schemas.microsoft.com/office/powerpoint/2010/main" val="20583164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22B065-00B8-43A1-8D77-7DC2A4C0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8C648-94D8-4D47-B911-0DDF25C45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02F6ED-7A78-4060-B42C-AFFEC97B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35660-6B64-4D26-AB64-7A130DDA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44B28-966D-4E6E-BACC-B2670D78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CB389-D2CD-4D42-B01C-26C44A6A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00FC2-2DC6-4CAC-9322-2ACADBF6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000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1157F-F8FC-4489-ACD1-E4724074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475E4-77D3-44D6-8E72-8EA67C28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050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FF2FE-A686-4E32-9BB9-215DF2C7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00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05B2D-CD09-4AE6-B531-D05589CB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3050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BDCCD-8D7F-4FBA-A100-69BF698E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00300"/>
            <a:ext cx="514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BC491-A4D5-44E6-AC34-C76C2C1F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EAD39E-7B55-48DA-91A9-3D42A6B3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A0F50-8756-4F93-AF5E-BAA2FCA5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670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453F70-B34C-40AC-93DE-94F37CB3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62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estacion AEMET o CSV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179ACC-DDC0-45E0-86AB-56A57169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6670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3DF62B-65AF-45A7-9EC5-D90A2617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7622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Selecciona el origen climatico del escenario.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ADB68-7B69-4DA8-9B1B-AD861AC5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C05AB-B351-4D7E-9504-1B43F2F2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C48A4D-6849-4130-A677-3D0308FB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861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F19A50-DDB4-4F64-B155-7A179379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81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F0AA11-CC09-4411-B69F-4E134D75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861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6EA723-0E07-4935-847C-4F386408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813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241FA5-7656-4B99-9817-FED4B96A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BC4B10-3644-42DA-B8D4-8A15E6C3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CADFF8-A3CE-4457-83B0-7A638388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5052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960062-B7EA-4247-9608-9F9A9163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00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CAEF2C-FD00-45EE-936C-66B8DB963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5052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C27591-4453-4796-8B5F-FF373145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6004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2189FC-59AF-4488-9952-96B733E4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F1E6B5-F2F6-4D03-9D5F-6073585F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16D94CB-4C98-4479-B4D8-5D9B70F38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9243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442A99-24E4-4280-8345-1952669D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D3B35F-402E-4182-83AE-AA878156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243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79A7E6-8D39-45CD-811E-BA999E63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0195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E9DF38-39E7-407C-919C-F8F8D35B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BD9393-024B-4109-9B9F-D7A082CE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DA3FCF-EF0E-4329-9477-464B86881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434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864D6E-7F2C-4C76-A240-7B41795F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386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D2CBB0-6C66-46C8-9546-4253D93D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434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BE95A1-258F-4C69-A2D3-3D454FA6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4386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54AAE0-0885-4AAF-B937-BA69AB83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79C11A-086D-4441-BFE4-3FAB8247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FE993F9-856D-46B3-A65D-AF19E528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7625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226BD1-0C03-436E-B4E9-6252C6AD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577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6E17E0-94F4-4031-B809-2D1334A2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62500"/>
            <a:ext cx="533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E4988E-CB43-451D-B61D-AAB0E97D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57750"/>
            <a:ext cx="514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A3C31AB-79F1-49C6-8E1F-49D9C16E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p:txBody>
      </p:sp>
    </p:spTree>
    <p:extLst>
      <p:ext uri="{BB962C8B-B14F-4D97-AF65-F5344CB8AC3E}">
        <p14:creationId xmlns:p14="http://schemas.microsoft.com/office/powerpoint/2010/main" val="20711063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376307-2C70-47B2-A1BF-ED7CA799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2E7FF-BCFF-40DD-AAEC-DD517AFB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105A4-5898-4F22-A6AA-71E03AE3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D8B5A-929F-48BB-A8CA-6D07ADC3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6B4730-6EEA-41AB-BE7C-DE9A3C61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7B964-0353-4E71-99D2-92287FF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169E2E-5C75-4514-B751-C3D9DB92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096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E5999-C5D8-472F-B3F7-A45C7E72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8602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CB4A6-551E-4975-AC25-211DB400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8607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7AEC-B0BD-4A68-BE07-A5BF328D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8612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537C8-51BA-4F15-8B33-228C244B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86175"/>
            <a:ext cx="942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EDFB1A-8750-4446-AE94-C02C2FEB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1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8CF026-9191-4484-A3C5-9A3C3944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milimetro de riego equivale a un litro por metro cuadrado. Por eso la lámina díaria se transforma directamente en litros para la parcela.</a:t>
            </a:r>
          </a:p>
        </p:txBody>
      </p:sp>
    </p:spTree>
    <p:extLst>
      <p:ext uri="{BB962C8B-B14F-4D97-AF65-F5344CB8AC3E}">
        <p14:creationId xmlns:p14="http://schemas.microsoft.com/office/powerpoint/2010/main" val="3152281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D3219B-88E5-4DFE-8F93-55EF4E6D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B5ED9-4CA4-4D80-B9EA-8D30BC14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894E63-F1E9-4D78-A217-1E9B6560F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B7CF9-EFD9-406E-A946-84CBE30A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COMPARACION DE CULTIVOS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2F095F-F220-4B14-B479-438BD2F8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329FF-4F58-4D08-A2FA-721BC605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83D7E-FFF1-4460-BA3D-28F40E7F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1381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F60AB-E9AA-4934-8F94-F6740376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71725"/>
            <a:ext cx="7096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CF9E74-0478-43C8-9451-BAEE2E03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71725"/>
            <a:ext cx="521696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5E350-42D1-4E83-9D2D-450233D3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71725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BD1E0-1978-46F0-B4B9-13A6892A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76525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D01C11-A7AD-46E8-B1E6-F6152EB6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38475"/>
            <a:ext cx="1381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4810A-075C-4328-9006-BAC0D462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76575"/>
            <a:ext cx="7096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F7913-EDA9-43FC-981E-03F3F278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76575"/>
            <a:ext cx="558491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5E8F5-909C-457A-AD50-234146F3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076575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DDF4A7-8C20-4610-A516-3BF7BF38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81375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B2AE2F-A6A8-48B5-89FE-AA64F0A7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43325"/>
            <a:ext cx="1381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11CB3-00C2-4424-BB69-BEAFA5B7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81425"/>
            <a:ext cx="70961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3531DC-7B5F-4116-9CA7-E2FCDBC4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81425"/>
            <a:ext cx="670189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DCE157-CBF3-41B0-9439-A8FBA56D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781425"/>
            <a:ext cx="76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0D7E5-8218-4DFE-9581-508B7324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86225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042DCD-C332-4CDA-973A-C65EFD75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34000"/>
            <a:ext cx="904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p14:creationId xmlns:p14="http://schemas.microsoft.com/office/powerpoint/2010/main" val="11881447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B60049-4D9C-412B-B751-F4020C7D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4FF9C1-8C32-4A7C-8578-437928A4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11C0D-024C-406F-BBAD-A3818A9C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4BE1C-9A8E-4E3F-8070-0AF25A79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EFD62C-E619-4827-B2EE-CAD04FB0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aprende a predecir la lámina de riego a partir de clima, cultivo y parcela.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E0019-9C9D-471C-A09F-9613245B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sustituye la necesidad de calibración real en campo.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8D5CC-E55A-4186-9E62-A0595538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09187C-C69B-45AF-8D19-E2A39D04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E2BBA-9208-4681-92EA-D638AB0C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4C9F35-201D-45A2-A5BD-A46501B1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670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1F203-9972-49CE-B597-A8AB246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E88"/>
          </a:solidFill>
          <a:ln xmlns:a="http://schemas.openxmlformats.org/drawingml/2006/main" w="9525">
            <a:solidFill>
              <a:srgbClr val="2F5E8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0C833-54B3-4F8A-A5D1-ED424001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5E558-D1DF-4561-9824-4A3591AB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Regresion supervisada con históricos y etiqueta riego_bruto_mm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A750AC-80B4-43F4-A8CC-13C27CC7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670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BDF75-4446-4C0F-B795-6E98F252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22D"/>
          </a:solidFill>
          <a:ln xmlns:a="http://schemas.openxmlformats.org/drawingml/2006/main" w="9525">
            <a:solidFill>
              <a:srgbClr val="C4622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D23C4F-DF02-4B5E-8F49-A9BC7646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1CB1C5-0167-46EE-B7BA-76D07AF6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díaria prevista y conversion a litros de parcela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F24D8E-499A-4E0A-A96D-B79E698D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67050"/>
            <a:ext cx="438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CAD73-7110-4380-8DA8-663D3F61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190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3CA01-A115-49E4-9937-79EFA878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Calibración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DD9798-7BB7-451F-8F35-3F2A4D74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43250"/>
            <a:ext cx="1847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Mejora futura con riegos reales aplicados en campo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3472F-E562-4B8C-A9FB-8FECF23E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98107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B29226-D4D2-4A47-AF00-0021DCEB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tecnica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771E2C-2F51-49A9-A26A-02932A56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1015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version actual, el modelo aprende la referencia técnica del sistema. Con datos reales de explotaciones podria ajustarse para capturar diferencias de manejo, suelo y respuesta local.</a:t>
            </a:r>
          </a:p>
        </p:txBody>
      </p:sp>
    </p:spTree>
    <p:extLst>
      <p:ext uri="{BB962C8B-B14F-4D97-AF65-F5344CB8AC3E}">
        <p14:creationId xmlns:p14="http://schemas.microsoft.com/office/powerpoint/2010/main" val="2168713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B5B3BA-9DEC-4650-A9A5-ACB90D22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AEDBD-1E2D-4258-ACC1-8F963BE0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89E0B-02C4-49C2-AD04-6704724F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21CD99-E378-43E2-9F89-67B1B191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DEMOSTRACIÓN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0A6E1E-B91F-4CFB-B5D5-9F5F69FE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demo se basa en un escenario estable, reproducible y documentado.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A24882-1D08-4CF8-BB96-91E35558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evidenciar el funcionamiento del servicio sin depender de nuevas peticiones a AEMET.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203F5-3A4D-4846-AFDE-90F9683A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52DA6-B8C0-4F4F-BD16-074B2B63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2190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24F1C-21EC-4C15-A3A5-590BC2A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2857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BCDDA9-9AEA-4E47-9FEA-1918D09C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00300"/>
            <a:ext cx="2667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2318C-A4E5-4DC5-8067-386CCB12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05050"/>
            <a:ext cx="4762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57B908-BBD0-485A-99A1-7B27334B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400300"/>
            <a:ext cx="457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28C806-1C20-491E-A584-8044EB6F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E62C0-5E3A-4A92-A67C-810B2307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climatica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9A98FF-D3D1-4092-86C5-0A5D8A2D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670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A0BE98-424C-4209-B247-88CC096D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622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local versionado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A47506-765C-46A6-8113-D74822F34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6670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B0335-25C3-4A38-88AE-C586EDFA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Evita saturacion de AEMET y garantiza repetibilidad.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DB35E5-25D9-415F-9B65-6DBDF79D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766D3-7A68-4785-B5EB-099C8ECC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E76B6F-313B-4462-A1E2-7DB86013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861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6D43E5-1AF8-4E36-9A21-5DA58103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813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0C1EC4-37B6-46A2-B5AD-B7DCDA61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0861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379A2C-4F96-432D-8451-44B31735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813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479145-7F5E-489D-9CF1-DA440133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7B2BFB-1709-4FEA-B7F0-A078F167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F32F05-62B7-4C8A-B70F-A97FDCA6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5052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7FCA78-A784-4405-9424-C7BCC695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004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CA73D7-662E-43F6-93DA-081CD7E1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052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31B7D8-53F3-4688-AACE-4851ACDD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004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comparacion díaria.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6DCEED-F066-45C3-82BD-098B22A5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559E25-8DE8-42FE-92C1-B21EBCD2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22B807-121A-427A-8135-4079E413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2BB103-7699-45F6-A859-BCBFDA3F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195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44B6B7-DC19-435A-9F86-598B8467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9243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B26ECC-551F-4904-8934-8CCAB6BE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195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4AC86E-41B3-439C-ACDB-B56A5B4C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05E2AB-CC8F-45E4-9CA0-954623AD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1A158BC-18C9-45DC-8344-14670FA6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3434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87AC996-E130-4CEF-9AC8-F09C57BF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386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D3C463-D8F4-4154-9169-00943E10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434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2913C4-9024-45AE-A6D3-73EF53A5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386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Dimension de parcela usada en la simulacion.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794B9E-FC75-4A5E-8118-F8D2526C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7026BD1-37B9-4177-90F2-DFC576C5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2F25C1-D946-4E50-A0DE-D9EB6C8C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62500"/>
            <a:ext cx="285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A7D746E-8094-4297-846A-F5BBDFD9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57750"/>
            <a:ext cx="2667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CB7E02-18D5-4C75-AB72-CCC6109A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7625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4540A99-AA20-4BE5-9A2E-A641C1BB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57750"/>
            <a:ext cx="457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E0F66E-4C97-4C86-B922-D27CBA5C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misma salida ante el tribunal y comparar posteriormente otros cultivos.</a:t>
            </a:r>
          </a:p>
        </p:txBody>
      </p:sp>
    </p:spTree>
    <p:extLst>
      <p:ext uri="{BB962C8B-B14F-4D97-AF65-F5344CB8AC3E}">
        <p14:creationId xmlns:p14="http://schemas.microsoft.com/office/powerpoint/2010/main" val="651769305"/>
      </p:ext>
    </p:extLst>
  </p:cSld>
</p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72FAC77F-4EE2-4380-B9AF-C3F39077ECED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62ADC30B-23BB-414B-8479-BBCB4B2702CB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00BD40A0-7C28-4A19-9320-35CC8E9EA832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65BD3DF1-2A0D-4403-AE72-8D23DB087E3A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 LA DEMO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75F7F912-B714-4904-9BE6-34C975B31B6D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16D3567-AC57-4060-8839-247044BC3773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decisiones.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2B43342-4AC3-48D1-8AC9-EF78C1ECD3A6}"/>
              </a:ext>
            </a:extLst>
          </ns0:cNvPr>
          <ns0:cNvSpPr>
            <a:spLocks noGrp="1"/>
          </ns0:cNvSpPr>
          <ns0:nvPr/>
        </ns0:nvSpPr>
        <ns0:spPr>
          <a:xfrm>
            <a:off x="685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0A3C6B97-2203-459F-B548-56F0591FA8B8}"/>
              </a:ext>
            </a:extLst>
          </ns0:cNvPr>
          <ns0:cNvSpPr>
            <a:spLocks noGrp="1"/>
          </ns0:cNvSpPr>
          <ns0:nvPr/>
        </ns0:nvSpPr>
        <ns0:spPr>
          <a:xfrm>
            <a:off x="857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4D79712-0DE2-4B4E-9B79-C1BDD80AA63B}"/>
              </a:ext>
            </a:extLst>
          </ns0:cNvPr>
          <ns0:cNvSpPr>
            <a:spLocks noGrp="1"/>
          </ns0:cNvSpPr>
          <ns0:nvPr/>
        </ns0:nvSpPr>
        <ns0:spPr>
          <a:xfrm>
            <a:off x="857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36D8A12A-4334-4F12-9F78-7D27EE1C1DF6}"/>
              </a:ext>
            </a:extLst>
          </ns0:cNvPr>
          <ns0:cNvSpPr>
            <a:spLocks noGrp="1"/>
          </ns0:cNvSpPr>
          <ns0:nvPr/>
        </ns0:nvSpPr>
        <ns0:spPr>
          <a:xfrm>
            <a:off x="857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7FBCDE2-B91A-4EEE-9057-4D2C71BE5D9A}"/>
              </a:ext>
            </a:extLst>
          </ns0:cNvPr>
          <ns0:cNvSpPr>
            <a:spLocks noGrp="1"/>
          </ns0:cNvSpPr>
          <ns0:nvPr/>
        </ns0:nvSpPr>
        <ns0:spPr>
          <a:xfrm>
            <a:off x="3352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2A7532DB-EEDB-4682-BFDE-D872D8787FC2}"/>
              </a:ext>
            </a:extLst>
          </ns0:cNvPr>
          <ns0:cNvSpPr>
            <a:spLocks noGrp="1"/>
          </ns0:cNvSpPr>
          <ns0:nvPr/>
        </ns0:nvSpPr>
        <ns0:spPr>
          <a:xfrm>
            <a:off x="3524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diario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1A92B73-1758-494D-ACF0-D49D458DB47B}"/>
              </a:ext>
            </a:extLst>
          </ns0:cNvPr>
          <ns0:cNvSpPr>
            <a:spLocks noGrp="1"/>
          </ns0:cNvSpPr>
          <ns0:nvPr/>
        </ns0:nvSpPr>
        <ns0:spPr>
          <a:xfrm>
            <a:off x="3524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3BE959BC-A86F-4AB4-BA8C-E5698B765FEA}"/>
              </a:ext>
            </a:extLst>
          </ns0:cNvPr>
          <ns0:cNvSpPr>
            <a:spLocks noGrp="1"/>
          </ns0:cNvSpPr>
          <ns0:nvPr/>
        </ns0:nvSpPr>
        <ns0:spPr>
          <a:xfrm>
            <a:off x="3524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diario para toda la parcela.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91827281-1438-413F-8E6B-D584448F0C28}"/>
              </a:ext>
            </a:extLst>
          </ns0:cNvPr>
          <ns0:cNvSpPr>
            <a:spLocks noGrp="1"/>
          </ns0:cNvSpPr>
          <ns0:nvPr/>
        </ns0:nvSpPr>
        <ns0:spPr>
          <a:xfrm>
            <a:off x="6019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CC755839-40F2-47FE-A1DF-5D03903DFB46}"/>
              </a:ext>
            </a:extLst>
          </ns0:cNvPr>
          <ns0:cNvSpPr>
            <a:spLocks noGrp="1"/>
          </ns0:cNvSpPr>
          <ns0:nvPr/>
        </ns0:nvSpPr>
        <ns0:spPr>
          <a:xfrm>
            <a:off x="6191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BFE408-DDAA-4AF4-A74F-99417C6C1735}"/>
              </a:ext>
            </a:extLst>
          </ns0:cNvPr>
          <ns0:cNvSpPr>
            <a:spLocks noGrp="1"/>
          </ns0:cNvSpPr>
          <ns0:nvPr/>
        </ns0:nvSpPr>
        <ns0:spPr>
          <a:xfrm>
            <a:off x="6191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4818A6BE-77C8-47AA-BAB5-280201479288}"/>
              </a:ext>
            </a:extLst>
          </ns0:cNvPr>
          <ns0:cNvSpPr>
            <a:spLocks noGrp="1"/>
          </ns0:cNvSpPr>
          <ns0:nvPr/>
        </ns0:nvSpPr>
        <ns0:spPr>
          <a:xfrm>
            <a:off x="6191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diaria estimada por planta.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60A3867B-5509-439A-9272-69EBDA1F785A}"/>
              </a:ext>
            </a:extLst>
          </ns0:cNvPr>
          <ns0:cNvSpPr>
            <a:spLocks noGrp="1"/>
          </ns0:cNvSpPr>
          <ns0:nvPr/>
        </ns0:nvSpPr>
        <ns0:spPr>
          <a:xfrm>
            <a:off x="8686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BBF62C6D-3090-4664-8A7B-1BF8EAE8FA22}"/>
              </a:ext>
            </a:extLst>
          </ns0:cNvPr>
          <ns0:cNvSpPr>
            <a:spLocks noGrp="1"/>
          </ns0:cNvSpPr>
          <ns0:nvPr/>
        </ns0:nvSpPr>
        <ns0:spPr>
          <a:xfrm>
            <a:off x="8858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diaria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7A04C442-71DC-472D-9C38-B90D9BA6086E}"/>
              </a:ext>
            </a:extLst>
          </ns0:cNvPr>
          <ns0:cNvSpPr>
            <a:spLocks noGrp="1"/>
          </ns0:cNvSpPr>
          <ns0:nvPr/>
        </ns0:nvSpPr>
        <ns0:spPr>
          <a:xfrm>
            <a:off x="8858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2CA6107D-EBA8-410F-90EB-A92A3DAE9149}"/>
              </a:ext>
            </a:extLst>
          </ns0:cNvPr>
          <ns0:cNvSpPr>
            <a:spLocks noGrp="1"/>
          </ns0:cNvSpPr>
          <ns0:nvPr/>
        </ns0:nvSpPr>
        <ns0:spPr>
          <a:xfrm>
            <a:off x="8858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39BC57F-ADF2-42A3-AC26-FAAEC0EACA62}"/>
              </a:ext>
            </a:extLst>
          </ns0:cNvPr>
          <ns0:cNvSpPr>
            <a:spLocks noGrp="1"/>
          </ns0:cNvSpPr>
          <ns0:nvPr/>
        </ns0:nvSpPr>
        <ns0:spPr>
          <a:xfrm>
            <a:off x="685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59F60B4-8268-4DF7-87C4-E9970F968675}"/>
              </a:ext>
            </a:extLst>
          </ns0:cNvPr>
          <ns0:cNvSpPr>
            <a:spLocks noGrp="1"/>
          </ns0:cNvSpPr>
          <ns0:nvPr/>
        </ns0:nvSpPr>
        <ns0:spPr>
          <a:xfrm>
            <a:off x="857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A5C4141E-7D17-45E3-A047-4B67B1FEF1BD}"/>
              </a:ext>
            </a:extLst>
          </ns0:cNvPr>
          <ns0:cNvSpPr>
            <a:spLocks noGrp="1"/>
          </ns0:cNvSpPr>
          <ns0:nvPr/>
        </ns0:nvSpPr>
        <ns0:spPr>
          <a:xfrm>
            <a:off x="857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43CC0666-1359-46E2-9190-9455ADECE215}"/>
              </a:ext>
            </a:extLst>
          </ns0:cNvPr>
          <ns0:cNvSpPr>
            <a:spLocks noGrp="1"/>
          </ns0:cNvSpPr>
          <ns0:nvPr/>
        </ns0:nvSpPr>
        <ns0:spPr>
          <a:xfrm>
            <a:off x="857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atmosférica media del periodo.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5A5AA722-45BA-4396-BC86-E1719D9C0F5F}"/>
              </a:ext>
            </a:extLst>
          </ns0:cNvPr>
          <ns0:cNvSpPr>
            <a:spLocks noGrp="1"/>
          </ns0:cNvSpPr>
          <ns0:nvPr/>
        </ns0:nvSpPr>
        <ns0:spPr>
          <a:xfrm>
            <a:off x="3352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E9A2D394-9A28-4591-8BBD-E2C3CA26ADE1}"/>
              </a:ext>
            </a:extLst>
          </ns0:cNvPr>
          <ns0:cNvSpPr>
            <a:spLocks noGrp="1"/>
          </ns0:cNvSpPr>
          <ns0:nvPr/>
        </ns0:nvSpPr>
        <ns0:spPr>
          <a:xfrm>
            <a:off x="3524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E159C21E-29F6-4D31-90F0-48AA534F78B3}"/>
              </a:ext>
            </a:extLst>
          </ns0:cNvPr>
          <ns0:cNvSpPr>
            <a:spLocks noGrp="1"/>
          </ns0:cNvSpPr>
          <ns0:nvPr/>
        </ns0:nvSpPr>
        <ns0:spPr>
          <a:xfrm>
            <a:off x="3524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064940AA-ED70-4AAD-9000-3352DFC5346E}"/>
              </a:ext>
            </a:extLst>
          </ns0:cNvPr>
          <ns0:cNvSpPr>
            <a:spLocks noGrp="1"/>
          </ns0:cNvSpPr>
          <ns0:nvPr/>
        </ns0:nvSpPr>
        <ns0:spPr>
          <a:xfrm>
            <a:off x="3524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D0171A5D-B8BF-448E-B653-88990E8D7865}"/>
              </a:ext>
            </a:extLst>
          </ns0:cNvPr>
          <ns0:cNvSpPr>
            <a:spLocks noGrp="1"/>
          </ns0:cNvSpPr>
          <ns0:nvPr/>
        </ns0:nvSpPr>
        <ns0:spPr>
          <a:xfrm>
            <a:off x="6019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F63C0A47-AA86-44E6-9F6C-5587E09C4872}"/>
              </a:ext>
            </a:extLst>
          </ns0:cNvPr>
          <ns0:cNvSpPr>
            <a:spLocks noGrp="1"/>
          </ns0:cNvSpPr>
          <ns0:nvPr/>
        </ns0:nvSpPr>
        <ns0:spPr>
          <a:xfrm>
            <a:off x="6191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60411B08-24D7-4A5B-9E5F-E93846A13AC7}"/>
              </a:ext>
            </a:extLst>
          </ns0:cNvPr>
          <ns0:cNvSpPr>
            <a:spLocks noGrp="1"/>
          </ns0:cNvSpPr>
          <ns0:nvPr/>
        </ns0:nvSpPr>
        <ns0:spPr>
          <a:xfrm>
            <a:off x="6191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97.160 L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21F21FCA-8067-4466-99D0-A42F3310B6D6}"/>
              </a:ext>
            </a:extLst>
          </ns0:cNvPr>
          <ns0:cNvSpPr>
            <a:spLocks noGrp="1"/>
          </ns0:cNvSpPr>
          <ns0:nvPr/>
        </ns0:nvSpPr>
        <ns0:spPr>
          <a:xfrm>
            <a:off x="6191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Resultado muy cercano al cálculo base.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41794ABC-6C1B-4E70-9312-05F016BDB97D}"/>
              </a:ext>
            </a:extLst>
          </ns0:cNvPr>
          <ns0:cNvSpPr>
            <a:spLocks noGrp="1"/>
          </ns0:cNvSpPr>
          <ns0:nvPr/>
        </ns0:nvSpPr>
        <ns0:spPr>
          <a:xfrm>
            <a:off x="8686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B8F6FCFE-9CDF-45CB-AA0F-D6E039721751}"/>
              </a:ext>
            </a:extLst>
          </ns0:cNvPr>
          <ns0:cNvSpPr>
            <a:spLocks noGrp="1"/>
          </ns0:cNvSpPr>
          <ns0:nvPr/>
        </ns0:nvSpPr>
        <ns0:spPr>
          <a:xfrm>
            <a:off x="8858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ETc media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14689882-0056-48D0-B4F4-9C1FAD210E73}"/>
              </a:ext>
            </a:extLst>
          </ns0:cNvPr>
          <ns0:cNvSpPr>
            <a:spLocks noGrp="1"/>
          </ns0:cNvSpPr>
          <ns0:nvPr/>
        </ns0:nvSpPr>
        <ns0:spPr>
          <a:xfrm>
            <a:off x="8858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3,57 mm/día</a:t>
            </a:r>
          </a:p>
        </ns0:txBody>
      </ns0:sp>
      <ns0:sp>
        <ns0:nvSpPr>
          <ns0:cNvPr id="38" name="">
            <a:extLst>
              <a:ext uri="{FF2B5EF4-FFF2-40B4-BE49-F238E27FC236}">
                <ns2:creationId id="{3E115C5E-ACD8-4F89-AA54-6AC79C50B457}"/>
              </a:ext>
            </a:extLst>
          </ns0:cNvPr>
          <ns0:cNvSpPr>
            <a:spLocks noGrp="1"/>
          </ns0:cNvSpPr>
          <ns0:nvPr/>
        </ns0:nvSpPr>
        <ns0:spPr>
          <a:xfrm>
            <a:off x="8858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hídrica del cultivo tras aplicar Kc.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CEB1B434-E65F-445E-AC14-DD55ABADA65B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10001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ns0:txBody>
      </ns0:sp>
    </ns0:spTree>
    <ns0:extLst>
      <ns0:ext uri="{BB962C8B-B14F-4D97-AF65-F5344CB8AC3E}">
        <ns3:creationId val="820374581"/>
      </ns0:ext>
    </ns0:extLst>
  </ns0:cSld>
</ns0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49E08B-D6E2-48B7-8119-E7495EDF8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C8DFC-D565-4627-9883-9CC6743C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D156F-3629-476A-A077-CB8F8A23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A594B-92B8-49DF-9B8E-5CD8EB8D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6DAE6-26EF-4CEF-9F39-6D73DE58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defensa del prototipo se apoya en pruebas, datos versionados y control de cambios.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19453B-1BA9-40A5-BE14-A0D4987B6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1DBA3A-6E0B-4976-B33C-A811620F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8C619F-E934-4B29-A0EB-11EB7D53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CC097-2555-453C-A12A-04EAD742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bateria de tests valida cálculo, cultivos, CLI, exportacion y predicción ML.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713735-29D6-4616-83BD-36A95A32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B98DC-42EB-40E0-A5D5-6A8326AB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F92ECC-676B-4024-8505-5A97120B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de Sevilla esta versionado para repetir la salida sin depender de la API.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359D4-D476-4219-B8B9-17C52F6D5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A35BB-F08B-465B-816B-9A000F02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C4928E-5BB6-44DC-95EB-BDFC353C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771ABB-A536-4AE1-9EA3-E21F99BB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02D9D2-98C0-4E81-B18B-9947E65F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9D8023-CF32-4404-8EFE-D0426260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documentacion y resultados se mantienen bajo control de versiones.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0F5AFC-92C6-4D54-B1B5-FC84D28B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08ECF-A47F-43D1-9BF2-8081A6D6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0FD639-5489-4856-BDA2-CF5F50D5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C78B96-EE37-4E93-B612-FCA024BA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112CDD-066E-4BA3-A3AF-8ED224B3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996293-81BF-4263-84EE-FC18EF14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formula aplicada.</a:t>
            </a:r>
          </a:p>
        </p:txBody>
      </p:sp>
    </p:spTree>
    <p:extLst>
      <p:ext uri="{BB962C8B-B14F-4D97-AF65-F5344CB8AC3E}">
        <p14:creationId xmlns:p14="http://schemas.microsoft.com/office/powerpoint/2010/main" val="16054954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1F30D1-3385-4151-9029-899364C4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5A918-71E7-467C-AB0C-97D21F2A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27B661-84E7-4E61-93E4-E5A6662C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D6398-64D0-4540-8FA4-5B6459EC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CB399-E063-41AE-885D-02E978AA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limites claros para uso comercial.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52002-D6B9-4508-8EA6-78AA2180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delimitacion evita atribuir al sistema capacidades no implementadas.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782CE5-089E-475E-8F0F-044724D9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8BD1B0-AD54-4D1A-A30C-75EE2AD1D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B2017-E44C-4520-A540-9AD1E1BD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40744B-485A-459A-A055-4BECE52F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2DB9E-D355-43DD-B959-EF3F7FE8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2BBCE-1801-4587-8513-94411052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D93DD-7CA5-4D3F-99D7-1E9CDB7A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81250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9392E-9A3C-425C-99EC-A96A4D7F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52700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FF8A4-0BCF-48CF-90EE-FEF31481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38450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FD2282-0F00-4190-8F62-446A1C5E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AA2E34-2D11-4220-8469-0F3672A0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B6BB00-ED38-42DC-A341-E485E169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peticiones; por eso se usa cache local en la demo.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38CB62-AD91-4EB6-A2F2-5B772451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B7646B-9249-4696-AF3C-8EDE650C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EC230C-DCB1-4069-847E-BE6F5354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valvulas.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144132-A0CB-4176-B766-270CE443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57625"/>
            <a:ext cx="3048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B09235-AE3E-42F0-AEAF-10B1A2BE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29075"/>
            <a:ext cx="2667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F998F-9860-46F3-BF13-8A880BCE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14825"/>
            <a:ext cx="26479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aumentaria con datos históricos de parcela y respuesta del cultivo.</a:t>
            </a:r>
          </a:p>
        </p:txBody>
      </p:sp>
    </p:spTree>
    <p:extLst>
      <p:ext uri="{BB962C8B-B14F-4D97-AF65-F5344CB8AC3E}">
        <p14:creationId xmlns:p14="http://schemas.microsoft.com/office/powerpoint/2010/main" val="87055148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899094-B220-453E-861B-275801D6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E3A44-E48D-4C94-B7E8-129204BB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DF2D3-CF6D-4431-8419-1B59D5F1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E37D9F-DEE6-4924-A6B4-22B213AC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EVOLUCIÓN FUTURA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B73F8-3708-48DA-85DF-5DC9E7C7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camino de mejora convierte el prototipo en un servicio predictivo de mayor valor.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EE0A4-C661-4A51-B987-BF63FFB7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arquitectura actual permite crecer sin perder trazabilidad.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71222-E791-464E-B676-76E0CC19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2203E0-87E8-410B-BC82-C510BD01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BE8A67-C935-48A0-BD9C-586A3F4C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Riegos reales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980CF-187A-4A82-9DE4-B7C6BCDE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Etiquetas de campo para calibrar el modelo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0E126-F97D-42B3-8A3F-80AD6F0A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373F1-8085-40E3-B270-597CA49A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98014A-A998-4F98-975A-A999F5C7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3698D-F5A0-46E4-8AC3-01BAA89F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60FD3A-8439-466E-8EA8-2534ED80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Humedad de suelo y respuesta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1B686-9731-41DA-91C1-C47F5F09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4D9E18-061E-4EC5-8ADB-39855ADD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F25A99-1BAA-48B4-B120-DB962A17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DA627A-2E35-4AA0-A47D-08F7CC7E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clima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97A006-ACA6-4C58-AC7E-1D4AC67D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Incorporar prevision meteorológica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1075DF-1B62-4B8D-AF83-3E115500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89A155-ADA8-4666-BDB5-B8E496A3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3ABC83-81F4-4A81-A9BC-4E4EDEA5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F8BA2B-5691-4488-AD17-31FED1D7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5F1A13-997D-4930-9AB6-ECC91E0A6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Históricos y escalado de datos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4C16DB-6229-4926-B38A-7660BFCD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02DF0E-64FF-4814-BE86-5E7851B9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C9CB9-E989-4C68-86F5-DE2F22A6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C13556-158A-48A8-BE2D-1E9BCDEB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2F818C-3EB2-4FA9-9B84-3FCFA060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Gestión de clientes y ubicaciones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1B3C88-4DE3-42D9-B015-C268CBE9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8091F1-3D2E-46DB-8AC2-03A8765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9671F7-ECA6-4D2E-8D9B-286D0799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038550-347B-46CE-AA21-0845798E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DFC751-7E0D-45D1-BD69-0B4417BE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Recomendaciónes recurrentes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A84312-4B71-470C-83EB-FD77DE4A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30289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B6CB37-4768-453D-BC43-12C4AE45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BD7CA3-EA3E-43DB-A8C3-A3249985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52700"/>
            <a:ext cx="57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EF31D5-7B38-4041-B17E-6AA32172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52750"/>
            <a:ext cx="1000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C0BC00-9AB5-42D5-9E0C-0B9C5165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09950"/>
            <a:ext cx="990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Servicio comercializable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D3EF1D-7532-4B9D-80AC-55FBFA05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8583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4FE617-52E9-402A-9308-EA9BFF6B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prioridad de la siguiente fase seria entrenar con riegos reales para pasar de una referencia técnica a un modelo calibrado por parcela.</a:t>
            </a:r>
          </a:p>
        </p:txBody>
      </p:sp>
    </p:spTree>
    <p:extLst>
      <p:ext uri="{BB962C8B-B14F-4D97-AF65-F5344CB8AC3E}">
        <p14:creationId xmlns:p14="http://schemas.microsoft.com/office/powerpoint/2010/main" val="5216047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AF41D1-0992-4FB6-ACB3-87027A1F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8B8D5-CACB-4601-82C9-BBB89F98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E1C0F-78CF-4195-8DBF-120F27E2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03CC9E-502C-485A-B9C6-6F43567B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7438E-B96A-46F2-8BBA-227C34EA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proyecto demuestra una cadena completa desde el dato oficial hasta la recomendación de riego.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6AF2EE-FC13-4D4D-A823-E530031B8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resultado es un prototipo defendible, reproducible y ampliable.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5B1B9D-CB6C-47B6-B40A-737B267F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90750"/>
            <a:ext cx="9144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10182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5D8A2-269B-4450-92C8-12D5C918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19400"/>
            <a:ext cx="8191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El sistema responde a una pregunta concreta: cuanta agua necesita una plantación segun lugar, cultivo, fechas y superficie.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CAE036-0494-4203-ADB4-686BAC7C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48150"/>
            <a:ext cx="19526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DB0E5-C6BC-4D88-A064-9DADDC5F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514850"/>
            <a:ext cx="7239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La solución no depende del numero de goteros; se centra en la demanda hídrica de la parcela y en una salida comprensible para el agricultor.</a:t>
            </a:r>
          </a:p>
        </p:txBody>
      </p:sp>
    </p:spTree>
    <p:extLst>
      <p:ext uri="{BB962C8B-B14F-4D97-AF65-F5344CB8AC3E}">
        <p14:creationId xmlns:p14="http://schemas.microsoft.com/office/powerpoint/2010/main" val="155516433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7601D8-1748-4853-8C44-5128A2EB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6D5E8-53FD-42AC-91FA-F033D7E4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D066F-44BC-4B39-8105-6442A42C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76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BCB2C-635C-458C-AB4E-FD88524C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76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5894D-48D3-4824-8E2D-903C5560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990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fundamentacion técnica.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B4705-1018-43BF-99EF-DB789AF7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B903A-944F-40F7-BF50-0DA636E3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857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76466-FD08-471D-95BD-53479FCF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ADDE1-AB0C-4CB3-B488-DA17E8FB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05050"/>
            <a:ext cx="647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3274D-9D00-4EA6-BFFD-ED551455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00300"/>
            <a:ext cx="628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9FC7DA-2F25-4BCC-A688-7CFCC892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305050"/>
            <a:ext cx="2667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B45"/>
          </a:solidFill>
          <a:ln xmlns:a="http://schemas.openxmlformats.org/drawingml/2006/main"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CB679D-4D02-4C2A-883C-AA879622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F61665-10DE-45E0-8CCB-4512C31F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7F5E4F-A2E3-4DC2-A7FD-1D071FDF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EE8CD2-B30A-48B3-88E5-FCAEB859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670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9ABA7-1E94-4BA5-9326-9E66280B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7622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1BB2B0-FC55-4765-8783-43AFA773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670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E2F6E-495B-450C-83D9-1B24E5EB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622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0B8A5B-1CD0-4FD3-AEF2-D57E1422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D2BE3-EDEF-4F37-BB5E-15EF031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907C6-BF3E-4C80-870C-55C76C2B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861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78BA48-7079-4FD6-ADA1-95CDC375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813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10264D-800A-4850-B089-70BE3858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D39DF5-E435-43C1-B558-3E7F59A2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81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03A8B6-8C6B-40A0-835D-AA6F2CB9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0081C-6ED3-436E-BCF3-314E8353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004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3733BB-EA59-4315-BEBD-71BF0893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5052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232AB5-D3AD-4714-8F4F-2403DB27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004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1975EBD-8E7E-431A-A9B8-5B22D1B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D7EA7C-8D23-4CEA-A54D-C6368A8E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04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F7473A-4120-4C4D-A352-33F4E6BB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1B355C-D3A6-4011-98F6-BDF45AB9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910C31-9834-48ED-9FB6-78BF8460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243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4FB3F-EDB0-4C04-A1E4-11F62F3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195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680515-7A89-45D4-A1C3-20EA5C14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243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3EAFC4-C275-4184-B36F-F214233E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95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BA0D99-EFE5-422C-A67B-D2D142F3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800201D-6DEB-4795-841C-7AD3C1B2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877239-A440-4A41-B4BA-D994FC8E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3434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CCC2EC-3139-4449-9C38-BF78ACAB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386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03AC7D-BED1-4F6D-B953-E4404550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01C0DC-8384-447D-938E-22139BFA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386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180378-D942-4020-A7D7-1EC77157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857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0019D8-2A48-48D8-A8F6-F2707216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0C4FB8-F5F0-46AD-86C8-9552925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62500"/>
            <a:ext cx="647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82D387-563C-4995-AC10-AF4B5137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57750"/>
            <a:ext cx="628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1734D72-3C21-4516-AE7D-90D83C44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2667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F"/>
          </a:solidFill>
          <a:ln xmlns:a="http://schemas.openxmlformats.org/drawingml/2006/main"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89E348-A071-4639-815D-E5C24182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8577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BBCED6-744E-4787-A135-00DE8D91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de demo y modelo.</a:t>
            </a:r>
          </a:p>
        </p:txBody>
      </p:sp>
    </p:spTree>
    <p:extLst>
      <p:ext uri="{BB962C8B-B14F-4D97-AF65-F5344CB8AC3E}">
        <p14:creationId xmlns:p14="http://schemas.microsoft.com/office/powerpoint/2010/main" val="20227427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2026-05-19T20:57:00.0580000Z</dcterms:created>
  <dcterms:modified xsi:type="dcterms:W3CDTF">2026-05-19T20:57:00.0580000Z</dcterms:modified>
</coreProperties>
</file>