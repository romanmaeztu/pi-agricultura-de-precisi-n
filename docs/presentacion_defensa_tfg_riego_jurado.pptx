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png" ContentType="image/png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05b230b854791" /><Relationship Type="http://schemas.openxmlformats.org/officeDocument/2006/relationships/extended-properties" Target="/docProps/app.xml" Id="Rb44b7ece0017485f" /><Relationship Type="http://schemas.openxmlformats.org/officeDocument/2006/relationships/officeDocument" Target="/ppt/presentation.xml" Id="R411d8805015848b0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e2f5012d550c4262"/>
  </p:sldMasterIdLst>
  <p:notesMasterIdLst>
    <p:notesMasterId r:id="R2f5eb5a481734ba0"/>
  </p:notesMasterIdLst>
  <p:sldIdLst>
    <p:sldId id="256" r:id="R1184ad94b8df4e35"/>
    <p:sldId id="257" r:id="R5bbc1c45a2f44cfa"/>
    <p:sldId id="258" r:id="Rdbdcdf439f204543"/>
    <p:sldId id="259" r:id="R672385be34154033"/>
    <p:sldId id="260" r:id="R72a922ab297b4fb4"/>
    <p:sldId id="261" r:id="Rc080d0c2e8ac40bd"/>
    <p:sldId id="262" r:id="R61cc62192b5746be"/>
    <p:sldId id="263" r:id="Re2816c234cf64040"/>
    <p:sldId id="264" r:id="R0b02233ade5a4ce6"/>
    <p:sldId id="265" r:id="R0f26565c6c334643"/>
    <p:sldId id="266" r:id="R9782bcc566b840e6"/>
    <p:sldId id="267" r:id="Rf1b4c8c0b5324c4f"/>
    <p:sldId id="268" r:id="R0924dc26e4044ee5"/>
    <p:sldId id="269" r:id="Rb4380cbd081a4d25"/>
    <p:sldId id="270" r:id="R3bb925e088554c7a"/>
    <p:sldId id="271" r:id="Rce3529f919144a82"/>
    <p:sldId id="272" r:id="R207c4296c7244efa"/>
    <p:sldId id="273" r:id="R7c5259aeb373420d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2f5012d550c4262" /><ns0:Relationship Type="http://schemas.openxmlformats.org/officeDocument/2006/relationships/theme" Target="/ppt/theme/theme1.xml" Id="R8f0c5b96b3454b6d" /><ns0:Relationship Type="http://schemas.openxmlformats.org/officeDocument/2006/relationships/notesMaster" Target="/ppt/notesMasters/notesMaster1.xml" Id="R2f5eb5a481734ba0" /><ns0:Relationship Type="http://schemas.openxmlformats.org/officeDocument/2006/relationships/presProps" Target="/ppt/presProps.xml" Id="Rf046ecb6ea1c479f" /><ns0:Relationship Type="http://schemas.openxmlformats.org/officeDocument/2006/relationships/viewProps" Target="/ppt/viewProps.xml" Id="Ra402ac238aea4b3a" /><ns0:Relationship Type="http://schemas.openxmlformats.org/officeDocument/2006/relationships/tableStyles" Target="/ppt/tableStyles.xml" Id="R02481a5058c64510" /><ns0:Relationship Type="http://schemas.openxmlformats.org/officeDocument/2006/relationships/slide" Target="/ppt/slides/slide1.xml" Id="R1184ad94b8df4e35" /><ns0:Relationship Type="http://schemas.openxmlformats.org/officeDocument/2006/relationships/slide" Target="/ppt/slides/slide2.xml" Id="R5bbc1c45a2f44cfa" /><ns0:Relationship Type="http://schemas.openxmlformats.org/officeDocument/2006/relationships/slide" Target="/ppt/slides/slide3.xml" Id="Rdbdcdf439f204543" /><ns0:Relationship Type="http://schemas.openxmlformats.org/officeDocument/2006/relationships/slide" Target="/ppt/slides/slide4.xml" Id="R672385be34154033" /><ns0:Relationship Type="http://schemas.openxmlformats.org/officeDocument/2006/relationships/slide" Target="/ppt/slides/slide5.xml" Id="R72a922ab297b4fb4" /><ns0:Relationship Type="http://schemas.openxmlformats.org/officeDocument/2006/relationships/slide" Target="/ppt/slides/slide6.xml" Id="Rc080d0c2e8ac40bd" /><ns0:Relationship Type="http://schemas.openxmlformats.org/officeDocument/2006/relationships/slide" Target="/ppt/slides/slide7.xml" Id="R61cc62192b5746be" /><ns0:Relationship Type="http://schemas.openxmlformats.org/officeDocument/2006/relationships/slide" Target="/ppt/slides/slide8.xml" Id="Re2816c234cf64040" /><ns0:Relationship Type="http://schemas.openxmlformats.org/officeDocument/2006/relationships/slide" Target="/ppt/slides/slide9.xml" Id="R0b02233ade5a4ce6" /><ns0:Relationship Type="http://schemas.openxmlformats.org/officeDocument/2006/relationships/slide" Target="/ppt/slides/slide10.xml" Id="R0f26565c6c334643" /><ns0:Relationship Type="http://schemas.openxmlformats.org/officeDocument/2006/relationships/slide" Target="/ppt/slides/slide11.xml" Id="R9782bcc566b840e6" /><ns0:Relationship Type="http://schemas.openxmlformats.org/officeDocument/2006/relationships/slide" Target="/ppt/slides/slide12.xml" Id="Rf1b4c8c0b5324c4f" /><ns0:Relationship Type="http://schemas.openxmlformats.org/officeDocument/2006/relationships/slide" Target="/ppt/slides/slide13.xml" Id="R0924dc26e4044ee5" /><ns0:Relationship Type="http://schemas.openxmlformats.org/officeDocument/2006/relationships/slide" Target="/ppt/slides/slide14.xml" Id="Rb4380cbd081a4d25" /><ns0:Relationship Type="http://schemas.openxmlformats.org/officeDocument/2006/relationships/slide" Target="/ppt/slides/slide15.xml" Id="R3bb925e088554c7a" /><ns0:Relationship Type="http://schemas.openxmlformats.org/officeDocument/2006/relationships/slide" Target="/ppt/slides/slide16.xml" Id="Rce3529f919144a82" /><ns0:Relationship Type="http://schemas.openxmlformats.org/officeDocument/2006/relationships/slide" Target="/ppt/slides/slide17.xml" Id="R207c4296c7244efa" /><ns0:Relationship Type="http://schemas.openxmlformats.org/officeDocument/2006/relationships/slide" Target="/ppt/slides/slide18.xml" Id="R7c5259aeb373420d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7d5bbfa6454e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53efaea854c35" /><Relationship Type="http://schemas.openxmlformats.org/officeDocument/2006/relationships/notesMaster" Target="/ppt/notesMasters/notesMaster1.xml" Id="R59537dfae65846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1befc373d4e96" /><Relationship Type="http://schemas.openxmlformats.org/officeDocument/2006/relationships/notesMaster" Target="/ppt/notesMasters/notesMaster1.xml" Id="R1ffa8c383dc848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486c84ef4048fc" /><Relationship Type="http://schemas.openxmlformats.org/officeDocument/2006/relationships/notesMaster" Target="/ppt/notesMasters/notesMaster1.xml" Id="Rd63925203408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133f202c4a47fb" /><Relationship Type="http://schemas.openxmlformats.org/officeDocument/2006/relationships/notesMaster" Target="/ppt/notesMasters/notesMaster1.xml" Id="Ra614fc7a8c13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018d3a82d47aa" /><Relationship Type="http://schemas.openxmlformats.org/officeDocument/2006/relationships/notesMaster" Target="/ppt/notesMasters/notesMaster1.xml" Id="R15d275173cae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36c0d80d044525" /><Relationship Type="http://schemas.openxmlformats.org/officeDocument/2006/relationships/notesMaster" Target="/ppt/notesMasters/notesMaster1.xml" Id="R7642df01a0c84b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214b3beac43a3" /><Relationship Type="http://schemas.openxmlformats.org/officeDocument/2006/relationships/notesMaster" Target="/ppt/notesMasters/notesMaster1.xml" Id="R7cb32d7de65b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7f13213b374fdc" /><Relationship Type="http://schemas.openxmlformats.org/officeDocument/2006/relationships/notesMaster" Target="/ppt/notesMasters/notesMaster1.xml" Id="Rac8183db20e2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0aadc358b343e1" /><Relationship Type="http://schemas.openxmlformats.org/officeDocument/2006/relationships/notesMaster" Target="/ppt/notesMasters/notesMaster1.xml" Id="R1818c57028a14d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c22f14fd54e6e" /><Relationship Type="http://schemas.openxmlformats.org/officeDocument/2006/relationships/notesMaster" Target="/ppt/notesMasters/notesMaster1.xml" Id="R5b34b230ba914c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4aa852b2974768" /><Relationship Type="http://schemas.openxmlformats.org/officeDocument/2006/relationships/notesMaster" Target="/ppt/notesMasters/notesMaster1.xml" Id="Redbb78a4ee8c48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a66b3471e14539" /><Relationship Type="http://schemas.openxmlformats.org/officeDocument/2006/relationships/notesMaster" Target="/ppt/notesMasters/notesMaster1.xml" Id="R0bdf54ce28ec40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f9636671db47e7" /><Relationship Type="http://schemas.openxmlformats.org/officeDocument/2006/relationships/notesMaster" Target="/ppt/notesMasters/notesMaster1.xml" Id="R3709d589d92647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e4fafcd5af46ec" /><Relationship Type="http://schemas.openxmlformats.org/officeDocument/2006/relationships/notesMaster" Target="/ppt/notesMasters/notesMaster1.xml" Id="R100ed5c14ca54d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c2ae2e040743c4" /><Relationship Type="http://schemas.openxmlformats.org/officeDocument/2006/relationships/notesMaster" Target="/ppt/notesMasters/notesMaster1.xml" Id="R8c5873b668534a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1101bba8104c52" /><Relationship Type="http://schemas.openxmlformats.org/officeDocument/2006/relationships/notesMaster" Target="/ppt/notesMasters/notesMaster1.xml" Id="Rbd1f7c0e14b146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42c7969fb04389" /><Relationship Type="http://schemas.openxmlformats.org/officeDocument/2006/relationships/notesMaster" Target="/ppt/notesMasters/notesMaster1.xml" Id="R29fe34bfd7274f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4de7565594b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23200770c364a00" /><Relationship Type="http://schemas.openxmlformats.org/officeDocument/2006/relationships/slideLayout" Target="/ppt/slideLayouts/slideLayout2.xml" Id="Rbc194cc475ad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94cc475ad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7ac13e3924ad6" /><Relationship Type="http://schemas.openxmlformats.org/officeDocument/2006/relationships/notesSlide" Target="/ppt/notesSlides/notesSlide1.xml" Id="Ree80b1a8ee3d4c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c91d2b25a4fab" /><Relationship Type="http://schemas.openxmlformats.org/officeDocument/2006/relationships/notesSlide" Target="/ppt/notesSlides/notesSlide2.xml" Id="Rc419d6379eec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05b1d10c65445a" /><Relationship Type="http://schemas.openxmlformats.org/officeDocument/2006/relationships/notesSlide" Target="/ppt/notesSlides/notesSlide3.xml" Id="R7ad9d6dd5f87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0eea96e4ea491e" /><Relationship Type="http://schemas.openxmlformats.org/officeDocument/2006/relationships/notesSlide" Target="/ppt/notesSlides/notesSlide4.xml" Id="R9690010c08db44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31d2ea2f2746d4" /><Relationship Type="http://schemas.openxmlformats.org/officeDocument/2006/relationships/notesSlide" Target="/ppt/notesSlides/notesSlide5.xml" Id="R02658bc3369a40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02cf5a9964c54" /><Relationship Type="http://schemas.openxmlformats.org/officeDocument/2006/relationships/notesSlide" Target="/ppt/notesSlides/notesSlide6.xml" Id="R8338dfb525dc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269620565749b5" /><Relationship Type="http://schemas.openxmlformats.org/officeDocument/2006/relationships/notesSlide" Target="/ppt/notesSlides/notesSlide7.xml" Id="Rd784262eff8340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0d31064c0e448a" /><Relationship Type="http://schemas.openxmlformats.org/officeDocument/2006/relationships/notesSlide" Target="/ppt/notesSlides/notesSlide8.xml" Id="R2a14e773a7dc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72c6fe7ffb42a9" /><Relationship Type="http://schemas.openxmlformats.org/officeDocument/2006/relationships/notesSlide" Target="/ppt/notesSlides/notesSlide9.xml" Id="R184ea1c534e8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994e060acb460a" /><Relationship Type="http://schemas.openxmlformats.org/officeDocument/2006/relationships/notesSlide" Target="/ppt/notesSlides/notesSlide10.xml" Id="R4ba8fc7baf194a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c20cc61a64414e" /><Relationship Type="http://schemas.openxmlformats.org/officeDocument/2006/relationships/notesSlide" Target="/ppt/notesSlides/notesSlide11.xml" Id="Ra4d55ea5892b4d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072054df84f45" /><Relationship Type="http://schemas.openxmlformats.org/officeDocument/2006/relationships/notesSlide" Target="/ppt/notesSlides/notesSlide12.xml" Id="R49dff38a243140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362761c0e4817" /><Relationship Type="http://schemas.openxmlformats.org/officeDocument/2006/relationships/notesSlide" Target="/ppt/notesSlides/notesSlide13.xml" Id="R54f2d0ab4da446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6075048b94e5e" /><Relationship Type="http://schemas.openxmlformats.org/officeDocument/2006/relationships/notesSlide" Target="/ppt/notesSlides/notesSlide14.xml" Id="Rb740f0cb5b4c4f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b16a55d974292" /><Relationship Type="http://schemas.openxmlformats.org/officeDocument/2006/relationships/notesSlide" Target="/ppt/notesSlides/notesSlide15.xml" Id="Re0cb482c97f84a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aadc67a2f494f" /><Relationship Type="http://schemas.openxmlformats.org/officeDocument/2006/relationships/notesSlide" Target="/ppt/notesSlides/notesSlide16.xml" Id="R8953b185567249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07c697cb6c4a24" /><Relationship Type="http://schemas.openxmlformats.org/officeDocument/2006/relationships/notesSlide" Target="/ppt/notesSlides/notesSlide17.xml" Id="Rd53dd73240f744c6" /></Relationships>
</file>

<file path=ppt/slides/_rels/slide18.xml.rels><?xml version="1.0" encoding="UTF-8" standalone="yes"?>
<Relationships xmlns="http://schemas.openxmlformats.org/package/2006/relationships">
  <Relationship Type="http://schemas.openxmlformats.org/officeDocument/2006/relationships/slideLayout" Target="/ppt/slideLayouts/slideLayout2.xml" Id="rIdLayout"/>
  <Relationship Type="http://schemas.openxmlformats.org/officeDocument/2006/relationships/image" Target="../media/streamlit_estaciones.png" Id="rIdImg1"/>
  <Relationship Type="http://schemas.openxmlformats.org/officeDocument/2006/relationships/image" Target="../media/streamlit_resultados.png" Id="rIdImg2"/>
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8F193B5-EFC3-4C4D-8F71-0E161FC2861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35B951ED-82DE-4937-B223-4E2301F6422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447675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B207C671-7306-4AF7-9413-388ECDC24C25}"/>
              </a:ext>
            </a:extLst>
          </ns0:cNvPr>
          <ns0:cNvSpPr>
            <a:spLocks noGrp="1"/>
          </ns0:cNvSpPr>
          <ns0:nvPr/>
        </ns0:nvSpPr>
        <ns0:spPr>
          <a:xfrm>
            <a:off x="4476750" y="0"/>
            <a:ext cx="171450" cy="6858000"/>
          </a:xfrm>
          <a:prstGeom prst="rect">
            <a:avLst/>
          </a:prstGeom>
          <a:solidFill>
            <a:srgbClr val="D8A23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D4A797DD-9ABE-44D5-AF51-2AC058A2FEE2}"/>
              </a:ext>
            </a:extLst>
          </ns0:cNvPr>
          <ns0:cNvSpPr>
            <a:spLocks noGrp="1"/>
          </ns0:cNvSpPr>
          <ns0:nvPr/>
        </ns0:nvSpPr>
        <ns0:spPr>
          <a:xfrm>
            <a:off x="609600" y="5524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50" b="1">
                <a:solidFill>
                  <a:srgbClr val="E8F2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F2E2"/>
                </a:solidFill>
                <a:latin typeface="Aptos"/>
                <a:ea typeface="Aptos"/>
                <a:cs typeface="Aptos"/>
              </a:rPr>
              <a:t>Proyecto intermodular / TFG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71CD1083-5316-42C6-A298-E01DC5323A46}"/>
              </a:ext>
            </a:extLst>
          </ns0:cNvPr>
          <ns0:cNvSpPr>
            <a:spLocks noGrp="1"/>
          </ns0:cNvSpPr>
          <ns0:nvPr/>
        </ns0:nvSpPr>
        <ns0:spPr>
          <a:xfrm>
            <a:off x="609600" y="1295400"/>
            <a:ext cx="3810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Sistema predictivo de</a:t>
            </a:r>
          </a:p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recomendación de riego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F96BE550-B2AE-44FC-A1FA-B45B82159411}"/>
              </a:ext>
            </a:extLst>
          </ns0:cNvPr>
          <ns0:cNvSpPr>
            <a:spLocks noGrp="1"/>
          </ns0:cNvSpPr>
          <ns0:nvPr/>
        </ns0:nvSpPr>
        <ns0:spPr>
          <a:xfrm>
            <a:off x="609600" y="3048000"/>
            <a:ext cx="3714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E8F2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2E2"/>
                </a:solidFill>
                <a:latin typeface="Aptos"/>
                <a:ea typeface="Aptos"/>
                <a:cs typeface="Aptos"/>
              </a:rPr>
              <a:t>AEMET, variables de cultivo y Machine Learning aplicados a la agricultura de precisión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2035C4F-CFAD-4689-8763-FEBA164A8DD6}"/>
              </a:ext>
            </a:extLst>
          </ns0:cNvPr>
          <ns0:cNvSpPr>
            <a:spLocks noGrp="1"/>
          </ns0:cNvSpPr>
          <ns0:nvPr/>
        </ns0:nvSpPr>
        <ns0:spPr>
          <a:xfrm>
            <a:off x="609600" y="4476750"/>
            <a:ext cx="1047750" cy="323850"/>
          </a:xfrm>
          <a:prstGeom prst="rect">
            <a:avLst/>
          </a:prstGeom>
          <a:solidFill>
            <a:srgbClr val="2F5E8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93BFA050-44FB-4A9B-8E5F-E77DB4F06B77}"/>
              </a:ext>
            </a:extLst>
          </ns0:cNvPr>
          <ns0:cNvSpPr>
            <a:spLocks noGrp="1"/>
          </ns0:cNvSpPr>
          <ns0:nvPr/>
        </ns0:nvSpPr>
        <ns0:spPr>
          <a:xfrm>
            <a:off x="704850" y="454342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Olivar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050FB7C1-0998-4927-BC78-B3EEC479707C}"/>
              </a:ext>
            </a:extLst>
          </ns0:cNvPr>
          <ns0:cNvSpPr>
            <a:spLocks noGrp="1"/>
          </ns0:cNvSpPr>
          <ns0:nvPr/>
        </ns0:nvSpPr>
        <ns0:spPr>
          <a:xfrm>
            <a:off x="1790700" y="4476750"/>
            <a:ext cx="1143000" cy="3238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72925BEB-CB8F-4BDC-AB51-A00E4F54E415}"/>
              </a:ext>
            </a:extLst>
          </ns0:cNvPr>
          <ns0:cNvSpPr>
            <a:spLocks noGrp="1"/>
          </ns0:cNvSpPr>
          <ns0:nvPr/>
        </ns0:nvSpPr>
        <ns0:spPr>
          <a:xfrm>
            <a:off x="1885950" y="4543425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Cítricos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ACC33AB4-2BAF-48F5-BED2-53341011E69C}"/>
              </a:ext>
            </a:extLst>
          </ns0:cNvPr>
          <ns0:cNvSpPr>
            <a:spLocks noGrp="1"/>
          </ns0:cNvSpPr>
          <ns0:nvPr/>
        </ns0:nvSpPr>
        <ns0:spPr>
          <a:xfrm>
            <a:off x="3067050" y="4476750"/>
            <a:ext cx="1238250" cy="323850"/>
          </a:xfrm>
          <a:prstGeom prst="rect">
            <a:avLst/>
          </a:prstGeom>
          <a:solidFill>
            <a:srgbClr val="D8A23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B533EEAC-881A-422F-8BFE-BDCC1696DABE}"/>
              </a:ext>
            </a:extLst>
          </ns0:cNvPr>
          <ns0:cNvSpPr>
            <a:spLocks noGrp="1"/>
          </ns0:cNvSpPr>
          <ns0:nvPr/>
        </ns0:nvSpPr>
        <ns0:spPr>
          <a:xfrm>
            <a:off x="3162300" y="45434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Almendro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A9A435BD-0ED3-40E9-81B1-02E704724A98}"/>
              </a:ext>
            </a:extLst>
          </ns0:cNvPr>
          <ns0:cNvSpPr>
            <a:spLocks noGrp="1"/>
          </ns0:cNvSpPr>
          <ns0:nvPr/>
        </ns0:nvSpPr>
        <ns0:spPr>
          <a:xfrm>
            <a:off x="7334250" y="1123950"/>
            <a:ext cx="3429000" cy="3429000"/>
          </a:xfrm>
          <a:prstGeom prst="rect">
            <a:avLst/>
          </a:prstGeom>
          <a:solidFill>
            <a:srgbClr val="172530"/>
          </a:solidFill>
          <a:ln w="9525">
            <a:solidFill>
              <a:srgbClr val="334C55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84E4D6F7-0F0A-45E2-A4E3-4CDD10484E97}"/>
              </a:ext>
            </a:extLst>
          </ns0:cNvPr>
          <ns0:cNvSpPr>
            <a:spLocks noGrp="1"/>
          </ns0:cNvSpPr>
          <ns0:nvPr/>
        </ns0:nvSpPr>
        <ns0:spPr>
          <a:xfrm>
            <a:off x="7810500" y="169545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localización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clima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cultivo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superficie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CF0CD300-56EC-471C-B6B4-2E7D695DFE5C}"/>
              </a:ext>
            </a:extLst>
          </ns0:cNvPr>
          <ns0:cNvSpPr>
            <a:spLocks noGrp="1"/>
          </ns0:cNvSpPr>
          <ns0:nvPr/>
        </ns0:nvSpPr>
        <ns0:spPr>
          <a:xfrm>
            <a:off x="8382000" y="4133850"/>
            <a:ext cx="1123950" cy="66675"/>
          </a:xfrm>
          <a:prstGeom prst="rect">
            <a:avLst/>
          </a:prstGeom>
          <a:solidFill>
            <a:srgbClr val="D8A23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8FEF6367-7C88-49CF-AD9D-B8CFB796B065}"/>
              </a:ext>
            </a:extLst>
          </ns0:cNvPr>
          <ns0:cNvSpPr>
            <a:spLocks noGrp="1"/>
          </ns0:cNvSpPr>
          <ns0:nvPr/>
        </ns0:nvSpPr>
        <ns0:spPr>
          <a:xfrm>
            <a:off x="7667625" y="43434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350" b="0">
                <a:solidFill>
                  <a:srgbClr val="DCEA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AD8"/>
                </a:solidFill>
                <a:latin typeface="Aptos"/>
                <a:ea typeface="Aptos"/>
                <a:cs typeface="Aptos"/>
              </a:rPr>
              <a:t>recomendación de agua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36A7A19D-90F4-4C05-A2C7-4D96259818CE}"/>
              </a:ext>
            </a:extLst>
          </ns0:cNvPr>
          <ns0:cNvSpPr>
            <a:spLocks noGrp="1"/>
          </ns0:cNvSpPr>
          <ns0:nvPr/>
        </ns0:nvSpPr>
        <ns0:spPr>
          <a:xfrm>
            <a:off x="609600" y="6191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E8F2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8F2E2"/>
                </a:solidFill>
                <a:latin typeface="Aptos"/>
                <a:ea typeface="Aptos"/>
                <a:cs typeface="Aptos"/>
              </a:rPr>
              <a:t>Román Maeztu</a:t>
            </a:r>
          </a:p>
        </ns0:txBody>
      </ns0:sp>
    </ns0:spTree>
    <ns0:extLst>
      <ns0:ext uri="{BB962C8B-B14F-4D97-AF65-F5344CB8AC3E}">
        <ns3:creationId val="354841440"/>
      </ns0:ext>
    </ns0:extLst>
  </ns0:cSld>
</ns0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9E6DD7D-907F-4E28-BD23-4A858DCF3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DBDD1EAD-63FB-422F-8E5C-60AE2A45EF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E4EF68B7-08F9-4C3E-9C03-989E8DE8932D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" name="">
            <a:extLst>
              <a:ext uri="{FF2B5EF4-FFF2-40B4-BE49-F238E27FC236}">
                <ns2:creationId id="{9605A800-13B0-46B6-B6FE-EE7E9239B9B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ESTRUCTURA DEL PROYECTO</a:t>
            </a:r>
          </a:p>
        </p:txBody>
      </p:sp>
      <p:sp>
        <p:nvSpPr>
          <p:cNvPr id="5" name="">
            <a:extLst>
              <a:ext uri="{FF2B5EF4-FFF2-40B4-BE49-F238E27FC236}">
                <ns2:creationId id="{828E25D4-9703-4564-ACB6-0DD10398097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solución se presenta como una cadena verificable de datos, cálculo y recomendación.</a:t>
            </a:r>
          </a:p>
        </p:txBody>
      </p:sp>
      <p:sp>
        <p:nvSpPr>
          <p:cNvPr id="6" name="">
            <a:extLst>
              <a:ext uri="{FF2B5EF4-FFF2-40B4-BE49-F238E27FC236}">
                <ns2:creationId id="{B196B726-D73B-41CB-910A-756527475B8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Cada bloque aporta una evidencia concreta de la utilidad técnica del prototipo.</a:t>
            </a:r>
          </a:p>
        </p:txBody>
      </p:sp>
      <p:sp>
        <p:nvSpPr>
          <p:cNvPr id="7" name="">
            <a:extLst>
              <a:ext uri="{FF2B5EF4-FFF2-40B4-BE49-F238E27FC236}">
                <ns2:creationId id="{41A14CE2-3203-408E-8F11-F0DB94ADD97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82596AA-8B9B-4743-976B-E34A7E30AEA3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>
              <a:ext uri="{FF2B5EF4-FFF2-40B4-BE49-F238E27FC236}">
                <ns2:creationId id="{CBF4662F-20FC-456D-97D1-B18418375B12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0" name="">
            <a:extLst>
              <a:ext uri="{FF2B5EF4-FFF2-40B4-BE49-F238E27FC236}">
                <ns2:creationId id="{9B5CF89E-FF36-4137-9EB4-CD8E5697B5E6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Escasez hídrica y riesgo agronómico</a:t>
            </a:r>
          </a:p>
        </p:txBody>
      </p:sp>
      <p:sp>
        <p:nvSpPr>
          <p:cNvPr id="11" name="">
            <a:extLst>
              <a:ext uri="{FF2B5EF4-FFF2-40B4-BE49-F238E27FC236}">
                <ns2:creationId id="{C6241369-7382-45F7-95CD-A38400BD6808}"/>
              </a:ext>
            </a:extLst>
          </p:cNvPr>
          <p:cNvSpPr>
            <a:spLocks noGrp="1"/>
          </p:cNvSpPr>
          <p:nvPr/>
        </p:nvSpPr>
        <p:spPr>
          <a:xfrm>
            <a:off x="201930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50ACF1C2-348C-48AD-8B6A-9318A7BEE2AE}"/>
              </a:ext>
            </a:extLst>
          </p:cNvPr>
          <p:cNvSpPr>
            <a:spLocks noGrp="1"/>
          </p:cNvSpPr>
          <p:nvPr/>
        </p:nvSpPr>
        <p:spPr>
          <a:xfrm>
            <a:off x="225742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899939F5-307C-4204-9B00-5DF3A4CC60C6}"/>
              </a:ext>
            </a:extLst>
          </p:cNvPr>
          <p:cNvSpPr>
            <a:spLocks noGrp="1"/>
          </p:cNvSpPr>
          <p:nvPr/>
        </p:nvSpPr>
        <p:spPr>
          <a:xfrm>
            <a:off x="242887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>
              <a:ext uri="{FF2B5EF4-FFF2-40B4-BE49-F238E27FC236}">
                <ns2:creationId id="{6A0E16C2-B2B4-40F5-AD71-90C4B108E3F9}"/>
              </a:ext>
            </a:extLst>
          </p:cNvPr>
          <p:cNvSpPr>
            <a:spLocks noGrp="1"/>
          </p:cNvSpPr>
          <p:nvPr/>
        </p:nvSpPr>
        <p:spPr>
          <a:xfrm>
            <a:off x="242887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15" name="">
            <a:extLst>
              <a:ext uri="{FF2B5EF4-FFF2-40B4-BE49-F238E27FC236}">
                <ns2:creationId id="{053DFD05-95BA-4327-8C5C-995DE7E74265}"/>
              </a:ext>
            </a:extLst>
          </p:cNvPr>
          <p:cNvSpPr>
            <a:spLocks noGrp="1"/>
          </p:cNvSpPr>
          <p:nvPr/>
        </p:nvSpPr>
        <p:spPr>
          <a:xfrm>
            <a:off x="242887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Alcance y entregables</a:t>
            </a:r>
          </a:p>
        </p:txBody>
      </p:sp>
      <p:sp>
        <p:nvSpPr>
          <p:cNvPr id="16" name="">
            <a:extLst>
              <a:ext uri="{FF2B5EF4-FFF2-40B4-BE49-F238E27FC236}">
                <ns2:creationId id="{A2D4E873-769A-4EE9-B8D8-0798F1167104}"/>
              </a:ext>
            </a:extLst>
          </p:cNvPr>
          <p:cNvSpPr>
            <a:spLocks noGrp="1"/>
          </p:cNvSpPr>
          <p:nvPr/>
        </p:nvSpPr>
        <p:spPr>
          <a:xfrm>
            <a:off x="359092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7215E25-1DBC-4B11-8E8E-86186F64C6C9}"/>
              </a:ext>
            </a:extLst>
          </p:cNvPr>
          <p:cNvSpPr>
            <a:spLocks noGrp="1"/>
          </p:cNvSpPr>
          <p:nvPr/>
        </p:nvSpPr>
        <p:spPr>
          <a:xfrm>
            <a:off x="382905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2289A2B2-0D43-40A4-9C9D-2EEECE939D06}"/>
              </a:ext>
            </a:extLst>
          </p:cNvPr>
          <p:cNvSpPr>
            <a:spLocks noGrp="1"/>
          </p:cNvSpPr>
          <p:nvPr/>
        </p:nvSpPr>
        <p:spPr>
          <a:xfrm>
            <a:off x="400050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>
              <a:ext uri="{FF2B5EF4-FFF2-40B4-BE49-F238E27FC236}">
                <ns2:creationId id="{427650DF-FFB4-40AE-A474-2AFF8CE3DE40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20" name="">
            <a:extLst>
              <a:ext uri="{FF2B5EF4-FFF2-40B4-BE49-F238E27FC236}">
                <ns2:creationId id="{2DA5AE64-51AF-40E2-BB85-12C1C91AFAF6}"/>
              </a:ext>
            </a:extLst>
          </p:cNvPr>
          <p:cNvSpPr>
            <a:spLocks noGrp="1"/>
          </p:cNvSpPr>
          <p:nvPr/>
        </p:nvSpPr>
        <p:spPr>
          <a:xfrm>
            <a:off x="400050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AEMET y variables necesarias</a:t>
            </a:r>
          </a:p>
        </p:txBody>
      </p:sp>
      <p:sp>
        <p:nvSpPr>
          <p:cNvPr id="21" name="">
            <a:extLst>
              <a:ext uri="{FF2B5EF4-FFF2-40B4-BE49-F238E27FC236}">
                <ns2:creationId id="{17DDAC95-5B24-4A22-9FB2-30269740FC3E}"/>
              </a:ext>
            </a:extLst>
          </p:cNvPr>
          <p:cNvSpPr>
            <a:spLocks noGrp="1"/>
          </p:cNvSpPr>
          <p:nvPr/>
        </p:nvSpPr>
        <p:spPr>
          <a:xfrm>
            <a:off x="516255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8534A2C-773F-4BAD-9272-97C344585525}"/>
              </a:ext>
            </a:extLst>
          </p:cNvPr>
          <p:cNvSpPr>
            <a:spLocks noGrp="1"/>
          </p:cNvSpPr>
          <p:nvPr/>
        </p:nvSpPr>
        <p:spPr>
          <a:xfrm>
            <a:off x="540067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3FE368C0-132A-4826-BF60-3732F66D13AD}"/>
              </a:ext>
            </a:extLst>
          </p:cNvPr>
          <p:cNvSpPr>
            <a:spLocks noGrp="1"/>
          </p:cNvSpPr>
          <p:nvPr/>
        </p:nvSpPr>
        <p:spPr>
          <a:xfrm>
            <a:off x="557212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8A23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>
              <a:ext uri="{FF2B5EF4-FFF2-40B4-BE49-F238E27FC236}">
                <ns2:creationId id="{3E0B8B76-7682-444D-A49E-D917D35A73F8}"/>
              </a:ext>
            </a:extLst>
          </p:cNvPr>
          <p:cNvSpPr>
            <a:spLocks noGrp="1"/>
          </p:cNvSpPr>
          <p:nvPr/>
        </p:nvSpPr>
        <p:spPr>
          <a:xfrm>
            <a:off x="557212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Cálculo</a:t>
            </a:r>
          </a:p>
        </p:txBody>
      </p:sp>
      <p:sp>
        <p:nvSpPr>
          <p:cNvPr id="25" name="">
            <a:extLst>
              <a:ext uri="{FF2B5EF4-FFF2-40B4-BE49-F238E27FC236}">
                <ns2:creationId id="{E785D733-F189-47B5-B4A4-4C21057B7984}"/>
              </a:ext>
            </a:extLst>
          </p:cNvPr>
          <p:cNvSpPr>
            <a:spLocks noGrp="1"/>
          </p:cNvSpPr>
          <p:nvPr/>
        </p:nvSpPr>
        <p:spPr>
          <a:xfrm>
            <a:off x="557212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ET0, Kc, lluvia y eficiencia</a:t>
            </a:r>
          </a:p>
        </p:txBody>
      </p:sp>
      <p:sp>
        <p:nvSpPr>
          <p:cNvPr id="26" name="">
            <a:extLst>
              <a:ext uri="{FF2B5EF4-FFF2-40B4-BE49-F238E27FC236}">
                <ns2:creationId id="{754E36CE-4318-4BD2-89BA-51B42EF592F0}"/>
              </a:ext>
            </a:extLst>
          </p:cNvPr>
          <p:cNvSpPr>
            <a:spLocks noGrp="1"/>
          </p:cNvSpPr>
          <p:nvPr/>
        </p:nvSpPr>
        <p:spPr>
          <a:xfrm>
            <a:off x="673417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A18F73B-AB4B-4770-8769-8B0C1A44C640}"/>
              </a:ext>
            </a:extLst>
          </p:cNvPr>
          <p:cNvSpPr>
            <a:spLocks noGrp="1"/>
          </p:cNvSpPr>
          <p:nvPr/>
        </p:nvSpPr>
        <p:spPr>
          <a:xfrm>
            <a:off x="697230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50B09612-A482-47F1-A4DF-6FF8124D0758}"/>
              </a:ext>
            </a:extLst>
          </p:cNvPr>
          <p:cNvSpPr>
            <a:spLocks noGrp="1"/>
          </p:cNvSpPr>
          <p:nvPr/>
        </p:nvSpPr>
        <p:spPr>
          <a:xfrm>
            <a:off x="714375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9" name="">
            <a:extLst>
              <a:ext uri="{FF2B5EF4-FFF2-40B4-BE49-F238E27FC236}">
                <ns2:creationId id="{A9ECEE2D-B2E9-4D4C-BCBD-CD414A6CDCCE}"/>
              </a:ext>
            </a:extLst>
          </p:cNvPr>
          <p:cNvSpPr>
            <a:spLocks noGrp="1"/>
          </p:cNvSpPr>
          <p:nvPr/>
        </p:nvSpPr>
        <p:spPr>
          <a:xfrm>
            <a:off x="714375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0" name="">
            <a:extLst>
              <a:ext uri="{FF2B5EF4-FFF2-40B4-BE49-F238E27FC236}">
                <ns2:creationId id="{8BF0CFFC-0B1E-45EB-ACF3-78DAD20B76D8}"/>
              </a:ext>
            </a:extLst>
          </p:cNvPr>
          <p:cNvSpPr>
            <a:spLocks noGrp="1"/>
          </p:cNvSpPr>
          <p:nvPr/>
        </p:nvSpPr>
        <p:spPr>
          <a:xfrm>
            <a:off x="714375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Predicción supervisada</a:t>
            </a:r>
          </a:p>
        </p:txBody>
      </p:sp>
      <p:sp>
        <p:nvSpPr>
          <p:cNvPr id="31" name="">
            <a:extLst>
              <a:ext uri="{FF2B5EF4-FFF2-40B4-BE49-F238E27FC236}">
                <ns2:creationId id="{DA5798EE-4E9F-4E72-81DF-22F48F519F7E}"/>
              </a:ext>
            </a:extLst>
          </p:cNvPr>
          <p:cNvSpPr>
            <a:spLocks noGrp="1"/>
          </p:cNvSpPr>
          <p:nvPr/>
        </p:nvSpPr>
        <p:spPr>
          <a:xfrm>
            <a:off x="830580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CCECEF96-CFB5-403B-84AD-D4A50C474436}"/>
              </a:ext>
            </a:extLst>
          </p:cNvPr>
          <p:cNvSpPr>
            <a:spLocks noGrp="1"/>
          </p:cNvSpPr>
          <p:nvPr/>
        </p:nvSpPr>
        <p:spPr>
          <a:xfrm>
            <a:off x="854392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653B892C-584B-45E9-8E0B-CC5E2A1556A4}"/>
              </a:ext>
            </a:extLst>
          </p:cNvPr>
          <p:cNvSpPr>
            <a:spLocks noGrp="1"/>
          </p:cNvSpPr>
          <p:nvPr/>
        </p:nvSpPr>
        <p:spPr>
          <a:xfrm>
            <a:off x="871537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4" name="">
            <a:extLst>
              <a:ext uri="{FF2B5EF4-FFF2-40B4-BE49-F238E27FC236}">
                <ns2:creationId id="{3A0B8779-F5F7-464A-BE64-E9BDE3224669}"/>
              </a:ext>
            </a:extLst>
          </p:cNvPr>
          <p:cNvSpPr>
            <a:spLocks noGrp="1"/>
          </p:cNvSpPr>
          <p:nvPr/>
        </p:nvSpPr>
        <p:spPr>
          <a:xfrm>
            <a:off x="871537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5" name="">
            <a:extLst>
              <a:ext uri="{FF2B5EF4-FFF2-40B4-BE49-F238E27FC236}">
                <ns2:creationId id="{FCC73C56-E26B-4140-8CDB-8AEB0E5BDAF6}"/>
              </a:ext>
            </a:extLst>
          </p:cNvPr>
          <p:cNvSpPr>
            <a:spLocks noGrp="1"/>
          </p:cNvSpPr>
          <p:nvPr/>
        </p:nvSpPr>
        <p:spPr>
          <a:xfrm>
            <a:off x="871537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Validación funcional</a:t>
            </a:r>
          </a:p>
        </p:txBody>
      </p:sp>
      <p:sp>
        <p:nvSpPr>
          <p:cNvPr id="36" name="">
            <a:extLst>
              <a:ext uri="{FF2B5EF4-FFF2-40B4-BE49-F238E27FC236}">
                <ns2:creationId id="{D1F3BD5D-3A6C-48D7-B43D-92E4A55B983A}"/>
              </a:ext>
            </a:extLst>
          </p:cNvPr>
          <p:cNvSpPr>
            <a:spLocks noGrp="1"/>
          </p:cNvSpPr>
          <p:nvPr/>
        </p:nvSpPr>
        <p:spPr>
          <a:xfrm>
            <a:off x="987742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8799E1CE-C13F-49FD-89F3-3323150CD196}"/>
              </a:ext>
            </a:extLst>
          </p:cNvPr>
          <p:cNvSpPr>
            <a:spLocks noGrp="1"/>
          </p:cNvSpPr>
          <p:nvPr/>
        </p:nvSpPr>
        <p:spPr>
          <a:xfrm>
            <a:off x="1011555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7E31576D-3062-49F2-9F9A-D69F8F0FB739}"/>
              </a:ext>
            </a:extLst>
          </p:cNvPr>
          <p:cNvSpPr>
            <a:spLocks noGrp="1"/>
          </p:cNvSpPr>
          <p:nvPr/>
        </p:nvSpPr>
        <p:spPr>
          <a:xfrm>
            <a:off x="1028700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9" name="">
            <a:extLst>
              <a:ext uri="{FF2B5EF4-FFF2-40B4-BE49-F238E27FC236}">
                <ns2:creationId id="{3770E0E0-45DA-4360-A249-030C4C23ABB4}"/>
              </a:ext>
            </a:extLst>
          </p:cNvPr>
          <p:cNvSpPr>
            <a:spLocks noGrp="1"/>
          </p:cNvSpPr>
          <p:nvPr/>
        </p:nvSpPr>
        <p:spPr>
          <a:xfrm>
            <a:off x="1028700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0" name="">
            <a:extLst>
              <a:ext uri="{FF2B5EF4-FFF2-40B4-BE49-F238E27FC236}">
                <ns2:creationId id="{F020357B-8753-40FE-981A-E97AAC5B75C5}"/>
              </a:ext>
            </a:extLst>
          </p:cNvPr>
          <p:cNvSpPr>
            <a:spLocks noGrp="1"/>
          </p:cNvSpPr>
          <p:nvPr/>
        </p:nvSpPr>
        <p:spPr>
          <a:xfrm>
            <a:off x="1028700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Limitaciones y evolución</a:t>
            </a:r>
          </a:p>
        </p:txBody>
      </p:sp>
      <p:sp>
        <p:nvSpPr>
          <p:cNvPr id="41" name="">
            <a:extLst>
              <a:ext uri="{FF2B5EF4-FFF2-40B4-BE49-F238E27FC236}">
                <ns2:creationId id="{66311C14-91EA-47B3-8C37-3A8ED193CE6D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9858375" cy="7810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DD0B8517-2EE3-4938-982E-BDC7FCB78146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923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objetivo es transformar datos meteorológicos oficiales y parámetros de cultivo en una recomendación clara de agua para una parcela.</a:t>
            </a:r>
          </a:p>
        </p:txBody>
      </p:sp>
    </p:spTree>
    <p:extLst>
      <p:ext uri="{BB962C8B-B14F-4D97-AF65-F5344CB8AC3E}">
        <ns3:creationId val="404407798"/>
      </p:ext>
    </p:extLst>
  </p:cSld>
</p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7D07839-4C70-4378-9D80-CD046A976FD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67C54D9-A4F9-416F-BE13-F7A7DE1FF0D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408C1C53-A8B7-4EBB-B39A-D53C8B37287F}"/>
              </a:ext>
            </a:extLst>
          </ns0:cNvPr>
          <ns0:cNvSpPr>
            <a:spLocks noGrp="1"/>
          </ns0:cNvSpPr>
          <ns0:nvPr/>
        </ns0:nvSpPr>
        <ns0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03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D6EA42D4-74C7-4459-B524-34AE71A19700}"/>
              </a:ext>
            </a:extLst>
          </ns0:cNvPr>
          <ns0:cNvSpPr>
            <a:spLocks noGrp="1"/>
          </ns0:cNvSpPr>
          <ns0:nvPr/>
        </ns0:nvSpPr>
        <ns0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PROBLEMA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B5C5C70-6E27-4DA3-88A1-9F43A4E5E658}"/>
              </a:ext>
            </a:extLst>
          </ns0:cNvPr>
          <ns0:cNvSpPr>
            <a:spLocks noGrp="1"/>
          </ns0:cNvSpPr>
          <ns0:nvPr/>
        </ns0:nvSpPr>
        <ns0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decisión de riego necesita pasar de la intuición a una recomendación trazable.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F1890697-6280-47B0-95D0-1AEAD1DE6FEE}"/>
              </a:ext>
            </a:extLst>
          </ns0:cNvPr>
          <ns0:cNvSpPr>
            <a:spLocks noGrp="1"/>
          </ns0:cNvSpPr>
          <ns0:nvPr/>
        </ns0:nvSpPr>
        <ns0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En escenarios de sequía, tanto el exceso como el defecto de riego generan pérdidas técnicas y económicas.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8A1F30B6-615E-4832-86B3-054FDB99039E}"/>
              </a:ext>
            </a:extLst>
          </ns0:cNvPr>
          <ns0:cNvSpPr>
            <a:spLocks noGrp="1"/>
          </ns0:cNvSpPr>
          <ns0:nvPr/>
        </ns0:nvSpPr>
        <ns0:spPr>
          <a:xfrm>
            <a:off x="685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571DE7B3-E376-4DB6-938D-FBF27144FCE7}"/>
              </a:ext>
            </a:extLst>
          </ns0:cNvPr>
          <ns0:cNvSpPr>
            <a:spLocks noGrp="1"/>
          </ns0:cNvSpPr>
          <ns0:nvPr/>
        </ns0:nvSpPr>
        <ns0:spPr>
          <a:xfrm>
            <a:off x="857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Escasez de agua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0DCA6437-4F6C-409B-9126-4ED98FD5E697}"/>
              </a:ext>
            </a:extLst>
          </ns0:cNvPr>
          <ns0:cNvSpPr>
            <a:spLocks noGrp="1"/>
          </ns0:cNvSpPr>
          <ns0:nvPr/>
        </ns0:nvSpPr>
        <ns0:spPr>
          <a:xfrm>
            <a:off x="857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agricultor necesita ajustar la dosis de riego sin depender de estimaciones generales.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B50679B-FF81-40AF-8A67-0E0D4A65B853}"/>
              </a:ext>
            </a:extLst>
          </ns0:cNvPr>
          <ns0:cNvSpPr>
            <a:spLocks noGrp="1"/>
          </ns0:cNvSpPr>
          <ns0:nvPr/>
        </ns0:nvSpPr>
        <ns0:spPr>
          <a:xfrm>
            <a:off x="4114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B9AF68C6-30F6-4D3C-B3A3-767F6DA7CC7C}"/>
              </a:ext>
            </a:extLst>
          </ns0:cNvPr>
          <ns0:cNvSpPr>
            <a:spLocks noGrp="1"/>
          </ns0:cNvSpPr>
          <ns0:nvPr/>
        </ns0:nvSpPr>
        <ns0:spPr>
          <a:xfrm>
            <a:off x="4286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Riesgo productivo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773F99D-B866-4C77-9212-B4867F926C1E}"/>
              </a:ext>
            </a:extLst>
          </ns0:cNvPr>
          <ns0:cNvSpPr>
            <a:spLocks noGrp="1"/>
          </ns0:cNvSpPr>
          <ns0:nvPr/>
        </ns0:nvSpPr>
        <ns0:spPr>
          <a:xfrm>
            <a:off x="4286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Regar de menos puede provocar estrés hídrico y afectar al desarrollo del cultivo.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4CE2B544-F833-481C-8EAC-792746264188}"/>
              </a:ext>
            </a:extLst>
          </ns0:cNvPr>
          <ns0:cNvSpPr>
            <a:spLocks noGrp="1"/>
          </ns0:cNvSpPr>
          <ns0:nvPr/>
        </ns0:nvSpPr>
        <ns0:spPr>
          <a:xfrm>
            <a:off x="7543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F4E0B97B-9F4C-4567-B84C-99E83B37BBE7}"/>
              </a:ext>
            </a:extLst>
          </ns0:cNvPr>
          <ns0:cNvSpPr>
            <a:spLocks noGrp="1"/>
          </ns0:cNvSpPr>
          <ns0:nvPr/>
        </ns0:nvSpPr>
        <ns0:spPr>
          <a:xfrm>
            <a:off x="7715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Ineficiencia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E4CB2088-8926-4F8D-AF6D-F27064A420EC}"/>
              </a:ext>
            </a:extLst>
          </ns0:cNvPr>
          <ns0:cNvSpPr>
            <a:spLocks noGrp="1"/>
          </ns0:cNvSpPr>
          <ns0:nvPr/>
        </ns0:nvSpPr>
        <ns0:spPr>
          <a:xfrm>
            <a:off x="7715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Regar de más incrementa coste, consumo energético y pérdida de recurso hídrico.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6ADC672E-7EF3-40DB-A0AD-68A71BF4ABE7}"/>
              </a:ext>
            </a:extLst>
          </ns0:cNvPr>
          <ns0:cNvSpPr>
            <a:spLocks noGrp="1"/>
          </ns0:cNvSpPr>
          <ns0:nvPr/>
        </ns0:nvSpPr>
        <ns0:spPr>
          <a:xfrm>
            <a:off x="685800" y="3857625"/>
            <a:ext cx="3048000" cy="1200150"/>
          </a:xfrm>
          <a:prstGeom prst="rect">
            <a:avLst/>
          </a:prstGeom>
          <a:solidFill>
            <a:srgbClr val="FFF8E8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C7AA04BD-00A9-4ECE-BED4-8A0D8BBF4830}"/>
              </a:ext>
            </a:extLst>
          </ns0:cNvPr>
          <ns0:cNvSpPr>
            <a:spLocks noGrp="1"/>
          </ns0:cNvSpPr>
          <ns0:nvPr/>
        </ns0:nvSpPr>
        <ns0:spPr>
          <a:xfrm>
            <a:off x="857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23A"/>
                </a:solidFill>
                <a:latin typeface="Aptos"/>
                <a:ea typeface="Aptos"/>
                <a:cs typeface="Aptos"/>
              </a:rPr>
              <a:t>Pregunta central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02B14B8-B762-4B16-AFD2-15190C357044}"/>
              </a:ext>
            </a:extLst>
          </ns0:cNvPr>
          <ns0:cNvSpPr>
            <a:spLocks noGrp="1"/>
          </ns0:cNvSpPr>
          <ns0:nvPr/>
        </ns0:nvSpPr>
        <ns0:spPr>
          <a:xfrm>
            <a:off x="857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Cuánta agua necesita esta parcela, con este cultivo y en este periodo climático.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88142A2A-B2BC-444A-AD7A-49D266BC3C8B}"/>
              </a:ext>
            </a:extLst>
          </ns0:cNvPr>
          <ns0:cNvSpPr>
            <a:spLocks noGrp="1"/>
          </ns0:cNvSpPr>
          <ns0:nvPr/>
        </ns0:nvSpPr>
        <ns0:spPr>
          <a:xfrm>
            <a:off x="4114800" y="3857625"/>
            <a:ext cx="3048000" cy="120015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E4EA618C-0AA2-420B-8CB3-23D538E7152D}"/>
              </a:ext>
            </a:extLst>
          </ns0:cNvPr>
          <ns0:cNvSpPr>
            <a:spLocks noGrp="1"/>
          </ns0:cNvSpPr>
          <ns0:nvPr/>
        </ns0:nvSpPr>
        <ns0:spPr>
          <a:xfrm>
            <a:off x="4286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Enfoque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0C52A192-4BD4-46ED-A21F-1D5F9C97CEB6}"/>
              </a:ext>
            </a:extLst>
          </ns0:cNvPr>
          <ns0:cNvSpPr>
            <a:spLocks noGrp="1"/>
          </ns0:cNvSpPr>
          <ns0:nvPr/>
        </ns0:nvSpPr>
        <ns0:spPr>
          <a:xfrm>
            <a:off x="4286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sistema calcula la necesidad hídrica antes de entrar en detalles de instalación.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51A18BEB-17DF-4A3C-AE46-4AA7A4789628}"/>
              </a:ext>
            </a:extLst>
          </ns0:cNvPr>
          <ns0:cNvSpPr>
            <a:spLocks noGrp="1"/>
          </ns0:cNvSpPr>
          <ns0:nvPr/>
        </ns0:nvSpPr>
        <ns0:spPr>
          <a:xfrm>
            <a:off x="7543800" y="3857625"/>
            <a:ext cx="3048000" cy="1200150"/>
          </a:xfrm>
          <a:prstGeom prst="rect">
            <a:avLst/>
          </a:prstGeom>
          <a:solidFill>
            <a:srgbClr val="EEF3F8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7EF3271F-AD29-4347-AACE-7B766655AB6A}"/>
              </a:ext>
            </a:extLst>
          </ns0:cNvPr>
          <ns0:cNvSpPr>
            <a:spLocks noGrp="1"/>
          </ns0:cNvSpPr>
          <ns0:nvPr/>
        </ns0:nvSpPr>
        <ns0:spPr>
          <a:xfrm>
            <a:off x="7715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Valor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7362200B-7995-44EF-9C19-3A90F0B0C137}"/>
              </a:ext>
            </a:extLst>
          </ns0:cNvPr>
          <ns0:cNvSpPr>
            <a:spLocks noGrp="1"/>
          </ns0:cNvSpPr>
          <ns0:nvPr/>
        </ns0:nvSpPr>
        <ns0:spPr>
          <a:xfrm>
            <a:off x="7715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La salida se expresa en litros totales, litros diarios, litros por planta y lámina de riego.</a:t>
            </a:r>
          </a:p>
        </ns0:txBody>
      </ns0:sp>
    </ns0:spTree>
    <ns0:extLst>
      <ns0:ext uri="{BB962C8B-B14F-4D97-AF65-F5344CB8AC3E}">
        <ns3:creationId val="1669820124"/>
      </ns0:ext>
    </ns0:extLst>
  </ns0:cSld>
</ns0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64002BD-813F-4523-BD1A-2C3EA13928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E097604-506F-4A0A-BF4B-E29F29137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A49C716F-D1FD-4410-BEB8-EE702FE0D20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" name="">
            <a:extLst>
              <a:ext uri="{FF2B5EF4-FFF2-40B4-BE49-F238E27FC236}">
                <ns2:creationId id="{F5B16F33-46D1-4A8F-9EBD-F62C996965C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5" name="">
            <a:extLst>
              <a:ext uri="{FF2B5EF4-FFF2-40B4-BE49-F238E27FC236}">
                <ns2:creationId id="{C4958EB8-4DB9-4E34-B06A-0F69A65A87C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escalera de objetivos conecta el problema inicial con un prototipo funcional.</a:t>
            </a:r>
          </a:p>
        </p:txBody>
      </p:sp>
      <p:sp>
        <p:nvSpPr>
          <p:cNvPr id="6" name="">
            <a:extLst>
              <a:ext uri="{FF2B5EF4-FFF2-40B4-BE49-F238E27FC236}">
                <ns2:creationId id="{06A3CD5D-5757-46D5-B84A-FCB8795315B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Los objetivos específicos se tratan como pasos obligatorios para alcanzar el objetivo general.</a:t>
            </a:r>
          </a:p>
        </p:txBody>
      </p:sp>
      <p:sp>
        <p:nvSpPr>
          <p:cNvPr id="7" name="">
            <a:extLst>
              <a:ext uri="{FF2B5EF4-FFF2-40B4-BE49-F238E27FC236}">
                <ns2:creationId id="{1C1B0E41-E14C-44D1-8F65-EA91BC92613A}"/>
              </a:ext>
            </a:extLst>
          </p:cNvPr>
          <p:cNvSpPr>
            <a:spLocks noGrp="1"/>
          </p:cNvSpPr>
          <p:nvPr/>
        </p:nvSpPr>
        <p:spPr>
          <a:xfrm>
            <a:off x="1104900" y="4572000"/>
            <a:ext cx="5857875" cy="514350"/>
          </a:xfrm>
          <a:prstGeom prst="rect">
            <a:avLst/>
          </a:prstGeom>
          <a:solidFill>
            <a:srgbClr val="83A66A"/>
          </a:solidFill>
          <a:ln w="9525">
            <a:solidFill>
              <a:srgbClr val="83A66A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C6CE3AA5-6FEB-430E-A5B5-F7629FEB817F}"/>
              </a:ext>
            </a:extLst>
          </p:cNvPr>
          <p:cNvSpPr>
            <a:spLocks noGrp="1"/>
          </p:cNvSpPr>
          <p:nvPr/>
        </p:nvSpPr>
        <p:spPr>
          <a:xfrm>
            <a:off x="1276350" y="46958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ns2:creationId id="{3B7D1CE3-FBA7-4271-81A8-0F7ED3AC8A2E}"/>
              </a:ext>
            </a:extLst>
          </p:cNvPr>
          <p:cNvSpPr>
            <a:spLocks noGrp="1"/>
          </p:cNvSpPr>
          <p:nvPr/>
        </p:nvSpPr>
        <p:spPr>
          <a:xfrm>
            <a:off x="1695450" y="4705350"/>
            <a:ext cx="500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Definir las variables climáticas, agronómicas y de parcela necesarias.</a:t>
            </a:r>
          </a:p>
        </p:txBody>
      </p:sp>
      <p:sp>
        <p:nvSpPr>
          <p:cNvPr id="10" name="">
            <a:extLst>
              <a:ext uri="{FF2B5EF4-FFF2-40B4-BE49-F238E27FC236}">
                <ns2:creationId id="{6C3A91CC-54E9-4AAF-A0B5-E3300B5977C6}"/>
              </a:ext>
            </a:extLst>
          </p:cNvPr>
          <p:cNvSpPr>
            <a:spLocks noGrp="1"/>
          </p:cNvSpPr>
          <p:nvPr/>
        </p:nvSpPr>
        <p:spPr>
          <a:xfrm>
            <a:off x="1600200" y="3867150"/>
            <a:ext cx="5857875" cy="5143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1F6649A-2E10-4450-A42C-79CDE534A076}"/>
              </a:ext>
            </a:extLst>
          </p:cNvPr>
          <p:cNvSpPr>
            <a:spLocks noGrp="1"/>
          </p:cNvSpPr>
          <p:nvPr/>
        </p:nvSpPr>
        <p:spPr>
          <a:xfrm>
            <a:off x="1771650" y="39909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>
              <a:ext uri="{FF2B5EF4-FFF2-40B4-BE49-F238E27FC236}">
                <ns2:creationId id="{E6FA131E-B0F0-4D5D-8B6A-6CE3BD3CF419}"/>
              </a:ext>
            </a:extLst>
          </p:cNvPr>
          <p:cNvSpPr>
            <a:spLocks noGrp="1"/>
          </p:cNvSpPr>
          <p:nvPr/>
        </p:nvSpPr>
        <p:spPr>
          <a:xfrm>
            <a:off x="2190750" y="4000500"/>
            <a:ext cx="500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 datos meteorológicos oficiales de AEMET o CSV cacheado.</a:t>
            </a:r>
          </a:p>
        </p:txBody>
      </p:sp>
      <p:sp>
        <p:nvSpPr>
          <p:cNvPr id="13" name="">
            <a:extLst>
              <a:ext uri="{FF2B5EF4-FFF2-40B4-BE49-F238E27FC236}">
                <ns2:creationId id="{6860B702-D34C-4E69-9A35-5E0C1D692897}"/>
              </a:ext>
            </a:extLst>
          </p:cNvPr>
          <p:cNvSpPr>
            <a:spLocks noGrp="1"/>
          </p:cNvSpPr>
          <p:nvPr/>
        </p:nvSpPr>
        <p:spPr>
          <a:xfrm>
            <a:off x="2095500" y="3162300"/>
            <a:ext cx="5857875" cy="514350"/>
          </a:xfrm>
          <a:prstGeom prst="rect">
            <a:avLst/>
          </a:prstGeom>
          <a:solidFill>
            <a:srgbClr val="2F5E88"/>
          </a:solidFill>
          <a:ln w="9525">
            <a:solidFill>
              <a:srgbClr val="2F5E88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3455A2F8-234C-4A6A-A19F-6FD3CF260213}"/>
              </a:ext>
            </a:extLst>
          </p:cNvPr>
          <p:cNvSpPr>
            <a:spLocks noGrp="1"/>
          </p:cNvSpPr>
          <p:nvPr/>
        </p:nvSpPr>
        <p:spPr>
          <a:xfrm>
            <a:off x="2266950" y="32861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>
              <a:ext uri="{FF2B5EF4-FFF2-40B4-BE49-F238E27FC236}">
                <ns2:creationId id="{C0848126-6E6E-4D45-96FE-569623A804BC}"/>
              </a:ext>
            </a:extLst>
          </p:cNvPr>
          <p:cNvSpPr>
            <a:spLocks noGrp="1"/>
          </p:cNvSpPr>
          <p:nvPr/>
        </p:nvSpPr>
        <p:spPr>
          <a:xfrm>
            <a:off x="2686050" y="3295650"/>
            <a:ext cx="500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Calcular la necesidad hídrica mediante ET0, Kc, lluvia efectiva y eficiencia.</a:t>
            </a:r>
          </a:p>
        </p:txBody>
      </p:sp>
      <p:sp>
        <p:nvSpPr>
          <p:cNvPr id="16" name="">
            <a:extLst>
              <a:ext uri="{FF2B5EF4-FFF2-40B4-BE49-F238E27FC236}">
                <ns2:creationId id="{18E3B3C2-BB57-4B9E-91BB-961EAAE0926D}"/>
              </a:ext>
            </a:extLst>
          </p:cNvPr>
          <p:cNvSpPr>
            <a:spLocks noGrp="1"/>
          </p:cNvSpPr>
          <p:nvPr/>
        </p:nvSpPr>
        <p:spPr>
          <a:xfrm>
            <a:off x="2590800" y="2457450"/>
            <a:ext cx="5857875" cy="514350"/>
          </a:xfrm>
          <a:prstGeom prst="rect">
            <a:avLst/>
          </a:prstGeom>
          <a:solidFill>
            <a:srgbClr val="C4622D"/>
          </a:solidFill>
          <a:ln w="9525">
            <a:solidFill>
              <a:srgbClr val="C4622D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650924F4-9A3C-489E-95B7-A05AC8F2F9DC}"/>
              </a:ext>
            </a:extLst>
          </p:cNvPr>
          <p:cNvSpPr>
            <a:spLocks noGrp="1"/>
          </p:cNvSpPr>
          <p:nvPr/>
        </p:nvSpPr>
        <p:spPr>
          <a:xfrm>
            <a:off x="2762250" y="25812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">
            <a:extLst>
              <a:ext uri="{FF2B5EF4-FFF2-40B4-BE49-F238E27FC236}">
                <ns2:creationId id="{AD55A67D-8082-46EE-BD5B-756BE9D79984}"/>
              </a:ext>
            </a:extLst>
          </p:cNvPr>
          <p:cNvSpPr>
            <a:spLocks noGrp="1"/>
          </p:cNvSpPr>
          <p:nvPr/>
        </p:nvSpPr>
        <p:spPr>
          <a:xfrm>
            <a:off x="3181350" y="2590800"/>
            <a:ext cx="500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Comparar tres cultivos configurados: olivar, cítricos y almendro.</a:t>
            </a:r>
          </a:p>
        </p:txBody>
      </p:sp>
      <p:sp>
        <p:nvSpPr>
          <p:cNvPr id="19" name="">
            <a:extLst>
              <a:ext uri="{FF2B5EF4-FFF2-40B4-BE49-F238E27FC236}">
                <ns2:creationId id="{37802600-6265-4EC0-AAFD-969300329301}"/>
              </a:ext>
            </a:extLst>
          </p:cNvPr>
          <p:cNvSpPr>
            <a:spLocks noGrp="1"/>
          </p:cNvSpPr>
          <p:nvPr/>
        </p:nvSpPr>
        <p:spPr>
          <a:xfrm>
            <a:off x="3086100" y="1752600"/>
            <a:ext cx="5857875" cy="51435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0EAD6D4E-C3AE-4C14-9209-EC55648E0B88}"/>
              </a:ext>
            </a:extLst>
          </p:cNvPr>
          <p:cNvSpPr>
            <a:spLocks noGrp="1"/>
          </p:cNvSpPr>
          <p:nvPr/>
        </p:nvSpPr>
        <p:spPr>
          <a:xfrm>
            <a:off x="3257550" y="18764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1" name="">
            <a:extLst>
              <a:ext uri="{FF2B5EF4-FFF2-40B4-BE49-F238E27FC236}">
                <ns2:creationId id="{04EE0FAA-3041-499E-82A3-C23ABFC07410}"/>
              </a:ext>
            </a:extLst>
          </p:cNvPr>
          <p:cNvSpPr>
            <a:spLocks noGrp="1"/>
          </p:cNvSpPr>
          <p:nvPr/>
        </p:nvSpPr>
        <p:spPr>
          <a:xfrm>
            <a:off x="3676650" y="1885950"/>
            <a:ext cx="5000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Incorporar una capa ML para predecir la lámina de riego del periodo.</a:t>
            </a:r>
          </a:p>
        </p:txBody>
      </p:sp>
      <p:sp>
        <p:nvSpPr>
          <p:cNvPr id="22" name="">
            <a:extLst>
              <a:ext uri="{FF2B5EF4-FFF2-40B4-BE49-F238E27FC236}">
                <ns2:creationId id="{60F1F6DA-28EA-4730-9913-81795252A339}"/>
              </a:ext>
            </a:extLst>
          </p:cNvPr>
          <p:cNvSpPr>
            <a:spLocks noGrp="1"/>
          </p:cNvSpPr>
          <p:nvPr/>
        </p:nvSpPr>
        <p:spPr>
          <a:xfrm>
            <a:off x="9144000" y="2038350"/>
            <a:ext cx="1809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815F372D-C8CB-4DC2-BE20-06F98E0CDEC9}"/>
              </a:ext>
            </a:extLst>
          </p:cNvPr>
          <p:cNvSpPr>
            <a:spLocks noGrp="1"/>
          </p:cNvSpPr>
          <p:nvPr/>
        </p:nvSpPr>
        <p:spPr>
          <a:xfrm>
            <a:off x="9353550" y="2286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Objetivo general</a:t>
            </a:r>
          </a:p>
        </p:txBody>
      </p:sp>
      <p:sp>
        <p:nvSpPr>
          <p:cNvPr id="24" name="">
            <a:extLst>
              <a:ext uri="{FF2B5EF4-FFF2-40B4-BE49-F238E27FC236}">
                <ns2:creationId id="{336BC809-41AC-44BA-976C-65F0AF4781EE}"/>
              </a:ext>
            </a:extLst>
          </p:cNvPr>
          <p:cNvSpPr>
            <a:spLocks noGrp="1"/>
          </p:cNvSpPr>
          <p:nvPr/>
        </p:nvSpPr>
        <p:spPr>
          <a:xfrm>
            <a:off x="9353550" y="2628900"/>
            <a:ext cx="135255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Desarrollar un sistema de análisis y predicción que recomiende la cantidad de agua a aplicar en una parcela según localización, cultivo, fechas y superficie.</a:t>
            </a:r>
          </a:p>
        </p:txBody>
      </p:sp>
    </p:spTree>
    <p:extLst>
      <p:ext uri="{BB962C8B-B14F-4D97-AF65-F5344CB8AC3E}">
        <ns3:creationId val="17453345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AD8CD65-12A2-4FDE-9AB0-51114342EB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8F2A2570-DAE0-43E5-9AB6-D22666820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80446B4B-B8CC-43A2-9083-D12A81458707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" name="">
            <a:extLst>
              <a:ext uri="{FF2B5EF4-FFF2-40B4-BE49-F238E27FC236}">
                <ns2:creationId id="{C23E62AF-48E9-45B6-835A-3C1383D620F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5" name="">
            <a:extLst>
              <a:ext uri="{FF2B5EF4-FFF2-40B4-BE49-F238E27FC236}">
                <ns2:creationId id="{D3F62BB0-92F6-4A24-88E5-25C015B4133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prototipo prioriza la recomendación de agua, no el diseño de la instalación.</a:t>
            </a:r>
          </a:p>
        </p:txBody>
      </p:sp>
      <p:sp>
        <p:nvSpPr>
          <p:cNvPr id="6" name="">
            <a:extLst>
              <a:ext uri="{FF2B5EF4-FFF2-40B4-BE49-F238E27FC236}">
                <ns2:creationId id="{643C8385-5336-4B86-B642-D4B43E9630A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decisión clave para el cliente es la cantidad de agua que debe distribuir en la plantación.</a:t>
            </a:r>
          </a:p>
        </p:txBody>
      </p:sp>
      <p:sp>
        <p:nvSpPr>
          <p:cNvPr id="7" name="">
            <a:extLst>
              <a:ext uri="{FF2B5EF4-FFF2-40B4-BE49-F238E27FC236}">
                <ns2:creationId id="{E0DC8F5F-FC66-4924-8F06-74A036A6039F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762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CC80D0F0-9FEC-42E7-B2AA-AD6048E871CA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4762500" cy="3238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C741A60B-EF19-4BC8-BBA5-666B2F48B6B5}"/>
              </a:ext>
            </a:extLst>
          </p:cNvPr>
          <p:cNvSpPr>
            <a:spLocks noGrp="1"/>
          </p:cNvSpPr>
          <p:nvPr/>
        </p:nvSpPr>
        <p:spPr>
          <a:xfrm>
            <a:off x="990600" y="25527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Implementado en el prototipo</a:t>
            </a:r>
          </a:p>
        </p:txBody>
      </p:sp>
      <p:sp>
        <p:nvSpPr>
          <p:cNvPr id="10" name="">
            <a:extLst>
              <a:ext uri="{FF2B5EF4-FFF2-40B4-BE49-F238E27FC236}">
                <ns2:creationId id="{54216A8A-8117-40CC-9436-46A787DCEF7F}"/>
              </a:ext>
            </a:extLst>
          </p:cNvPr>
          <p:cNvSpPr>
            <a:spLocks noGrp="1"/>
          </p:cNvSpPr>
          <p:nvPr/>
        </p:nvSpPr>
        <p:spPr>
          <a:xfrm>
            <a:off x="6210300" y="25527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Delimitado como mejora futura</a:t>
            </a:r>
          </a:p>
        </p:txBody>
      </p:sp>
      <p:sp>
        <p:nvSpPr>
          <p:cNvPr id="11" name="">
            <a:extLst>
              <a:ext uri="{FF2B5EF4-FFF2-40B4-BE49-F238E27FC236}">
                <ns2:creationId id="{6A7BD88E-E0D6-41EB-9A02-BDB492FDA4AB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95250" cy="9525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3BBDAAA-4561-44E1-8F4E-C186D83930D2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Selección de localización, estación, cultivo, fase y superficie.</a:t>
            </a:r>
          </a:p>
        </p:txBody>
      </p:sp>
      <p:sp>
        <p:nvSpPr>
          <p:cNvPr id="13" name="">
            <a:extLst>
              <a:ext uri="{FF2B5EF4-FFF2-40B4-BE49-F238E27FC236}">
                <ns2:creationId id="{A4226773-711D-44D4-9260-D091067EC220}"/>
              </a:ext>
            </a:extLst>
          </p:cNvPr>
          <p:cNvSpPr>
            <a:spLocks noGrp="1"/>
          </p:cNvSpPr>
          <p:nvPr/>
        </p:nvSpPr>
        <p:spPr>
          <a:xfrm>
            <a:off x="990600" y="3714750"/>
            <a:ext cx="95250" cy="9525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77C04354-FD18-4313-A181-E18E51137A8E}"/>
              </a:ext>
            </a:extLst>
          </p:cNvPr>
          <p:cNvSpPr>
            <a:spLocks noGrp="1"/>
          </p:cNvSpPr>
          <p:nvPr/>
        </p:nvSpPr>
        <p:spPr>
          <a:xfrm>
            <a:off x="1219200" y="365760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Uso de datos AEMET o CSV local para asegurar reproducibilidad.</a:t>
            </a:r>
          </a:p>
        </p:txBody>
      </p:sp>
      <p:sp>
        <p:nvSpPr>
          <p:cNvPr id="15" name="">
            <a:extLst>
              <a:ext uri="{FF2B5EF4-FFF2-40B4-BE49-F238E27FC236}">
                <ns2:creationId id="{DB99AA52-1BEF-4D9B-8EA6-F0B2708F1AAB}"/>
              </a:ext>
            </a:extLst>
          </p:cNvPr>
          <p:cNvSpPr>
            <a:spLocks noGrp="1"/>
          </p:cNvSpPr>
          <p:nvPr/>
        </p:nvSpPr>
        <p:spPr>
          <a:xfrm>
            <a:off x="990600" y="4267200"/>
            <a:ext cx="95250" cy="9525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3B7E6749-C5FB-40C8-8B48-785E15601E1D}"/>
              </a:ext>
            </a:extLst>
          </p:cNvPr>
          <p:cNvSpPr>
            <a:spLocks noGrp="1"/>
          </p:cNvSpPr>
          <p:nvPr/>
        </p:nvSpPr>
        <p:spPr>
          <a:xfrm>
            <a:off x="1219200" y="421005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Cálculo agronómico trazable y predicción ML complementaria.</a:t>
            </a:r>
          </a:p>
        </p:txBody>
      </p:sp>
      <p:sp>
        <p:nvSpPr>
          <p:cNvPr id="17" name="">
            <a:extLst>
              <a:ext uri="{FF2B5EF4-FFF2-40B4-BE49-F238E27FC236}">
                <ns2:creationId id="{8031DE73-41B9-4982-AEF1-26444100ACE3}"/>
              </a:ext>
            </a:extLst>
          </p:cNvPr>
          <p:cNvSpPr>
            <a:spLocks noGrp="1"/>
          </p:cNvSpPr>
          <p:nvPr/>
        </p:nvSpPr>
        <p:spPr>
          <a:xfrm>
            <a:off x="990600" y="4819650"/>
            <a:ext cx="95250" cy="9525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B2E37A12-DF7A-4098-9616-F4270CC5E87D}"/>
              </a:ext>
            </a:extLst>
          </p:cNvPr>
          <p:cNvSpPr>
            <a:spLocks noGrp="1"/>
          </p:cNvSpPr>
          <p:nvPr/>
        </p:nvSpPr>
        <p:spPr>
          <a:xfrm>
            <a:off x="1219200" y="476250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Interfaz Streamlit con inventario nacional AEMET, resultados exportables y ejecución reproducible.</a:t>
            </a:r>
          </a:p>
        </p:txBody>
      </p:sp>
      <p:sp>
        <p:nvSpPr>
          <p:cNvPr id="19" name="">
            <a:extLst>
              <a:ext uri="{FF2B5EF4-FFF2-40B4-BE49-F238E27FC236}">
                <ns2:creationId id="{5F2028D4-CB0C-4E4D-879B-9E52DC3EB49D}"/>
              </a:ext>
            </a:extLst>
          </p:cNvPr>
          <p:cNvSpPr>
            <a:spLocks noGrp="1"/>
          </p:cNvSpPr>
          <p:nvPr/>
        </p:nvSpPr>
        <p:spPr>
          <a:xfrm>
            <a:off x="6210300" y="3162300"/>
            <a:ext cx="95250" cy="952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FC092F70-0AE0-443E-9AB8-414FB900CDE9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Sensores IoT reales y humedad de suelo como calibración de campo.</a:t>
            </a:r>
          </a:p>
        </p:txBody>
      </p:sp>
      <p:sp>
        <p:nvSpPr>
          <p:cNvPr id="21" name="">
            <a:extLst>
              <a:ext uri="{FF2B5EF4-FFF2-40B4-BE49-F238E27FC236}">
                <ns2:creationId id="{D86BAE69-B5B4-472A-8B0D-1FADD073FF61}"/>
              </a:ext>
            </a:extLst>
          </p:cNvPr>
          <p:cNvSpPr>
            <a:spLocks noGrp="1"/>
          </p:cNvSpPr>
          <p:nvPr/>
        </p:nvSpPr>
        <p:spPr>
          <a:xfrm>
            <a:off x="6210300" y="3714750"/>
            <a:ext cx="95250" cy="952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E21CF8CE-8DC5-40FA-8BA1-2317CDEA6638}"/>
              </a:ext>
            </a:extLst>
          </p:cNvPr>
          <p:cNvSpPr>
            <a:spLocks noGrp="1"/>
          </p:cNvSpPr>
          <p:nvPr/>
        </p:nvSpPr>
        <p:spPr>
          <a:xfrm>
            <a:off x="6438900" y="365760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BigQuery como repositorio masivo cuando exista despliegue cloud.</a:t>
            </a:r>
          </a:p>
        </p:txBody>
      </p:sp>
      <p:sp>
        <p:nvSpPr>
          <p:cNvPr id="23" name="">
            <a:extLst>
              <a:ext uri="{FF2B5EF4-FFF2-40B4-BE49-F238E27FC236}">
                <ns2:creationId id="{9AAD50F2-8F92-4807-9653-7632FAB3FD13}"/>
              </a:ext>
            </a:extLst>
          </p:cNvPr>
          <p:cNvSpPr>
            <a:spLocks noGrp="1"/>
          </p:cNvSpPr>
          <p:nvPr/>
        </p:nvSpPr>
        <p:spPr>
          <a:xfrm>
            <a:off x="6210300" y="4267200"/>
            <a:ext cx="95250" cy="952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43483905-608A-47B8-906F-0BF32A2FBD3C}"/>
              </a:ext>
            </a:extLst>
          </p:cNvPr>
          <p:cNvSpPr>
            <a:spLocks noGrp="1"/>
          </p:cNvSpPr>
          <p:nvPr/>
        </p:nvSpPr>
        <p:spPr>
          <a:xfrm>
            <a:off x="6438900" y="421005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Validación con históricos reales de riegos aplicados por agricultores.</a:t>
            </a:r>
          </a:p>
        </p:txBody>
      </p:sp>
      <p:sp>
        <p:nvSpPr>
          <p:cNvPr id="25" name="">
            <a:extLst>
              <a:ext uri="{FF2B5EF4-FFF2-40B4-BE49-F238E27FC236}">
                <ns2:creationId id="{C95EFF1E-1DBD-4D6A-9C35-3B4FF9847F26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95250" cy="952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858365A-DD51-4E23-AAA7-58C89FEB125D}"/>
              </a:ext>
            </a:extLst>
          </p:cNvPr>
          <p:cNvSpPr>
            <a:spLocks noGrp="1"/>
          </p:cNvSpPr>
          <p:nvPr/>
        </p:nvSpPr>
        <p:spPr>
          <a:xfrm>
            <a:off x="6438900" y="4762500"/>
            <a:ext cx="3867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Gestión comercial de usuarios, parcelas y recomendaciones recurrentes.</a:t>
            </a:r>
          </a:p>
        </p:txBody>
      </p:sp>
    </p:spTree>
    <p:extLst>
      <p:ext uri="{BB962C8B-B14F-4D97-AF65-F5344CB8AC3E}">
        <ns3:creationId val="15038797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BC3CF4E-AC60-482E-9EB1-15F198D4C3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37C1F0C0-8BBB-4A97-AA32-EF6F13AA70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F5C17834-2F1C-4B6C-96AD-30742BB66FD4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" name="">
            <a:extLst>
              <a:ext uri="{FF2B5EF4-FFF2-40B4-BE49-F238E27FC236}">
                <ns2:creationId id="{BF8BB530-F9E5-414B-AF64-F099EF416C7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5" name="">
            <a:extLst>
              <a:ext uri="{FF2B5EF4-FFF2-40B4-BE49-F238E27FC236}">
                <ns2:creationId id="{2E85240D-6FE0-44E3-9A98-9B67EE9E2EB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flujo técnico convierte una consulta de parcela en una recomendación de riego.</a:t>
            </a:r>
          </a:p>
        </p:txBody>
      </p:sp>
      <p:sp>
        <p:nvSpPr>
          <p:cNvPr id="6" name="">
            <a:extLst>
              <a:ext uri="{FF2B5EF4-FFF2-40B4-BE49-F238E27FC236}">
                <ns2:creationId id="{4547D402-2A17-4195-AFD6-9CAE460F936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El prototipo está organizado para separar datos, cálculo, predicción y visualización.</a:t>
            </a:r>
          </a:p>
        </p:txBody>
      </p:sp>
      <p:sp>
        <p:nvSpPr>
          <p:cNvPr id="7" name="">
            <a:extLst>
              <a:ext uri="{FF2B5EF4-FFF2-40B4-BE49-F238E27FC236}">
                <ns2:creationId id="{1061CD6A-F5BB-4245-BE77-7B92AC97D89B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695450" cy="12382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059F426-6F5E-4BF3-9747-04035B33266A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Cliente</a:t>
            </a:r>
          </a:p>
        </p:txBody>
      </p:sp>
      <p:sp>
        <p:nvSpPr>
          <p:cNvPr id="9" name="">
            <a:extLst>
              <a:ext uri="{FF2B5EF4-FFF2-40B4-BE49-F238E27FC236}">
                <ns2:creationId id="{76F5C8FE-FA96-434A-9A9D-11F5BE340FE4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Zona, fechas, cultivo y superficie</a:t>
            </a:r>
          </a:p>
        </p:txBody>
      </p:sp>
      <p:sp>
        <p:nvSpPr>
          <p:cNvPr id="10" name="">
            <a:extLst>
              <a:ext uri="{FF2B5EF4-FFF2-40B4-BE49-F238E27FC236}">
                <ns2:creationId id="{14EF1157-F46D-43B1-B924-41C339D1D39C}"/>
              </a:ext>
            </a:extLst>
          </p:cNvPr>
          <p:cNvSpPr>
            <a:spLocks noGrp="1"/>
          </p:cNvSpPr>
          <p:nvPr/>
        </p:nvSpPr>
        <p:spPr>
          <a:xfrm>
            <a:off x="2381250" y="3067050"/>
            <a:ext cx="3619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364EA274-4039-4E8C-A71B-4E60B89472DF}"/>
              </a:ext>
            </a:extLst>
          </p:cNvPr>
          <p:cNvSpPr>
            <a:spLocks noGrp="1"/>
          </p:cNvSpPr>
          <p:nvPr/>
        </p:nvSpPr>
        <p:spPr>
          <a:xfrm>
            <a:off x="2743200" y="2476500"/>
            <a:ext cx="1695450" cy="1238250"/>
          </a:xfrm>
          <a:prstGeom prst="rect">
            <a:avLst/>
          </a:prstGeom>
          <a:solidFill>
            <a:srgbClr val="2F5E88"/>
          </a:solidFill>
          <a:ln w="9525">
            <a:solidFill>
              <a:srgbClr val="2F5E8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B845FBF-DF5A-40F2-9A18-583B2ADF85CE}"/>
              </a:ext>
            </a:extLst>
          </p:cNvPr>
          <p:cNvSpPr>
            <a:spLocks noGrp="1"/>
          </p:cNvSpPr>
          <p:nvPr/>
        </p:nvSpPr>
        <p:spPr>
          <a:xfrm>
            <a:off x="2895600" y="270510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AEMET / CSV</a:t>
            </a:r>
          </a:p>
        </p:txBody>
      </p:sp>
      <p:sp>
        <p:nvSpPr>
          <p:cNvPr id="13" name="">
            <a:extLst>
              <a:ext uri="{FF2B5EF4-FFF2-40B4-BE49-F238E27FC236}">
                <ns2:creationId id="{07ADEAA3-BE21-4F18-8965-1CE7CD33994F}"/>
              </a:ext>
            </a:extLst>
          </p:cNvPr>
          <p:cNvSpPr>
            <a:spLocks noGrp="1"/>
          </p:cNvSpPr>
          <p:nvPr/>
        </p:nvSpPr>
        <p:spPr>
          <a:xfrm>
            <a:off x="2914650" y="31051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meteorológicos oficiales o cacheados</a:t>
            </a:r>
          </a:p>
        </p:txBody>
      </p:sp>
      <p:sp>
        <p:nvSpPr>
          <p:cNvPr id="14" name="">
            <a:extLst>
              <a:ext uri="{FF2B5EF4-FFF2-40B4-BE49-F238E27FC236}">
                <ns2:creationId id="{1DA6BA6F-80A4-4A62-B9EB-07933AEA874E}"/>
              </a:ext>
            </a:extLst>
          </p:cNvPr>
          <p:cNvSpPr>
            <a:spLocks noGrp="1"/>
          </p:cNvSpPr>
          <p:nvPr/>
        </p:nvSpPr>
        <p:spPr>
          <a:xfrm>
            <a:off x="4438650" y="3067050"/>
            <a:ext cx="3619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53725FD5-0F9E-4956-BAF9-9BCBC8CC2C40}"/>
              </a:ext>
            </a:extLst>
          </p:cNvPr>
          <p:cNvSpPr>
            <a:spLocks noGrp="1"/>
          </p:cNvSpPr>
          <p:nvPr/>
        </p:nvSpPr>
        <p:spPr>
          <a:xfrm>
            <a:off x="4800600" y="2476500"/>
            <a:ext cx="1695450" cy="1238250"/>
          </a:xfrm>
          <a:prstGeom prst="rect">
            <a:avLst/>
          </a:prstGeom>
          <a:solidFill>
            <a:srgbClr val="C4622D"/>
          </a:solidFill>
          <a:ln w="9525">
            <a:solidFill>
              <a:srgbClr val="C4622D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AAC9BA83-41F3-4243-80ED-E17AF3B4C126}"/>
              </a:ext>
            </a:extLst>
          </p:cNvPr>
          <p:cNvSpPr>
            <a:spLocks noGrp="1"/>
          </p:cNvSpPr>
          <p:nvPr/>
        </p:nvSpPr>
        <p:spPr>
          <a:xfrm>
            <a:off x="4953000" y="270510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ETL</a:t>
            </a:r>
          </a:p>
        </p:txBody>
      </p:sp>
      <p:sp>
        <p:nvSpPr>
          <p:cNvPr id="17" name="">
            <a:extLst>
              <a:ext uri="{FF2B5EF4-FFF2-40B4-BE49-F238E27FC236}">
                <ns2:creationId id="{C15E4685-65A7-435F-A78C-962E5081E3B8}"/>
              </a:ext>
            </a:extLst>
          </p:cNvPr>
          <p:cNvSpPr>
            <a:spLocks noGrp="1"/>
          </p:cNvSpPr>
          <p:nvPr/>
        </p:nvSpPr>
        <p:spPr>
          <a:xfrm>
            <a:off x="4972050" y="31051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Normalización de fechas, lluvia y temperatura</a:t>
            </a:r>
          </a:p>
        </p:txBody>
      </p:sp>
      <p:sp>
        <p:nvSpPr>
          <p:cNvPr id="18" name="">
            <a:extLst>
              <a:ext uri="{FF2B5EF4-FFF2-40B4-BE49-F238E27FC236}">
                <ns2:creationId id="{243BC4AC-3241-4DA5-B0D7-8FD8795CD508}"/>
              </a:ext>
            </a:extLst>
          </p:cNvPr>
          <p:cNvSpPr>
            <a:spLocks noGrp="1"/>
          </p:cNvSpPr>
          <p:nvPr/>
        </p:nvSpPr>
        <p:spPr>
          <a:xfrm>
            <a:off x="6496050" y="3067050"/>
            <a:ext cx="3619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840D94C-6316-46E7-B83E-BCB4F402E17F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1695450" cy="123825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1EB3BBEE-80CD-4848-9638-1DF703419DF5}"/>
              </a:ext>
            </a:extLst>
          </p:cNvPr>
          <p:cNvSpPr>
            <a:spLocks noGrp="1"/>
          </p:cNvSpPr>
          <p:nvPr/>
        </p:nvSpPr>
        <p:spPr>
          <a:xfrm>
            <a:off x="7010400" y="270510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Motor</a:t>
            </a:r>
          </a:p>
        </p:txBody>
      </p:sp>
      <p:sp>
        <p:nvSpPr>
          <p:cNvPr id="21" name="">
            <a:extLst>
              <a:ext uri="{FF2B5EF4-FFF2-40B4-BE49-F238E27FC236}">
                <ns2:creationId id="{16B6DE5A-5899-4979-8BCA-76DA10AE1C96}"/>
              </a:ext>
            </a:extLst>
          </p:cNvPr>
          <p:cNvSpPr>
            <a:spLocks noGrp="1"/>
          </p:cNvSpPr>
          <p:nvPr/>
        </p:nvSpPr>
        <p:spPr>
          <a:xfrm>
            <a:off x="7029450" y="31051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Cálculo agronómico y modelo ML</a:t>
            </a:r>
          </a:p>
        </p:txBody>
      </p:sp>
      <p:sp>
        <p:nvSpPr>
          <p:cNvPr id="22" name="">
            <a:extLst>
              <a:ext uri="{FF2B5EF4-FFF2-40B4-BE49-F238E27FC236}">
                <ns2:creationId id="{6ABE289C-945C-47EF-9F39-DA97B0DDF403}"/>
              </a:ext>
            </a:extLst>
          </p:cNvPr>
          <p:cNvSpPr>
            <a:spLocks noGrp="1"/>
          </p:cNvSpPr>
          <p:nvPr/>
        </p:nvSpPr>
        <p:spPr>
          <a:xfrm>
            <a:off x="8553450" y="3067050"/>
            <a:ext cx="3619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761EE84-1ADE-430E-95D3-162897C87D13}"/>
              </a:ext>
            </a:extLst>
          </p:cNvPr>
          <p:cNvSpPr>
            <a:spLocks noGrp="1"/>
          </p:cNvSpPr>
          <p:nvPr/>
        </p:nvSpPr>
        <p:spPr>
          <a:xfrm>
            <a:off x="8915400" y="2476500"/>
            <a:ext cx="1695450" cy="12382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74C464F2-0227-4A74-B4C4-CD8DC5F0DB29}"/>
              </a:ext>
            </a:extLst>
          </p:cNvPr>
          <p:cNvSpPr>
            <a:spLocks noGrp="1"/>
          </p:cNvSpPr>
          <p:nvPr/>
        </p:nvSpPr>
        <p:spPr>
          <a:xfrm>
            <a:off x="9067800" y="270510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Salida</a:t>
            </a:r>
          </a:p>
        </p:txBody>
      </p:sp>
      <p:sp>
        <p:nvSpPr>
          <p:cNvPr id="25" name="">
            <a:extLst>
              <a:ext uri="{FF2B5EF4-FFF2-40B4-BE49-F238E27FC236}">
                <ns2:creationId id="{DDF7732B-D9DB-4D71-8488-4ACE59067467}"/>
              </a:ext>
            </a:extLst>
          </p:cNvPr>
          <p:cNvSpPr>
            <a:spLocks noGrp="1"/>
          </p:cNvSpPr>
          <p:nvPr/>
        </p:nvSpPr>
        <p:spPr>
          <a:xfrm>
            <a:off x="9086850" y="31051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Litros, lámina, ML e informes descargables</a:t>
            </a:r>
          </a:p>
        </p:txBody>
      </p:sp>
      <p:sp>
        <p:nvSpPr>
          <p:cNvPr id="26" name="">
            <a:extLst>
              <a:ext uri="{FF2B5EF4-FFF2-40B4-BE49-F238E27FC236}">
                <ns2:creationId id="{4F15491D-6528-4842-B206-2059D41F6ED9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9810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11FFF66-9D3F-4190-AA38-454E8073060F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La caché local evita saturar AEMET durante la validación y mantiene resultados repetibles.</a:t>
            </a:r>
          </a:p>
        </p:txBody>
      </p:sp>
    </p:spTree>
    <p:extLst>
      <p:ext uri="{BB962C8B-B14F-4D97-AF65-F5344CB8AC3E}">
        <ns3:creationId val="205831641"/>
      </p:ext>
    </p:extLst>
  </p:cSld>
</p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A522B065-00B8-43A1-8D77-7DC2A4C044E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4038C648-94D8-4D47-B911-0DDF25C451C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0302F6ED-7A78-4060-B42C-AFFEC97BF944}"/>
              </a:ext>
            </a:extLst>
          </ns0:cNvPr>
          <ns0:cNvSpPr>
            <a:spLocks noGrp="1"/>
          </ns0:cNvSpPr>
          <ns0:nvPr/>
        </ns0:nvSpPr>
        <ns0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07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43135660-6B64-4D26-AB64-7A130DDAABCF}"/>
              </a:ext>
            </a:extLst>
          </ns0:cNvPr>
          <ns0:cNvSpPr>
            <a:spLocks noGrp="1"/>
          </ns0:cNvSpPr>
          <ns0:nvPr/>
        </ns0:nvSpPr>
        <ns0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DATOS DE ENTRADA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1EA44B28-966D-4E6E-BACC-B2670D786435}"/>
              </a:ext>
            </a:extLst>
          </ns0:cNvPr>
          <ns0:cNvSpPr>
            <a:spLocks noGrp="1"/>
          </ns0:cNvSpPr>
          <ns0:nvPr/>
        </ns0:nvSpPr>
        <ns0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Solo se mantienen las variables necesarias para calcular el agua recomendada.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9CFCB389-D2CD-4D42-B01C-26C44A6A7777}"/>
              </a:ext>
            </a:extLst>
          </ns0:cNvPr>
          <ns0:cNvSpPr>
            <a:spLocks noGrp="1"/>
          </ns0:cNvSpPr>
          <ns0:nvPr/>
        </ns0:nvSpPr>
        <ns0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limpieza del alcance elimina variables que no intervienen directamente en el resultado.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1400FC2-2DC6-4CAC-9322-2ACADBF607AF}"/>
              </a:ext>
            </a:extLst>
          </ns0:cNvPr>
          <ns0:cNvSpPr>
            <a:spLocks noGrp="1"/>
          </ns0:cNvSpPr>
          <ns0:nvPr/>
        </ns0:nvSpPr>
        <ns0:spPr>
          <a:xfrm>
            <a:off x="685800" y="2305050"/>
            <a:ext cx="200025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4C11157F-F8FC-4489-ACD1-E4724074109C}"/>
              </a:ext>
            </a:extLst>
          </ns0:cNvPr>
          <ns0:cNvSpPr>
            <a:spLocks noGrp="1"/>
          </ns0:cNvSpPr>
          <ns0:nvPr/>
        </ns0:nvSpPr>
        <ns0:spPr>
          <a:xfrm>
            <a:off x="781050" y="2400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675475E4-77D3-44D6-8E72-8EA67C2827BD}"/>
              </a:ext>
            </a:extLst>
          </ns0:cNvPr>
          <ns0:cNvSpPr>
            <a:spLocks noGrp="1"/>
          </ns0:cNvSpPr>
          <ns0:nvPr/>
        </ns0:nvSpPr>
        <ns0:spPr>
          <a:xfrm>
            <a:off x="2686050" y="2305050"/>
            <a:ext cx="26670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E5FFF2FE-A686-4E32-9BB9-215DF2C747A4}"/>
              </a:ext>
            </a:extLst>
          </ns0:cNvPr>
          <ns0:cNvSpPr>
            <a:spLocks noGrp="1"/>
          </ns0:cNvSpPr>
          <ns0:nvPr/>
        </ns0:nvSpPr>
        <ns0:spPr>
          <a:xfrm>
            <a:off x="2781300" y="24003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Variable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9505B2D-CD09-4AE6-B531-D05589CB11C1}"/>
              </a:ext>
            </a:extLst>
          </ns0:cNvPr>
          <ns0:cNvSpPr>
            <a:spLocks noGrp="1"/>
          </ns0:cNvSpPr>
          <ns0:nvPr/>
        </ns0:nvSpPr>
        <ns0:spPr>
          <a:xfrm>
            <a:off x="5353050" y="2305050"/>
            <a:ext cx="53340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1D0BDCCD-8D7F-4FBA-A100-69BF698E18BD}"/>
              </a:ext>
            </a:extLst>
          </ns0:cNvPr>
          <ns0:cNvSpPr>
            <a:spLocks noGrp="1"/>
          </ns0:cNvSpPr>
          <ns0:nvPr/>
        </ns0:nvSpPr>
        <ns0:spPr>
          <a:xfrm>
            <a:off x="5448300" y="2400300"/>
            <a:ext cx="514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en el sistema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B29BC491-A4D5-44E6-AC34-C76C2C1FBE58}"/>
              </a:ext>
            </a:extLst>
          </ns0:cNvPr>
          <ns0:cNvSpPr>
            <a:spLocks noGrp="1"/>
          </ns0:cNvSpPr>
          <ns0:nvPr/>
        </ns0:nvSpPr>
        <ns0:spPr>
          <a:xfrm>
            <a:off x="685800" y="2667000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4EEAD39E-7B55-48DA-91A9-3D42A6B3BFD2}"/>
              </a:ext>
            </a:extLst>
          </ns0:cNvPr>
          <ns0:cNvSpPr>
            <a:spLocks noGrp="1"/>
          </ns0:cNvSpPr>
          <ns0:nvPr/>
        </ns0:nvSpPr>
        <ns0:spPr>
          <a:xfrm>
            <a:off x="781050" y="2762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Localización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06EA0F50-8756-4F93-AF5E-BAA2FCA5A764}"/>
              </a:ext>
            </a:extLst>
          </ns0:cNvPr>
          <ns0:cNvSpPr>
            <a:spLocks noGrp="1"/>
          </ns0:cNvSpPr>
          <ns0:nvPr/>
        </ns0:nvSpPr>
        <ns0:spPr>
          <a:xfrm>
            <a:off x="2686050" y="26670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AA453F70-B34C-40AC-93DE-94F37CB3357F}"/>
              </a:ext>
            </a:extLst>
          </ns0:cNvPr>
          <ns0:cNvSpPr>
            <a:spLocks noGrp="1"/>
          </ns0:cNvSpPr>
          <ns0:nvPr/>
        </ns0:nvSpPr>
        <ns0:spPr>
          <a:xfrm>
            <a:off x="2781300" y="2762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Provincia, estación AEMET, CSV o caché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61179ACC-DDC0-45E0-86AB-56A57169C837}"/>
              </a:ext>
            </a:extLst>
          </ns0:cNvPr>
          <ns0:cNvSpPr>
            <a:spLocks noGrp="1"/>
          </ns0:cNvSpPr>
          <ns0:nvPr/>
        </ns0:nvSpPr>
        <ns0:spPr>
          <a:xfrm>
            <a:off x="5353050" y="2667000"/>
            <a:ext cx="533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E53DF62B-65AF-45A7-9EC5-D90A261779D1}"/>
              </a:ext>
            </a:extLst>
          </ns0:cNvPr>
          <ns0:cNvSpPr>
            <a:spLocks noGrp="1"/>
          </ns0:cNvSpPr>
          <ns0:nvPr/>
        </ns0:nvSpPr>
        <ns0:spPr>
          <a:xfrm>
            <a:off x="5448300" y="27622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Muestra el inventario nacional y selecciona el origen climático.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AD0ADB68-7B69-4DA8-9B1B-AD861AC5D801}"/>
              </a:ext>
            </a:extLst>
          </ns0:cNvPr>
          <ns0:cNvSpPr>
            <a:spLocks noGrp="1"/>
          </ns0:cNvSpPr>
          <ns0:nvPr/>
        </ns0:nvSpPr>
        <ns0:spPr>
          <a:xfrm>
            <a:off x="685800" y="3086100"/>
            <a:ext cx="2000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883C05AB-B351-4D7E-9504-1B43F2F2776E}"/>
              </a:ext>
            </a:extLst>
          </ns0:cNvPr>
          <ns0:cNvSpPr>
            <a:spLocks noGrp="1"/>
          </ns0:cNvSpPr>
          <ns0:nvPr/>
        </ns0:nvSpPr>
        <ns0:spPr>
          <a:xfrm>
            <a:off x="781050" y="31813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Periodo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64C48A4D-6849-4130-A677-3D0308FB7E5A}"/>
              </a:ext>
            </a:extLst>
          </ns0:cNvPr>
          <ns0:cNvSpPr>
            <a:spLocks noGrp="1"/>
          </ns0:cNvSpPr>
          <ns0:nvPr/>
        </ns0:nvSpPr>
        <ns0:spPr>
          <a:xfrm>
            <a:off x="2686050" y="30861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45F19A50-DDB4-4F64-B155-7A179379DE51}"/>
              </a:ext>
            </a:extLst>
          </ns0:cNvPr>
          <ns0:cNvSpPr>
            <a:spLocks noGrp="1"/>
          </ns0:cNvSpPr>
          <ns0:nvPr/>
        </ns0:nvSpPr>
        <ns0:spPr>
          <a:xfrm>
            <a:off x="2781300" y="3181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Fecha inicial y final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79F0AA11-CC09-4411-B69F-4E134D757FB0}"/>
              </a:ext>
            </a:extLst>
          </ns0:cNvPr>
          <ns0:cNvSpPr>
            <a:spLocks noGrp="1"/>
          </ns0:cNvSpPr>
          <ns0:nvPr/>
        </ns0:nvSpPr>
        <ns0:spPr>
          <a:xfrm>
            <a:off x="5353050" y="3086100"/>
            <a:ext cx="5334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D26EA723-0E07-4935-847C-4F3864082C43}"/>
              </a:ext>
            </a:extLst>
          </ns0:cNvPr>
          <ns0:cNvSpPr>
            <a:spLocks noGrp="1"/>
          </ns0:cNvSpPr>
          <ns0:nvPr/>
        </ns0:nvSpPr>
        <ns0:spPr>
          <a:xfrm>
            <a:off x="5448300" y="31813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Define los días sobre los que se acumula la recomendación.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D3241FA5-7656-4B99-9817-FED4B96A978E}"/>
              </a:ext>
            </a:extLst>
          </ns0:cNvPr>
          <ns0:cNvSpPr>
            <a:spLocks noGrp="1"/>
          </ns0:cNvSpPr>
          <ns0:nvPr/>
        </ns0:nvSpPr>
        <ns0:spPr>
          <a:xfrm>
            <a:off x="685800" y="3505200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C1BC4B10-3644-42DA-B8D4-8A15E6C3EBD5}"/>
              </a:ext>
            </a:extLst>
          </ns0:cNvPr>
          <ns0:cNvSpPr>
            <a:spLocks noGrp="1"/>
          </ns0:cNvSpPr>
          <ns0:nvPr/>
        </ns0:nvSpPr>
        <ns0:spPr>
          <a:xfrm>
            <a:off x="781050" y="3600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Clima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9CADFF8-A3CE-4457-83B0-7A6383889315}"/>
              </a:ext>
            </a:extLst>
          </ns0:cNvPr>
          <ns0:cNvSpPr>
            <a:spLocks noGrp="1"/>
          </ns0:cNvSpPr>
          <ns0:nvPr/>
        </ns0:nvSpPr>
        <ns0:spPr>
          <a:xfrm>
            <a:off x="2686050" y="35052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F3960062-B7EA-4247-9608-9F9A9163EF18}"/>
              </a:ext>
            </a:extLst>
          </ns0:cNvPr>
          <ns0:cNvSpPr>
            <a:spLocks noGrp="1"/>
          </ns0:cNvSpPr>
          <ns0:nvPr/>
        </ns0:nvSpPr>
        <ns0:spPr>
          <a:xfrm>
            <a:off x="2781300" y="3600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Temperatura y lluvia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67CAEF2C-FD00-45EE-936C-66B8DB963436}"/>
              </a:ext>
            </a:extLst>
          </ns0:cNvPr>
          <ns0:cNvSpPr>
            <a:spLocks noGrp="1"/>
          </ns0:cNvSpPr>
          <ns0:nvPr/>
        </ns0:nvSpPr>
        <ns0:spPr>
          <a:xfrm>
            <a:off x="5353050" y="3505200"/>
            <a:ext cx="533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95C27591-4453-4796-8B5F-FF373145230C}"/>
              </a:ext>
            </a:extLst>
          </ns0:cNvPr>
          <ns0:cNvSpPr>
            <a:spLocks noGrp="1"/>
          </ns0:cNvSpPr>
          <ns0:nvPr/>
        </ns0:nvSpPr>
        <ns0:spPr>
          <a:xfrm>
            <a:off x="5448300" y="36004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Permite estimar ET0 y restar lluvia efectiva.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992189FC-59AF-4488-9952-96B733E43D3E}"/>
              </a:ext>
            </a:extLst>
          </ns0:cNvPr>
          <ns0:cNvSpPr>
            <a:spLocks noGrp="1"/>
          </ns0:cNvSpPr>
          <ns0:nvPr/>
        </ns0:nvSpPr>
        <ns0:spPr>
          <a:xfrm>
            <a:off x="685800" y="3924300"/>
            <a:ext cx="2000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3BF1E6B5-F2F6-4D03-9D5F-6073585FDE1B}"/>
              </a:ext>
            </a:extLst>
          </ns0:cNvPr>
          <ns0:cNvSpPr>
            <a:spLocks noGrp="1"/>
          </ns0:cNvSpPr>
          <ns0:nvPr/>
        </ns0:nvSpPr>
        <ns0:spPr>
          <a:xfrm>
            <a:off x="781050" y="40195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Cultivo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916D94CB-4C98-4479-B4D8-5D9B70F386DA}"/>
              </a:ext>
            </a:extLst>
          </ns0:cNvPr>
          <ns0:cNvSpPr>
            <a:spLocks noGrp="1"/>
          </ns0:cNvSpPr>
          <ns0:nvPr/>
        </ns0:nvSpPr>
        <ns0:spPr>
          <a:xfrm>
            <a:off x="2686050" y="39243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4" name="">
            <a:extLst>
              <a:ext uri="{FF2B5EF4-FFF2-40B4-BE49-F238E27FC236}">
                <ns2:creationId id="{12442A99-24E4-4280-8345-1952669D4AE4}"/>
              </a:ext>
            </a:extLst>
          </ns0:cNvPr>
          <ns0:cNvSpPr>
            <a:spLocks noGrp="1"/>
          </ns0:cNvSpPr>
          <ns0:nvPr/>
        </ns0:nvSpPr>
        <ns0:spPr>
          <a:xfrm>
            <a:off x="2781300" y="4019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Tipo de cultivo y fase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ABD3B35F-402E-4182-83AE-AA87815633A6}"/>
              </a:ext>
            </a:extLst>
          </ns0:cNvPr>
          <ns0:cNvSpPr>
            <a:spLocks noGrp="1"/>
          </ns0:cNvSpPr>
          <ns0:nvPr/>
        </ns0:nvSpPr>
        <ns0:spPr>
          <a:xfrm>
            <a:off x="5353050" y="3924300"/>
            <a:ext cx="5334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AD79A7E6-8D39-45CD-811E-BA999E638DE4}"/>
              </a:ext>
            </a:extLst>
          </ns0:cNvPr>
          <ns0:cNvSpPr>
            <a:spLocks noGrp="1"/>
          </ns0:cNvSpPr>
          <ns0:nvPr/>
        </ns0:nvSpPr>
        <ns0:spPr>
          <a:xfrm>
            <a:off x="5448300" y="40195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Aplica el coeficiente Kc correspondiente.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E7E9DF38-39E7-407C-919C-F8F8D35B783D}"/>
              </a:ext>
            </a:extLst>
          </ns0:cNvPr>
          <ns0:cNvSpPr>
            <a:spLocks noGrp="1"/>
          </ns0:cNvSpPr>
          <ns0:nvPr/>
        </ns0:nvSpPr>
        <ns0:spPr>
          <a:xfrm>
            <a:off x="685800" y="4343400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8" name="">
            <a:extLst>
              <a:ext uri="{FF2B5EF4-FFF2-40B4-BE49-F238E27FC236}">
                <ns2:creationId id="{29BD9393-024B-4109-9B9F-D7A082CEA023}"/>
              </a:ext>
            </a:extLst>
          </ns0:cNvPr>
          <ns0:cNvSpPr>
            <a:spLocks noGrp="1"/>
          </ns0:cNvSpPr>
          <ns0:nvPr/>
        </ns0:nvSpPr>
        <ns0:spPr>
          <a:xfrm>
            <a:off x="781050" y="44386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Parcela</a:t>
            </a:r>
          </a:p>
        </ns0:txBody>
      </ns0:sp>
      <ns0:sp>
        <ns0:nvSpPr>
          <ns0:cNvPr id="39" name="">
            <a:extLst>
              <a:ext uri="{FF2B5EF4-FFF2-40B4-BE49-F238E27FC236}">
                <ns2:creationId id="{D5DA3FCF-EF0E-4329-9477-464B86881F0E}"/>
              </a:ext>
            </a:extLst>
          </ns0:cNvPr>
          <ns0:cNvSpPr>
            <a:spLocks noGrp="1"/>
          </ns0:cNvSpPr>
          <ns0:nvPr/>
        </ns0:nvSpPr>
        <ns0:spPr>
          <a:xfrm>
            <a:off x="2686050" y="43434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40" name="">
            <a:extLst>
              <a:ext uri="{FF2B5EF4-FFF2-40B4-BE49-F238E27FC236}">
                <ns2:creationId id="{68864D6E-7F2C-4C76-A240-7B41795F386F}"/>
              </a:ext>
            </a:extLst>
          </ns0:cNvPr>
          <ns0:cNvSpPr>
            <a:spLocks noGrp="1"/>
          </ns0:cNvSpPr>
          <ns0:nvPr/>
        </ns0:nvSpPr>
        <ns0:spPr>
          <a:xfrm>
            <a:off x="27813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Superficie en m2</a:t>
            </a:r>
          </a:p>
        </ns0:txBody>
      </ns0:sp>
      <ns0:sp>
        <ns0:nvSpPr>
          <ns0:cNvPr id="41" name="">
            <a:extLst>
              <a:ext uri="{FF2B5EF4-FFF2-40B4-BE49-F238E27FC236}">
                <ns2:creationId id="{B1D2CBB0-6C66-46C8-9546-4253D93D1FA0}"/>
              </a:ext>
            </a:extLst>
          </ns0:cNvPr>
          <ns0:cNvSpPr>
            <a:spLocks noGrp="1"/>
          </ns0:cNvSpPr>
          <ns0:nvPr/>
        </ns0:nvSpPr>
        <ns0:spPr>
          <a:xfrm>
            <a:off x="5353050" y="4343400"/>
            <a:ext cx="533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42" name="">
            <a:extLst>
              <a:ext uri="{FF2B5EF4-FFF2-40B4-BE49-F238E27FC236}">
                <ns2:creationId id="{FBBE95A1-258F-4C69-A2D3-3D454FA6FD45}"/>
              </a:ext>
            </a:extLst>
          </ns0:cNvPr>
          <ns0:cNvSpPr>
            <a:spLocks noGrp="1"/>
          </ns0:cNvSpPr>
          <ns0:nvPr/>
        </ns0:nvSpPr>
        <ns0:spPr>
          <a:xfrm>
            <a:off x="5448300" y="44386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Convierte la lámina de riego en litros totales.</a:t>
            </a:r>
          </a:p>
        </ns0:txBody>
      </ns0:sp>
      <ns0:sp>
        <ns0:nvSpPr>
          <ns0:cNvPr id="43" name="">
            <a:extLst>
              <a:ext uri="{FF2B5EF4-FFF2-40B4-BE49-F238E27FC236}">
                <ns2:creationId id="{9054AAE0-0885-4AAF-B937-BA69AB83B9C1}"/>
              </a:ext>
            </a:extLst>
          </ns0:cNvPr>
          <ns0:cNvSpPr>
            <a:spLocks noGrp="1"/>
          </ns0:cNvSpPr>
          <ns0:nvPr/>
        </ns0:nvSpPr>
        <ns0:spPr>
          <a:xfrm>
            <a:off x="685800" y="4762500"/>
            <a:ext cx="2000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44" name="">
            <a:extLst>
              <a:ext uri="{FF2B5EF4-FFF2-40B4-BE49-F238E27FC236}">
                <ns2:creationId id="{4A79C11A-086D-4441-BFE4-3FAB82475F38}"/>
              </a:ext>
            </a:extLst>
          </ns0:cNvPr>
          <ns0:cNvSpPr>
            <a:spLocks noGrp="1"/>
          </ns0:cNvSpPr>
          <ns0:nvPr/>
        </ns0:nvSpPr>
        <ns0:spPr>
          <a:xfrm>
            <a:off x="781050" y="48577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Riego</a:t>
            </a:r>
          </a:p>
        </ns0:txBody>
      </ns0:sp>
      <ns0:sp>
        <ns0:nvSpPr>
          <ns0:cNvPr id="45" name="">
            <a:extLst>
              <a:ext uri="{FF2B5EF4-FFF2-40B4-BE49-F238E27FC236}">
                <ns2:creationId id="{0FE993F9-856D-46B3-A65D-AF19E52883B3}"/>
              </a:ext>
            </a:extLst>
          </ns0:cNvPr>
          <ns0:cNvSpPr>
            <a:spLocks noGrp="1"/>
          </ns0:cNvSpPr>
          <ns0:nvPr/>
        </ns0:nvSpPr>
        <ns0:spPr>
          <a:xfrm>
            <a:off x="2686050" y="47625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46" name="">
            <a:extLst>
              <a:ext uri="{FF2B5EF4-FFF2-40B4-BE49-F238E27FC236}">
                <ns2:creationId id="{B2226BD1-0C03-436E-B4E9-6252C6AD0E42}"/>
              </a:ext>
            </a:extLst>
          </ns0:cNvPr>
          <ns0:cNvSpPr>
            <a:spLocks noGrp="1"/>
          </ns0:cNvSpPr>
          <ns0:nvPr/>
        </ns0:nvSpPr>
        <ns0:spPr>
          <a:xfrm>
            <a:off x="2781300" y="48577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Eficiencia del sistema</a:t>
            </a:r>
          </a:p>
        </ns0:txBody>
      </ns0:sp>
      <ns0:sp>
        <ns0:nvSpPr>
          <ns0:cNvPr id="47" name="">
            <a:extLst>
              <a:ext uri="{FF2B5EF4-FFF2-40B4-BE49-F238E27FC236}">
                <ns2:creationId id="{EA6E17E0-94F4-4031-B809-2D1334A20F51}"/>
              </a:ext>
            </a:extLst>
          </ns0:cNvPr>
          <ns0:cNvSpPr>
            <a:spLocks noGrp="1"/>
          </ns0:cNvSpPr>
          <ns0:nvPr/>
        </ns0:nvSpPr>
        <ns0:spPr>
          <a:xfrm>
            <a:off x="5353050" y="4762500"/>
            <a:ext cx="5334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48" name="">
            <a:extLst>
              <a:ext uri="{FF2B5EF4-FFF2-40B4-BE49-F238E27FC236}">
                <ns2:creationId id="{A1E4988E-CB43-451D-B61D-AAB0E97D6273}"/>
              </a:ext>
            </a:extLst>
          </ns0:cNvPr>
          <ns0:cNvSpPr>
            <a:spLocks noGrp="1"/>
          </ns0:cNvSpPr>
          <ns0:nvPr/>
        </ns0:nvSpPr>
        <ns0:spPr>
          <a:xfrm>
            <a:off x="5448300" y="48577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Corrige la dosis neta para obtener dosis bruta.</a:t>
            </a:r>
          </a:p>
        </ns0:txBody>
      </ns0:sp>
      <ns0:sp>
        <ns0:nvSpPr>
          <ns0:cNvPr id="49" name="">
            <a:extLst>
              <a:ext uri="{FF2B5EF4-FFF2-40B4-BE49-F238E27FC236}">
                <ns2:creationId id="{7A3C31AB-79F1-49C6-8E1F-49D9C16E3507}"/>
              </a:ext>
            </a:extLst>
          </ns0:cNvPr>
          <ns0:cNvSpPr>
            <a:spLocks noGrp="1"/>
          </ns0:cNvSpPr>
          <ns0:nvPr/>
        </ns0:nvSpPr>
        <ns0:spPr>
          <a:xfrm>
            <a:off x="685800" y="57531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humedad de suelo, IoT y BigQuery quedan descritos como evolución futura, no como base actual del cálculo.</a:t>
            </a:r>
          </a:p>
        </ns0:txBody>
      </ns0:sp>
    </ns0:spTree>
    <ns0:extLst>
      <ns0:ext uri="{BB962C8B-B14F-4D97-AF65-F5344CB8AC3E}">
        <ns3:creationId val="2071106302"/>
      </ns0:ext>
    </ns0:extLst>
  </ns0:cSld>
</ns0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0A376307-2C70-47B2-A1BF-ED7CA799D3B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4C52E7FF-BCFF-40DD-AAEC-DD517AFB4CF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C60105A4-5898-4F22-A6AA-71E03AE3A278}"/>
              </a:ext>
            </a:extLst>
          </ns0:cNvPr>
          <ns0:cNvSpPr>
            <a:spLocks noGrp="1"/>
          </ns0:cNvSpPr>
          <ns0:nvPr/>
        </ns0:nvSpPr>
        <ns0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08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2E9D8B5A-929F-48BB-A8CA-6D07ADC38DB5}"/>
              </a:ext>
            </a:extLst>
          </ns0:cNvPr>
          <ns0:cNvSpPr>
            <a:spLocks noGrp="1"/>
          </ns0:cNvSpPr>
          <ns0:nvPr/>
        </ns0:nvSpPr>
        <ns0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MÉTODO AGRONÓMICO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E36B4730-6EEA-41AB-BE7C-DE9A3C61C655}"/>
              </a:ext>
            </a:extLst>
          </ns0:cNvPr>
          <ns0:cNvSpPr>
            <a:spLocks noGrp="1"/>
          </ns0:cNvSpPr>
          <ns0:nvPr/>
        </ns0:nvSpPr>
        <ns0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cálculo base es explicable y auditable antes de aplicar Machine Learning.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AF47B964-0353-4E71-99D2-92287FF14610}"/>
              </a:ext>
            </a:extLst>
          </ns0:cNvPr>
          <ns0:cNvSpPr>
            <a:spLocks noGrp="1"/>
          </ns0:cNvSpPr>
          <ns0:nvPr/>
        </ns0:nvSpPr>
        <ns0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predicción ML se apoya en una referencia agronómica transparente.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A2169E2E-5C75-4514-B751-C3D9DB925F59}"/>
              </a:ext>
            </a:extLst>
          </ns0:cNvPr>
          <ns0:cNvSpPr>
            <a:spLocks noGrp="1"/>
          </ns0:cNvSpPr>
          <ns0:nvPr/>
        </ns0:nvSpPr>
        <ns0:spPr>
          <a:xfrm>
            <a:off x="685800" y="2238375"/>
            <a:ext cx="10096500" cy="18097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BC3E5999-C5D8-472F-B3F7-A45C7E7296AB}"/>
              </a:ext>
            </a:extLst>
          </ns0:cNvPr>
          <ns0:cNvSpPr>
            <a:spLocks noGrp="1"/>
          </ns0:cNvSpPr>
          <ns0:nvPr/>
        </ns0:nvSpPr>
        <ns0:spPr>
          <a:xfrm>
            <a:off x="1009650" y="2486025"/>
            <a:ext cx="942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ETc = ET0 x Kc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EBDCB4A6-551E-4975-AC25-211DB400971F}"/>
              </a:ext>
            </a:extLst>
          </ns0:cNvPr>
          <ns0:cNvSpPr>
            <a:spLocks noGrp="1"/>
          </ns0:cNvSpPr>
          <ns0:nvPr/>
        </ns0:nvSpPr>
        <ns0:spPr>
          <a:xfrm>
            <a:off x="1009650" y="2886075"/>
            <a:ext cx="942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rPr>
              <a:t>necesidad_neta_mm = max(0, ETc - lluvia_efectiva)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AA547AEC-B0BD-4A68-BE07-A5BF328D1FDF}"/>
              </a:ext>
            </a:extLst>
          </ns0:cNvPr>
          <ns0:cNvSpPr>
            <a:spLocks noGrp="1"/>
          </ns0:cNvSpPr>
          <ns0:nvPr/>
        </ns0:nvSpPr>
        <ns0:spPr>
          <a:xfrm>
            <a:off x="1009650" y="3286125"/>
            <a:ext cx="942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rPr>
              <a:t>riego_bruto_mm = necesidad_neta_mm / eficiencia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FE5537C8-51BA-4F15-8B33-228C244B9525}"/>
              </a:ext>
            </a:extLst>
          </ns0:cNvPr>
          <ns0:cNvSpPr>
            <a:spLocks noGrp="1"/>
          </ns0:cNvSpPr>
          <ns0:nvPr/>
        </ns0:nvSpPr>
        <ns0:spPr>
          <a:xfrm>
            <a:off x="1009650" y="3686175"/>
            <a:ext cx="942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DCEAD8"/>
                </a:solidFill>
                <a:latin typeface="Aptos Mono"/>
                <a:ea typeface="Aptos Mono"/>
                <a:cs typeface="Aptos Mono"/>
              </a:rPr>
              <a:t>litros_totales = riego_bruto_mm x superficie_m2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AEEDFB1A-8750-4446-AE94-C02C2FEBFB10}"/>
              </a:ext>
            </a:extLst>
          </ns0:cNvPr>
          <ns0:cNvSpPr>
            <a:spLocks noGrp="1"/>
          </ns0:cNvSpPr>
          <ns0:nvPr/>
        </ns0:nvSpPr>
        <ns0:spPr>
          <a:xfrm>
            <a:off x="685800" y="4476750"/>
            <a:ext cx="9810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328CF026-9191-4484-A3C5-9A3C39448051}"/>
              </a:ext>
            </a:extLst>
          </ns0:cNvPr>
          <ns0:cNvSpPr>
            <a:spLocks noGrp="1"/>
          </ns0:cNvSpPr>
          <ns0:nvPr/>
        </ns0:nvSpPr>
        <ns0:spPr>
          <a:xfrm>
            <a:off x="990600" y="47053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Un milímetro de riego equivale a un litro por metro cuadrado. Por eso la lámina diaria se transforma directamente en litros para la parcela.</a:t>
            </a:r>
          </a:p>
        </ns0:txBody>
      </ns0:sp>
    </ns0:spTree>
    <ns0:extLst>
      <ns0:ext uri="{BB962C8B-B14F-4D97-AF65-F5344CB8AC3E}">
        <ns3:creationId val="315228107"/>
      </ns0:ext>
    </ns0:extLst>
  </ns0:cSld>
</ns0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BD3219B-88E5-4DFE-8F93-55EF4E6DC4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16BB5ED9-4CA4-4D80-B9EA-8D30BC1427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98894E63-F1E9-4D78-A217-1E9B6560F2A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8FCB7CF9-EFD9-406E-A946-84CBE30AE0B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COMPARACIÓN DE CULTIVOS</a:t>
            </a:r>
          </a:p>
        </p:txBody>
      </p:sp>
      <p:sp>
        <p:nvSpPr>
          <p:cNvPr id="5" name="">
            <a:extLst>
              <a:ext uri="{FF2B5EF4-FFF2-40B4-BE49-F238E27FC236}">
                <ns2:creationId id="{322F095F-F220-4B14-B479-438BD2F8E31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Con el mismo clima y la misma parcela, el cultivo cambia la demanda de agua.</a:t>
            </a:r>
          </a:p>
        </p:txBody>
      </p:sp>
      <p:sp>
        <p:nvSpPr>
          <p:cNvPr id="6" name="">
            <a:extLst>
              <a:ext uri="{FF2B5EF4-FFF2-40B4-BE49-F238E27FC236}">
                <ns2:creationId id="{780329FF-4F58-4D08-A2FA-721BC605479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El coeficiente Kc representa la demanda relativa del cultivo en una fase fenológica.</a:t>
            </a:r>
          </a:p>
        </p:txBody>
      </p:sp>
      <p:sp>
        <p:nvSpPr>
          <p:cNvPr id="7" name="">
            <a:extLst>
              <a:ext uri="{FF2B5EF4-FFF2-40B4-BE49-F238E27FC236}">
                <ns2:creationId id="{7B483D7E-FFF1-4460-BA3D-28F40E7F6419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Olivar</a:t>
            </a:r>
          </a:p>
        </p:txBody>
      </p:sp>
      <p:sp>
        <p:nvSpPr>
          <p:cNvPr id="8" name="">
            <a:extLst>
              <a:ext uri="{FF2B5EF4-FFF2-40B4-BE49-F238E27FC236}">
                <ns2:creationId id="{1EEF60AB-E9AA-4934-8F94-F6740376167A}"/>
              </a:ext>
            </a:extLst>
          </p:cNvPr>
          <p:cNvSpPr>
            <a:spLocks noGrp="1"/>
          </p:cNvSpPr>
          <p:nvPr/>
        </p:nvSpPr>
        <p:spPr>
          <a:xfrm>
            <a:off x="2571750" y="2371725"/>
            <a:ext cx="7096125" cy="247650"/>
          </a:xfrm>
          <a:prstGeom prst="rect">
            <a:avLst/>
          </a:prstGeom>
          <a:solidFill>
            <a:srgbClr val="DFE7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A7CF9E74-0478-43C8-9451-BAEE2E03D2B5}"/>
              </a:ext>
            </a:extLst>
          </p:cNvPr>
          <p:cNvSpPr>
            <a:spLocks noGrp="1"/>
          </p:cNvSpPr>
          <p:nvPr/>
        </p:nvSpPr>
        <p:spPr>
          <a:xfrm>
            <a:off x="2571750" y="2371725"/>
            <a:ext cx="5216966" cy="24765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ED5E350-42D1-4E83-9D2D-450233D34310}"/>
              </a:ext>
            </a:extLst>
          </p:cNvPr>
          <p:cNvSpPr>
            <a:spLocks noGrp="1"/>
          </p:cNvSpPr>
          <p:nvPr/>
        </p:nvSpPr>
        <p:spPr>
          <a:xfrm>
            <a:off x="9715500" y="2371725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630"/>
                </a:solidFill>
                <a:latin typeface="Aptos"/>
                <a:ea typeface="Aptos"/>
                <a:cs typeface="Aptos"/>
              </a:rPr>
              <a:t>3.97 mm/día</a:t>
            </a:r>
          </a:p>
        </p:txBody>
      </p:sp>
      <p:sp>
        <p:nvSpPr>
          <p:cNvPr id="11" name="">
            <a:extLst>
              <a:ext uri="{FF2B5EF4-FFF2-40B4-BE49-F238E27FC236}">
                <ns2:creationId id="{786BD1E0-1978-46F0-B4B9-13A6892A7E0A}"/>
              </a:ext>
            </a:extLst>
          </p:cNvPr>
          <p:cNvSpPr>
            <a:spLocks noGrp="1"/>
          </p:cNvSpPr>
          <p:nvPr/>
        </p:nvSpPr>
        <p:spPr>
          <a:xfrm>
            <a:off x="2571750" y="267652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Kc fase media configurado: 0,70.</a:t>
            </a:r>
          </a:p>
        </p:txBody>
      </p:sp>
      <p:sp>
        <p:nvSpPr>
          <p:cNvPr id="12" name="">
            <a:extLst>
              <a:ext uri="{FF2B5EF4-FFF2-40B4-BE49-F238E27FC236}">
                <ns2:creationId id="{17D01C11-A7AD-46E8-B1E6-F6152EB61919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Cítricos</a:t>
            </a:r>
          </a:p>
        </p:txBody>
      </p:sp>
      <p:sp>
        <p:nvSpPr>
          <p:cNvPr id="13" name="">
            <a:extLst>
              <a:ext uri="{FF2B5EF4-FFF2-40B4-BE49-F238E27FC236}">
                <ns2:creationId id="{C6E4810A-075C-4328-9006-BAC0D46290A2}"/>
              </a:ext>
            </a:extLst>
          </p:cNvPr>
          <p:cNvSpPr>
            <a:spLocks noGrp="1"/>
          </p:cNvSpPr>
          <p:nvPr/>
        </p:nvSpPr>
        <p:spPr>
          <a:xfrm>
            <a:off x="2571750" y="3076575"/>
            <a:ext cx="7096125" cy="247650"/>
          </a:xfrm>
          <a:prstGeom prst="rect">
            <a:avLst/>
          </a:prstGeom>
          <a:solidFill>
            <a:srgbClr val="DFE7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9F8F7913-EDA9-43FC-981E-03F3F278C7E4}"/>
              </a:ext>
            </a:extLst>
          </p:cNvPr>
          <p:cNvSpPr>
            <a:spLocks noGrp="1"/>
          </p:cNvSpPr>
          <p:nvPr/>
        </p:nvSpPr>
        <p:spPr>
          <a:xfrm>
            <a:off x="2571750" y="3076575"/>
            <a:ext cx="5584913" cy="247650"/>
          </a:xfrm>
          <a:prstGeom prst="rect">
            <a:avLst/>
          </a:prstGeom>
          <a:solidFill>
            <a:srgbClr val="2F5E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B35E8F5-909C-457A-AD50-234146F32523}"/>
              </a:ext>
            </a:extLst>
          </p:cNvPr>
          <p:cNvSpPr>
            <a:spLocks noGrp="1"/>
          </p:cNvSpPr>
          <p:nvPr/>
        </p:nvSpPr>
        <p:spPr>
          <a:xfrm>
            <a:off x="9715500" y="3076575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630"/>
                </a:solidFill>
                <a:latin typeface="Aptos"/>
                <a:ea typeface="Aptos"/>
                <a:cs typeface="Aptos"/>
              </a:rPr>
              <a:t>4.25 mm/día</a:t>
            </a:r>
          </a:p>
        </p:txBody>
      </p:sp>
      <p:sp>
        <p:nvSpPr>
          <p:cNvPr id="16" name="">
            <a:extLst>
              <a:ext uri="{FF2B5EF4-FFF2-40B4-BE49-F238E27FC236}">
                <ns2:creationId id="{E2DDF4A7-8C20-4610-A516-3BF7BF389670}"/>
              </a:ext>
            </a:extLst>
          </p:cNvPr>
          <p:cNvSpPr>
            <a:spLocks noGrp="1"/>
          </p:cNvSpPr>
          <p:nvPr/>
        </p:nvSpPr>
        <p:spPr>
          <a:xfrm>
            <a:off x="2571750" y="338137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Kc fase media configurado: 0,75.</a:t>
            </a:r>
          </a:p>
        </p:txBody>
      </p:sp>
      <p:sp>
        <p:nvSpPr>
          <p:cNvPr id="17" name="">
            <a:extLst>
              <a:ext uri="{FF2B5EF4-FFF2-40B4-BE49-F238E27FC236}">
                <ns2:creationId id="{25B2AE2F-A6A8-48B5-89FE-AA64F0A7951B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138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Almendro</a:t>
            </a:r>
          </a:p>
        </p:txBody>
      </p:sp>
      <p:sp>
        <p:nvSpPr>
          <p:cNvPr id="18" name="">
            <a:extLst>
              <a:ext uri="{FF2B5EF4-FFF2-40B4-BE49-F238E27FC236}">
                <ns2:creationId id="{63A11CB3-00C2-4424-BB69-BEAFA5B7DA20}"/>
              </a:ext>
            </a:extLst>
          </p:cNvPr>
          <p:cNvSpPr>
            <a:spLocks noGrp="1"/>
          </p:cNvSpPr>
          <p:nvPr/>
        </p:nvSpPr>
        <p:spPr>
          <a:xfrm>
            <a:off x="2571750" y="3781425"/>
            <a:ext cx="7096125" cy="247650"/>
          </a:xfrm>
          <a:prstGeom prst="rect">
            <a:avLst/>
          </a:prstGeom>
          <a:solidFill>
            <a:srgbClr val="DFE7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213531DC-7B5F-4116-9CA7-E2FCDBC44C94}"/>
              </a:ext>
            </a:extLst>
          </p:cNvPr>
          <p:cNvSpPr>
            <a:spLocks noGrp="1"/>
          </p:cNvSpPr>
          <p:nvPr/>
        </p:nvSpPr>
        <p:spPr>
          <a:xfrm>
            <a:off x="2571750" y="3781425"/>
            <a:ext cx="6701896" cy="247650"/>
          </a:xfrm>
          <a:prstGeom prst="rect">
            <a:avLst/>
          </a:prstGeom>
          <a:solidFill>
            <a:srgbClr val="C46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EDDCE157-CBF3-41B0-9439-A8FBA56DB496}"/>
              </a:ext>
            </a:extLst>
          </p:cNvPr>
          <p:cNvSpPr>
            <a:spLocks noGrp="1"/>
          </p:cNvSpPr>
          <p:nvPr/>
        </p:nvSpPr>
        <p:spPr>
          <a:xfrm>
            <a:off x="9715500" y="3781425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630"/>
                </a:solidFill>
                <a:latin typeface="Aptos"/>
                <a:ea typeface="Aptos"/>
                <a:cs typeface="Aptos"/>
              </a:rPr>
              <a:t>5.10 mm/día</a:t>
            </a:r>
          </a:p>
        </p:txBody>
      </p:sp>
      <p:sp>
        <p:nvSpPr>
          <p:cNvPr id="21" name="">
            <a:extLst>
              <a:ext uri="{FF2B5EF4-FFF2-40B4-BE49-F238E27FC236}">
                <ns2:creationId id="{F400D7E5-8218-4DFE-9581-508B7324E7F5}"/>
              </a:ext>
            </a:extLst>
          </p:cNvPr>
          <p:cNvSpPr>
            <a:spLocks noGrp="1"/>
          </p:cNvSpPr>
          <p:nvPr/>
        </p:nvSpPr>
        <p:spPr>
          <a:xfrm>
            <a:off x="2571750" y="4086225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Kc fase media configurado: 0,90.</a:t>
            </a:r>
          </a:p>
        </p:txBody>
      </p:sp>
      <p:sp>
        <p:nvSpPr>
          <p:cNvPr id="22" name="">
            <a:extLst>
              <a:ext uri="{FF2B5EF4-FFF2-40B4-BE49-F238E27FC236}">
                <ns2:creationId id="{0C042DCD-C332-4CDA-973A-C65EFD7575F8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904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Estimación orientativa con ET0 media de 5,10 mm/día, lluvia nula y eficiencia de riego del 90%.</a:t>
            </a:r>
          </a:p>
        </p:txBody>
      </p:sp>
    </p:spTree>
    <p:extLst>
      <p:ext uri="{BB962C8B-B14F-4D97-AF65-F5344CB8AC3E}">
        <ns3:creationId val="1188144734"/>
      </p:ext>
    </p:extLst>
  </p:cSld>
</p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63B60049-4D9C-412B-B751-F4020C7D087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94FF9C1-8C32-4A7C-8578-437928A453F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EF211C0D-024C-406F-BBAD-A3818A9CFF9F}"/>
              </a:ext>
            </a:extLst>
          </ns0:cNvPr>
          <ns0:cNvSpPr>
            <a:spLocks noGrp="1"/>
          </ns0:cNvSpPr>
          <ns0:nvPr/>
        </ns0:nvSpPr>
        <ns0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10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8AA4BE1C-9A8E-4E3F-8070-0AF25A79316C}"/>
              </a:ext>
            </a:extLst>
          </ns0:cNvPr>
          <ns0:cNvSpPr>
            <a:spLocks noGrp="1"/>
          </ns0:cNvSpPr>
          <ns0:nvPr/>
        </ns0:nvSpPr>
        <ns0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MACHINE LEARNING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C3EFD62C-E619-4827-B2EE-CAD04FB09A24}"/>
              </a:ext>
            </a:extLst>
          </ns0:cNvPr>
          <ns0:cNvSpPr>
            <a:spLocks noGrp="1"/>
          </ns0:cNvSpPr>
          <ns0:nvPr/>
        </ns0:nvSpPr>
        <ns0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capa ML aprende a predecir la lámina de riego a partir de clima, cultivo y parcela.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414E0019-9C9D-471C-A09F-9613245B51F6}"/>
              </a:ext>
            </a:extLst>
          </ns0:cNvPr>
          <ns0:cNvSpPr>
            <a:spLocks noGrp="1"/>
          </ns0:cNvSpPr>
          <ns0:nvPr/>
        </ns0:nvSpPr>
        <ns0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El modelo complementa el cálculo agronómico; no sustituye la necesidad de calibración real en campo.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EF18D5CC-E55A-4186-9E62-A0595538683A}"/>
              </a:ext>
            </a:extLst>
          </ns0:cNvPr>
          <ns0:cNvSpPr>
            <a:spLocks noGrp="1"/>
          </ns0:cNvSpPr>
          <ns0:nvPr/>
        </ns0:nvSpPr>
        <ns0:spPr>
          <a:xfrm>
            <a:off x="685800" y="2381250"/>
            <a:ext cx="2190750" cy="14287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5A09187C-C69B-45AF-8D19-E2A39D0466B3}"/>
              </a:ext>
            </a:extLst>
          </ns0:cNvPr>
          <ns0:cNvSpPr>
            <a:spLocks noGrp="1"/>
          </ns0:cNvSpPr>
          <ns0:nvPr/>
        </ns0:nvSpPr>
        <ns0:spPr>
          <a:xfrm>
            <a:off x="857250" y="2667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Variables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173E2BBA-9208-4681-92EA-D638AB0C70B7}"/>
              </a:ext>
            </a:extLst>
          </ns0:cNvPr>
          <ns0:cNvSpPr>
            <a:spLocks noGrp="1"/>
          </ns0:cNvSpPr>
          <ns0:nvPr/>
        </ns0:nvSpPr>
        <ns0:spPr>
          <a:xfrm>
            <a:off x="857250" y="3143250"/>
            <a:ext cx="1847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ET0, lluvia, cultivo, fase, Kc, superficie y eficiencia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084C9F35-201D-45A2-A5BD-A46501B1A50A}"/>
              </a:ext>
            </a:extLst>
          </ns0:cNvPr>
          <ns0:cNvSpPr>
            <a:spLocks noGrp="1"/>
          </ns0:cNvSpPr>
          <ns0:nvPr/>
        </ns0:nvSpPr>
        <ns0:spPr>
          <a:xfrm>
            <a:off x="2876550" y="3067050"/>
            <a:ext cx="4381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2041F203-9972-49CE-B597-A8AB246725FE}"/>
              </a:ext>
            </a:extLst>
          </ns0:cNvPr>
          <ns0:cNvSpPr>
            <a:spLocks noGrp="1"/>
          </ns0:cNvSpPr>
          <ns0:nvPr/>
        </ns0:nvSpPr>
        <ns0:spPr>
          <a:xfrm>
            <a:off x="3314700" y="2381250"/>
            <a:ext cx="2190750" cy="1428750"/>
          </a:xfrm>
          <a:prstGeom prst="rect">
            <a:avLst/>
          </a:prstGeom>
          <a:solidFill>
            <a:srgbClr val="2F5E88"/>
          </a:solidFill>
          <a:ln w="9525">
            <a:solidFill>
              <a:srgbClr val="2F5E88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8770C833-54B3-4F8A-A5D1-ED4240012216}"/>
              </a:ext>
            </a:extLst>
          </ns0:cNvPr>
          <ns0:cNvSpPr>
            <a:spLocks noGrp="1"/>
          </ns0:cNvSpPr>
          <ns0:nvPr/>
        </ns0:nvSpPr>
        <ns0:spPr>
          <a:xfrm>
            <a:off x="3486150" y="2667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Entrenamiento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3F85E558-D1DF-4561-9824-4A3591AB2EB0}"/>
              </a:ext>
            </a:extLst>
          </ns0:cNvPr>
          <ns0:cNvSpPr>
            <a:spLocks noGrp="1"/>
          </ns0:cNvSpPr>
          <ns0:nvPr/>
        </ns0:nvSpPr>
        <ns0:spPr>
          <a:xfrm>
            <a:off x="3486150" y="3143250"/>
            <a:ext cx="1847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Regresión supervisada con históricos y etiqueta riego_bruto_mm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AA750AC-80B4-43F4-A8CC-13C27CC79F04}"/>
              </a:ext>
            </a:extLst>
          </ns0:cNvPr>
          <ns0:cNvSpPr>
            <a:spLocks noGrp="1"/>
          </ns0:cNvSpPr>
          <ns0:nvPr/>
        </ns0:nvSpPr>
        <ns0:spPr>
          <a:xfrm>
            <a:off x="5505450" y="3067050"/>
            <a:ext cx="4381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8BEBDF75-4446-4C0F-B795-6E98F252DF37}"/>
              </a:ext>
            </a:extLst>
          </ns0:cNvPr>
          <ns0:cNvSpPr>
            <a:spLocks noGrp="1"/>
          </ns0:cNvSpPr>
          <ns0:nvPr/>
        </ns0:nvSpPr>
        <ns0:spPr>
          <a:xfrm>
            <a:off x="5943600" y="2381250"/>
            <a:ext cx="2190750" cy="1428750"/>
          </a:xfrm>
          <a:prstGeom prst="rect">
            <a:avLst/>
          </a:prstGeom>
          <a:solidFill>
            <a:srgbClr val="C4622D"/>
          </a:solidFill>
          <a:ln w="9525">
            <a:solidFill>
              <a:srgbClr val="C4622D"/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ADD23C4F-DF02-4B5E-8F49-A9BC76465370}"/>
              </a:ext>
            </a:extLst>
          </ns0:cNvPr>
          <ns0:cNvSpPr>
            <a:spLocks noGrp="1"/>
          </ns0:cNvSpPr>
          <ns0:nvPr/>
        </ns0:nvSpPr>
        <ns0:spPr>
          <a:xfrm>
            <a:off x="6115050" y="2667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Predicción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61CB1C5-0167-46EE-B7BA-76D07AF6239C}"/>
              </a:ext>
            </a:extLst>
          </ns0:cNvPr>
          <ns0:cNvSpPr>
            <a:spLocks noGrp="1"/>
          </ns0:cNvSpPr>
          <ns0:nvPr/>
        </ns0:nvSpPr>
        <ns0:spPr>
          <a:xfrm>
            <a:off x="6115050" y="3143250"/>
            <a:ext cx="1847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Lámina diaria prevista y conversión a litros de parcela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D6F24D8E-499A-4E0A-A96D-B79E698D2797}"/>
              </a:ext>
            </a:extLst>
          </ns0:cNvPr>
          <ns0:cNvSpPr>
            <a:spLocks noGrp="1"/>
          </ns0:cNvSpPr>
          <ns0:nvPr/>
        </ns0:nvSpPr>
        <ns0:spPr>
          <a:xfrm>
            <a:off x="8134350" y="3067050"/>
            <a:ext cx="438150" cy="47625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352CAD73-7110-4380-8DA8-663D3F61449F}"/>
              </a:ext>
            </a:extLst>
          </ns0:cNvPr>
          <ns0:cNvSpPr>
            <a:spLocks noGrp="1"/>
          </ns0:cNvSpPr>
          <ns0:nvPr/>
        </ns0:nvSpPr>
        <ns0:spPr>
          <a:xfrm>
            <a:off x="8572500" y="2381250"/>
            <a:ext cx="2190750" cy="142875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9DB3CA01-A115-49E4-9937-79EFA878EB6B}"/>
              </a:ext>
            </a:extLst>
          </ns0:cNvPr>
          <ns0:cNvSpPr>
            <a:spLocks noGrp="1"/>
          </ns0:cNvSpPr>
          <ns0:nvPr/>
        </ns0:nvSpPr>
        <ns0:spPr>
          <a:xfrm>
            <a:off x="8743950" y="2667000"/>
            <a:ext cx="1847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Calibración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35DD9798-7BB7-451F-8F35-3F2A4D74714D}"/>
              </a:ext>
            </a:extLst>
          </ns0:cNvPr>
          <ns0:cNvSpPr>
            <a:spLocks noGrp="1"/>
          </ns0:cNvSpPr>
          <ns0:nvPr/>
        </ns0:nvSpPr>
        <ns0:spPr>
          <a:xfrm>
            <a:off x="8743950" y="3143250"/>
            <a:ext cx="1847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Mejora futura con riegos reales aplicados en campo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99F3472F-E562-4B8C-A9FB-8FECF23E2818}"/>
              </a:ext>
            </a:extLst>
          </ns0:cNvPr>
          <ns0:cNvSpPr>
            <a:spLocks noGrp="1"/>
          </ns0:cNvSpPr>
          <ns0:nvPr/>
        </ns0:nvSpPr>
        <ns0:spPr>
          <a:xfrm>
            <a:off x="685800" y="4495800"/>
            <a:ext cx="981075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A3B29226-D4D2-4A47-AF00-0021DCEBE188}"/>
              </a:ext>
            </a:extLst>
          </ns0:cNvPr>
          <ns0:cNvSpPr>
            <a:spLocks noGrp="1"/>
          </ns0:cNvSpPr>
          <ns0:nvPr/>
        </ns0:nvSpPr>
        <ns0:spPr>
          <a:xfrm>
            <a:off x="990600" y="47053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Lectura técnica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7E771E2C-2F51-49A9-A26A-02932A56D4A7}"/>
              </a:ext>
            </a:extLst>
          </ns0:cNvPr>
          <ns0:cNvSpPr>
            <a:spLocks noGrp="1"/>
          </ns0:cNvSpPr>
          <ns0:nvPr/>
        </ns0:nvSpPr>
        <ns0:spPr>
          <a:xfrm>
            <a:off x="990600" y="501015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En la versión actual, el modelo aprende la referencia técnica del sistema. Con datos reales de explotaciones podría ajustarse para capturar diferencias de manejo, suelo y respuesta local.</a:t>
            </a:r>
          </a:p>
        </ns0:txBody>
      </ns0:sp>
    </ns0:spTree>
    <ns0:extLst>
      <ns0:ext uri="{BB962C8B-B14F-4D97-AF65-F5344CB8AC3E}">
        <ns3:creationId val="216871345"/>
      </ns0:ext>
    </ns0:extLst>
  </ns0:cSld>
</ns0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4B5B3BA-9DEC-4650-A9A5-ACB90D22EB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89AEDBD-1E2D-4258-ACC1-8F963BE0F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4189E0B-02C4-49C2-AD04-6704724FBE96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7221CD99-E378-43E2-9F89-67B1B19129B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ESCENARIO DE VALIDACIÓN</a:t>
            </a:r>
          </a:p>
        </p:txBody>
      </p:sp>
      <p:sp>
        <p:nvSpPr>
          <p:cNvPr id="5" name="">
            <a:extLst>
              <a:ext uri="{FF2B5EF4-FFF2-40B4-BE49-F238E27FC236}">
                <ns2:creationId id="{0B0A6E1E-B91F-4CFB-B5D5-9F5F69FE936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validación se basa en un escenario estable, reproducible y documentado.</a:t>
            </a:r>
          </a:p>
        </p:txBody>
      </p:sp>
      <p:sp>
        <p:nvSpPr>
          <p:cNvPr id="6" name="">
            <a:extLst>
              <a:ext uri="{FF2B5EF4-FFF2-40B4-BE49-F238E27FC236}">
                <ns2:creationId id="{F1A24882-1D08-4CF8-BB96-91E35558DD4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El objetivo es verificar el funcionamiento del servicio sin depender de nuevas peticiones a AEMET.</a:t>
            </a:r>
          </a:p>
        </p:txBody>
      </p:sp>
      <p:sp>
        <p:nvSpPr>
          <p:cNvPr id="7" name="">
            <a:extLst>
              <a:ext uri="{FF2B5EF4-FFF2-40B4-BE49-F238E27FC236}">
                <ns2:creationId id="{116203F5-3A4D-4846-AFDE-90F9683A74CC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38125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7F52DA6-B8C0-4F4F-BD16-074B2B63FC54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Elemento</a:t>
            </a:r>
          </a:p>
        </p:txBody>
      </p:sp>
      <p:sp>
        <p:nvSpPr>
          <p:cNvPr id="9" name="">
            <a:extLst>
              <a:ext uri="{FF2B5EF4-FFF2-40B4-BE49-F238E27FC236}">
                <ns2:creationId id="{AB824F1C-21EC-4C15-A3A5-590BC2AB0B08}"/>
              </a:ext>
            </a:extLst>
          </p:cNvPr>
          <p:cNvSpPr>
            <a:spLocks noGrp="1"/>
          </p:cNvSpPr>
          <p:nvPr/>
        </p:nvSpPr>
        <p:spPr>
          <a:xfrm>
            <a:off x="3067050" y="2305050"/>
            <a:ext cx="28575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34BCDDA9-9AEA-4E47-9FEA-1918D09C6266}"/>
              </a:ext>
            </a:extLst>
          </p:cNvPr>
          <p:cNvSpPr>
            <a:spLocks noGrp="1"/>
          </p:cNvSpPr>
          <p:nvPr/>
        </p:nvSpPr>
        <p:spPr>
          <a:xfrm>
            <a:off x="3162300" y="24003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  <p:sp>
        <p:nvSpPr>
          <p:cNvPr id="11" name="">
            <a:extLst>
              <a:ext uri="{FF2B5EF4-FFF2-40B4-BE49-F238E27FC236}">
                <ns2:creationId id="{D0B2318C-A4E5-4DC5-8067-386CCB128882}"/>
              </a:ext>
            </a:extLst>
          </p:cNvPr>
          <p:cNvSpPr>
            <a:spLocks noGrp="1"/>
          </p:cNvSpPr>
          <p:nvPr/>
        </p:nvSpPr>
        <p:spPr>
          <a:xfrm>
            <a:off x="5924550" y="2305050"/>
            <a:ext cx="47625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8657B908-BBD0-485A-99A1-7B27334B83B6}"/>
              </a:ext>
            </a:extLst>
          </p:cNvPr>
          <p:cNvSpPr>
            <a:spLocks noGrp="1"/>
          </p:cNvSpPr>
          <p:nvPr/>
        </p:nvSpPr>
        <p:spPr>
          <a:xfrm>
            <a:off x="6019800" y="240030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Justificación</a:t>
            </a:r>
          </a:p>
        </p:txBody>
      </p:sp>
      <p:sp>
        <p:nvSpPr>
          <p:cNvPr id="13" name="">
            <a:extLst>
              <a:ext uri="{FF2B5EF4-FFF2-40B4-BE49-F238E27FC236}">
                <ns2:creationId id="{6128C806-1C20-491E-A584-8044EB6FA8C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D6E62C0-5E3A-4A92-A67C-810B23079097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Fuente climática</a:t>
            </a:r>
          </a:p>
        </p:txBody>
      </p:sp>
      <p:sp>
        <p:nvSpPr>
          <p:cNvPr id="15" name="">
            <a:extLst>
              <a:ext uri="{FF2B5EF4-FFF2-40B4-BE49-F238E27FC236}">
                <ns2:creationId id="{869A98FF-D3D1-4092-86C5-0A5D8A2D3765}"/>
              </a:ext>
            </a:extLst>
          </p:cNvPr>
          <p:cNvSpPr>
            <a:spLocks noGrp="1"/>
          </p:cNvSpPr>
          <p:nvPr/>
        </p:nvSpPr>
        <p:spPr>
          <a:xfrm>
            <a:off x="3067050" y="266700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0A0BE98-424C-4209-B247-88CC096DD2A5}"/>
              </a:ext>
            </a:extLst>
          </p:cNvPr>
          <p:cNvSpPr>
            <a:spLocks noGrp="1"/>
          </p:cNvSpPr>
          <p:nvPr/>
        </p:nvSpPr>
        <p:spPr>
          <a:xfrm>
            <a:off x="3162300" y="2762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CSV local versionado</a:t>
            </a:r>
          </a:p>
        </p:txBody>
      </p:sp>
      <p:sp>
        <p:nvSpPr>
          <p:cNvPr id="17" name="">
            <a:extLst>
              <a:ext uri="{FF2B5EF4-FFF2-40B4-BE49-F238E27FC236}">
                <ns2:creationId id="{01A47506-765C-46A6-8113-D74822F34D49}"/>
              </a:ext>
            </a:extLst>
          </p:cNvPr>
          <p:cNvSpPr>
            <a:spLocks noGrp="1"/>
          </p:cNvSpPr>
          <p:nvPr/>
        </p:nvSpPr>
        <p:spPr>
          <a:xfrm>
            <a:off x="5924550" y="2667000"/>
            <a:ext cx="4762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297B0335-25C3-4A38-88AE-C586EDFAF00F}"/>
              </a:ext>
            </a:extLst>
          </p:cNvPr>
          <p:cNvSpPr>
            <a:spLocks noGrp="1"/>
          </p:cNvSpPr>
          <p:nvPr/>
        </p:nvSpPr>
        <p:spPr>
          <a:xfrm>
            <a:off x="6019800" y="27622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Evita saturación de AEMET y garantiza repetibilidad.</a:t>
            </a:r>
          </a:p>
        </p:txBody>
      </p:sp>
      <p:sp>
        <p:nvSpPr>
          <p:cNvPr id="19" name="">
            <a:extLst>
              <a:ext uri="{FF2B5EF4-FFF2-40B4-BE49-F238E27FC236}">
                <ns2:creationId id="{66DB35E5-25D9-415F-9B65-6DBDF79DE664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381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08E766D3-7A68-4785-B5EB-099C8ECC1CBC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Estación</a:t>
            </a:r>
          </a:p>
        </p:txBody>
      </p:sp>
      <p:sp>
        <p:nvSpPr>
          <p:cNvPr id="21" name="">
            <a:extLst>
              <a:ext uri="{FF2B5EF4-FFF2-40B4-BE49-F238E27FC236}">
                <ns2:creationId id="{52E76B6F-313B-4462-A1E2-7DB8601345FC}"/>
              </a:ext>
            </a:extLst>
          </p:cNvPr>
          <p:cNvSpPr>
            <a:spLocks noGrp="1"/>
          </p:cNvSpPr>
          <p:nvPr/>
        </p:nvSpPr>
        <p:spPr>
          <a:xfrm>
            <a:off x="3067050" y="3086100"/>
            <a:ext cx="2857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1F6D43E5-1AF8-4E36-9A21-5DA5810374FA}"/>
              </a:ext>
            </a:extLst>
          </p:cNvPr>
          <p:cNvSpPr>
            <a:spLocks noGrp="1"/>
          </p:cNvSpPr>
          <p:nvPr/>
        </p:nvSpPr>
        <p:spPr>
          <a:xfrm>
            <a:off x="3162300" y="31813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5783 Sevilla Aeropuerto</a:t>
            </a:r>
          </a:p>
        </p:txBody>
      </p:sp>
      <p:sp>
        <p:nvSpPr>
          <p:cNvPr id="23" name="">
            <a:extLst>
              <a:ext uri="{FF2B5EF4-FFF2-40B4-BE49-F238E27FC236}">
                <ns2:creationId id="{AA0C1EC4-37B6-46A2-B5AD-B7DCDA612EC8}"/>
              </a:ext>
            </a:extLst>
          </p:cNvPr>
          <p:cNvSpPr>
            <a:spLocks noGrp="1"/>
          </p:cNvSpPr>
          <p:nvPr/>
        </p:nvSpPr>
        <p:spPr>
          <a:xfrm>
            <a:off x="5924550" y="3086100"/>
            <a:ext cx="4762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74379A2C-4F96-432D-8451-44B317354D7D}"/>
              </a:ext>
            </a:extLst>
          </p:cNvPr>
          <p:cNvSpPr>
            <a:spLocks noGrp="1"/>
          </p:cNvSpPr>
          <p:nvPr/>
        </p:nvSpPr>
        <p:spPr>
          <a:xfrm>
            <a:off x="6019800" y="31813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Escenario real de datos meteorológicos.</a:t>
            </a:r>
          </a:p>
        </p:txBody>
      </p:sp>
      <p:sp>
        <p:nvSpPr>
          <p:cNvPr id="25" name="">
            <a:extLst>
              <a:ext uri="{FF2B5EF4-FFF2-40B4-BE49-F238E27FC236}">
                <ns2:creationId id="{07479145-7F5E-489D-9CF1-DA440133B346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6D7B2BFB-1709-4FEA-B7F0-A078F1670153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Periodo</a:t>
            </a:r>
          </a:p>
        </p:txBody>
      </p:sp>
      <p:sp>
        <p:nvSpPr>
          <p:cNvPr id="27" name="">
            <a:extLst>
              <a:ext uri="{FF2B5EF4-FFF2-40B4-BE49-F238E27FC236}">
                <ns2:creationId id="{4BF32F05-62B7-4C8A-B70F-A97FDCA65C9E}"/>
              </a:ext>
            </a:extLst>
          </p:cNvPr>
          <p:cNvSpPr>
            <a:spLocks noGrp="1"/>
          </p:cNvSpPr>
          <p:nvPr/>
        </p:nvSpPr>
        <p:spPr>
          <a:xfrm>
            <a:off x="3067050" y="350520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AD7FCA78-A784-4405-9424-C7BCC6952873}"/>
              </a:ext>
            </a:extLst>
          </p:cNvPr>
          <p:cNvSpPr>
            <a:spLocks noGrp="1"/>
          </p:cNvSpPr>
          <p:nvPr/>
        </p:nvSpPr>
        <p:spPr>
          <a:xfrm>
            <a:off x="3162300" y="36004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2024-05-01 a 2024-05-07</a:t>
            </a:r>
          </a:p>
        </p:txBody>
      </p:sp>
      <p:sp>
        <p:nvSpPr>
          <p:cNvPr id="29" name="">
            <a:extLst>
              <a:ext uri="{FF2B5EF4-FFF2-40B4-BE49-F238E27FC236}">
                <ns2:creationId id="{B9CA73D7-662E-43F6-93DA-081CD7E17BD3}"/>
              </a:ext>
            </a:extLst>
          </p:cNvPr>
          <p:cNvSpPr>
            <a:spLocks noGrp="1"/>
          </p:cNvSpPr>
          <p:nvPr/>
        </p:nvSpPr>
        <p:spPr>
          <a:xfrm>
            <a:off x="5924550" y="3505200"/>
            <a:ext cx="4762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B931B7D8-53F3-4688-AACE-4851ACDD5AF4}"/>
              </a:ext>
            </a:extLst>
          </p:cNvPr>
          <p:cNvSpPr>
            <a:spLocks noGrp="1"/>
          </p:cNvSpPr>
          <p:nvPr/>
        </p:nvSpPr>
        <p:spPr>
          <a:xfrm>
            <a:off x="6019800" y="36004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Primera semana de mayo para comparación diaria.</a:t>
            </a:r>
          </a:p>
        </p:txBody>
      </p:sp>
      <p:sp>
        <p:nvSpPr>
          <p:cNvPr id="31" name="">
            <a:extLst>
              <a:ext uri="{FF2B5EF4-FFF2-40B4-BE49-F238E27FC236}">
                <ns2:creationId id="{956DCEED-F066-45C3-82BD-098B22A583AA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381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B8559E25-8DE8-42FE-92C1-B21EBCD2E603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Cultivo</a:t>
            </a:r>
          </a:p>
        </p:txBody>
      </p:sp>
      <p:sp>
        <p:nvSpPr>
          <p:cNvPr id="33" name="">
            <a:extLst>
              <a:ext uri="{FF2B5EF4-FFF2-40B4-BE49-F238E27FC236}">
                <ns2:creationId id="{D422B807-121A-427A-8135-4079E41302FC}"/>
              </a:ext>
            </a:extLst>
          </p:cNvPr>
          <p:cNvSpPr>
            <a:spLocks noGrp="1"/>
          </p:cNvSpPr>
          <p:nvPr/>
        </p:nvSpPr>
        <p:spPr>
          <a:xfrm>
            <a:off x="3067050" y="3924300"/>
            <a:ext cx="2857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0E2BB103-7699-45F6-A859-BCBFDA3FF4F7}"/>
              </a:ext>
            </a:extLst>
          </p:cNvPr>
          <p:cNvSpPr>
            <a:spLocks noGrp="1"/>
          </p:cNvSpPr>
          <p:nvPr/>
        </p:nvSpPr>
        <p:spPr>
          <a:xfrm>
            <a:off x="3162300" y="40195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Olivar en fase media</a:t>
            </a:r>
          </a:p>
        </p:txBody>
      </p:sp>
      <p:sp>
        <p:nvSpPr>
          <p:cNvPr id="35" name="">
            <a:extLst>
              <a:ext uri="{FF2B5EF4-FFF2-40B4-BE49-F238E27FC236}">
                <ns2:creationId id="{D644B6B7-DC19-435A-9F86-598B8467A4FB}"/>
              </a:ext>
            </a:extLst>
          </p:cNvPr>
          <p:cNvSpPr>
            <a:spLocks noGrp="1"/>
          </p:cNvSpPr>
          <p:nvPr/>
        </p:nvSpPr>
        <p:spPr>
          <a:xfrm>
            <a:off x="5924550" y="3924300"/>
            <a:ext cx="4762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DFB26ECC-551F-4904-8934-8CCAB6BEE121}"/>
              </a:ext>
            </a:extLst>
          </p:cNvPr>
          <p:cNvSpPr>
            <a:spLocks noGrp="1"/>
          </p:cNvSpPr>
          <p:nvPr/>
        </p:nvSpPr>
        <p:spPr>
          <a:xfrm>
            <a:off x="6019800" y="40195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Caso principal del Valle del Guadalquivir.</a:t>
            </a:r>
          </a:p>
        </p:txBody>
      </p:sp>
      <p:sp>
        <p:nvSpPr>
          <p:cNvPr id="37" name="">
            <a:extLst>
              <a:ext uri="{FF2B5EF4-FFF2-40B4-BE49-F238E27FC236}">
                <ns2:creationId id="{E14AC86E-41B3-439C-ACDB-B56A5B4C4058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381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1605E2AB-CC8F-45E4-9CA0-954623AD3F39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Superficie</a:t>
            </a:r>
          </a:p>
        </p:txBody>
      </p:sp>
      <p:sp>
        <p:nvSpPr>
          <p:cNvPr id="39" name="">
            <a:extLst>
              <a:ext uri="{FF2B5EF4-FFF2-40B4-BE49-F238E27FC236}">
                <ns2:creationId id="{31A158BC-18C9-45DC-8344-14670FA6AA35}"/>
              </a:ext>
            </a:extLst>
          </p:cNvPr>
          <p:cNvSpPr>
            <a:spLocks noGrp="1"/>
          </p:cNvSpPr>
          <p:nvPr/>
        </p:nvSpPr>
        <p:spPr>
          <a:xfrm>
            <a:off x="3067050" y="434340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087AC996-E130-4CEF-9AC8-F09C57BF6B9A}"/>
              </a:ext>
            </a:extLst>
          </p:cNvPr>
          <p:cNvSpPr>
            <a:spLocks noGrp="1"/>
          </p:cNvSpPr>
          <p:nvPr/>
        </p:nvSpPr>
        <p:spPr>
          <a:xfrm>
            <a:off x="3162300" y="44386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3.500 m2</a:t>
            </a:r>
          </a:p>
        </p:txBody>
      </p:sp>
      <p:sp>
        <p:nvSpPr>
          <p:cNvPr id="41" name="">
            <a:extLst>
              <a:ext uri="{FF2B5EF4-FFF2-40B4-BE49-F238E27FC236}">
                <ns2:creationId id="{7FD3C463-D8F4-4154-9169-00943E10FF23}"/>
              </a:ext>
            </a:extLst>
          </p:cNvPr>
          <p:cNvSpPr>
            <a:spLocks noGrp="1"/>
          </p:cNvSpPr>
          <p:nvPr/>
        </p:nvSpPr>
        <p:spPr>
          <a:xfrm>
            <a:off x="5924550" y="4343400"/>
            <a:ext cx="4762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202913C4-9024-45AE-A6D3-73EF53A50FEE}"/>
              </a:ext>
            </a:extLst>
          </p:cNvPr>
          <p:cNvSpPr>
            <a:spLocks noGrp="1"/>
          </p:cNvSpPr>
          <p:nvPr/>
        </p:nvSpPr>
        <p:spPr>
          <a:xfrm>
            <a:off x="6019800" y="44386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Dimensión de parcela usada en la simulación.</a:t>
            </a:r>
          </a:p>
        </p:txBody>
      </p:sp>
      <p:sp>
        <p:nvSpPr>
          <p:cNvPr id="43" name="">
            <a:extLst>
              <a:ext uri="{FF2B5EF4-FFF2-40B4-BE49-F238E27FC236}">
                <ns2:creationId id="{7D794B9E-FC75-4A5E-8118-F8D2526CE4B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381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77026BD1-37B9-4177-90F2-DFC576C5CAA3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Modelo ML</a:t>
            </a:r>
          </a:p>
        </p:txBody>
      </p:sp>
      <p:sp>
        <p:nvSpPr>
          <p:cNvPr id="45" name="">
            <a:extLst>
              <a:ext uri="{FF2B5EF4-FFF2-40B4-BE49-F238E27FC236}">
                <ns2:creationId id="{B62F25C1-D946-4E50-A0DE-D9EB6C8C44AF}"/>
              </a:ext>
            </a:extLst>
          </p:cNvPr>
          <p:cNvSpPr>
            <a:spLocks noGrp="1"/>
          </p:cNvSpPr>
          <p:nvPr/>
        </p:nvSpPr>
        <p:spPr>
          <a:xfrm>
            <a:off x="3067050" y="4762500"/>
            <a:ext cx="2857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CA7D746E-8094-4297-846A-F5BBDFD9DA2F}"/>
              </a:ext>
            </a:extLst>
          </p:cNvPr>
          <p:cNvSpPr>
            <a:spLocks noGrp="1"/>
          </p:cNvSpPr>
          <p:nvPr/>
        </p:nvSpPr>
        <p:spPr>
          <a:xfrm>
            <a:off x="3162300" y="48577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models/riego_predictivo</a:t>
            </a:r>
          </a:p>
        </p:txBody>
      </p:sp>
      <p:sp>
        <p:nvSpPr>
          <p:cNvPr id="47" name="">
            <a:extLst>
              <a:ext uri="{FF2B5EF4-FFF2-40B4-BE49-F238E27FC236}">
                <ns2:creationId id="{9BCB7E02-18D5-4C75-AB72-CCC6109A5D2F}"/>
              </a:ext>
            </a:extLst>
          </p:cNvPr>
          <p:cNvSpPr>
            <a:spLocks noGrp="1"/>
          </p:cNvSpPr>
          <p:nvPr/>
        </p:nvSpPr>
        <p:spPr>
          <a:xfrm>
            <a:off x="5924550" y="4762500"/>
            <a:ext cx="47625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C4540A99-AA20-4BE5-9A2E-A641C1BB2819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Modelo versionado dentro del repositorio.</a:t>
            </a:r>
          </a:p>
        </p:txBody>
      </p:sp>
      <p:sp>
        <p:nvSpPr>
          <p:cNvPr id="49" name="">
            <a:extLst>
              <a:ext uri="{FF2B5EF4-FFF2-40B4-BE49-F238E27FC236}">
                <ns2:creationId id="{84E0F66E-4C97-4C86-B922-D27CBA5C5A0A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configuración permite repetir la misma salida de forma reproducible. La app muestra 920 estaciones AEMET, aunque el cálculo CSV se fija a Sevilla Aeropuerto por ser el dataset versionado.</a:t>
            </a:r>
          </a:p>
        </p:txBody>
      </p:sp>
    </p:spTree>
    <p:extLst>
      <p:ext uri="{BB962C8B-B14F-4D97-AF65-F5344CB8AC3E}">
        <ns3:creationId val="65176930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2FAC77F-4EE2-4380-B9AF-C3F39077EC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2ADC30B-23BB-414B-8479-BBCB4B2702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00BD40A0-7C28-4A19-9320-35CC8E9EA832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65BD3DF1-2A0D-4403-AE72-8D23DB087E3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RESULTADOS DEL ESCENARIO</a:t>
            </a:r>
          </a:p>
        </p:txBody>
      </p:sp>
      <p:sp>
        <p:nvSpPr>
          <p:cNvPr id="5" name="">
            <a:extLst>
              <a:ext uri="{FF2B5EF4-FFF2-40B4-BE49-F238E27FC236}">
                <ns2:creationId id="{75F7F912-B714-4904-9BE6-34C975B31B6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prototipo devuelve una recomendación cuantificada para la parcela completa.</a:t>
            </a:r>
          </a:p>
        </p:txBody>
      </p:sp>
      <p:sp>
        <p:nvSpPr>
          <p:cNvPr id="6" name="">
            <a:extLst>
              <a:ext uri="{FF2B5EF4-FFF2-40B4-BE49-F238E27FC236}">
                <ns2:creationId id="{E16D3567-AC57-4060-8839-247044BC3773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Los indicadores se expresan en unidades comprensibles para la toma de decisiones.</a:t>
            </a:r>
          </a:p>
        </p:txBody>
      </p:sp>
      <p:sp>
        <p:nvSpPr>
          <p:cNvPr id="7" name="">
            <a:extLst>
              <a:ext uri="{FF2B5EF4-FFF2-40B4-BE49-F238E27FC236}">
                <ns2:creationId id="{52B43342-4AC3-48D1-8AC9-EF78C1ECD3A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A3C6B97-2203-459F-B548-56F0591FA8B8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Riego total del periodo</a:t>
            </a:r>
          </a:p>
        </p:txBody>
      </p:sp>
      <p:sp>
        <p:nvSpPr>
          <p:cNvPr id="9" name="">
            <a:extLst>
              <a:ext uri="{FF2B5EF4-FFF2-40B4-BE49-F238E27FC236}">
                <ns2:creationId id="{04D79712-0DE2-4B4E-9B79-C1BDD80AA63B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97.156 L</a:t>
            </a:r>
          </a:p>
        </p:txBody>
      </p:sp>
      <p:sp>
        <p:nvSpPr>
          <p:cNvPr id="10" name="">
            <a:extLst>
              <a:ext uri="{FF2B5EF4-FFF2-40B4-BE49-F238E27FC236}">
                <ns2:creationId id="{36D8A12A-4334-4F12-9F78-7D27EE1C1DF6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Agua total recomendada para los siete días.</a:t>
            </a:r>
          </a:p>
        </p:txBody>
      </p:sp>
      <p:sp>
        <p:nvSpPr>
          <p:cNvPr id="11" name="">
            <a:extLst>
              <a:ext uri="{FF2B5EF4-FFF2-40B4-BE49-F238E27FC236}">
                <ns2:creationId id="{A7FBCDE2-B91A-4EEE-9057-4D2C71BE5D9A}"/>
              </a:ext>
            </a:extLst>
          </p:cNvPr>
          <p:cNvSpPr>
            <a:spLocks noGrp="1"/>
          </p:cNvSpPr>
          <p:nvPr/>
        </p:nvSpPr>
        <p:spPr>
          <a:xfrm>
            <a:off x="3352800" y="2266950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A7532DB-EEDB-4682-BFDE-D872D8787FC2}"/>
              </a:ext>
            </a:extLst>
          </p:cNvPr>
          <p:cNvSpPr>
            <a:spLocks noGrp="1"/>
          </p:cNvSpPr>
          <p:nvPr/>
        </p:nvSpPr>
        <p:spPr>
          <a:xfrm>
            <a:off x="3524250" y="2419350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Riego medio diario</a:t>
            </a:r>
          </a:p>
        </p:txBody>
      </p:sp>
      <p:sp>
        <p:nvSpPr>
          <p:cNvPr id="13" name="">
            <a:extLst>
              <a:ext uri="{FF2B5EF4-FFF2-40B4-BE49-F238E27FC236}">
                <ns2:creationId id="{41A92B73-1758-494D-ACF0-D49D458DB47B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13.879 L/día</a:t>
            </a:r>
          </a:p>
        </p:txBody>
      </p:sp>
      <p:sp>
        <p:nvSpPr>
          <p:cNvPr id="14" name="">
            <a:extLst>
              <a:ext uri="{FF2B5EF4-FFF2-40B4-BE49-F238E27FC236}">
                <ns2:creationId id="{3BE959BC-A86F-4AB4-BA8C-E5698B765FEA}"/>
              </a:ext>
            </a:extLst>
          </p:cNvPr>
          <p:cNvSpPr>
            <a:spLocks noGrp="1"/>
          </p:cNvSpPr>
          <p:nvPr/>
        </p:nvSpPr>
        <p:spPr>
          <a:xfrm>
            <a:off x="3524250" y="308610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Promedio diario para toda la parcela.</a:t>
            </a:r>
          </a:p>
        </p:txBody>
      </p:sp>
      <p:sp>
        <p:nvSpPr>
          <p:cNvPr id="15" name="">
            <a:extLst>
              <a:ext uri="{FF2B5EF4-FFF2-40B4-BE49-F238E27FC236}">
                <ns2:creationId id="{91827281-1438-413F-8E6B-D584448F0C28}"/>
              </a:ext>
            </a:extLst>
          </p:cNvPr>
          <p:cNvSpPr>
            <a:spLocks noGrp="1"/>
          </p:cNvSpPr>
          <p:nvPr/>
        </p:nvSpPr>
        <p:spPr>
          <a:xfrm>
            <a:off x="6019800" y="2266950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C755839-40F2-47FE-A1DF-5D03903DFB46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Litros por planta</a:t>
            </a:r>
          </a:p>
        </p:txBody>
      </p:sp>
      <p:sp>
        <p:nvSpPr>
          <p:cNvPr id="17" name="">
            <a:extLst>
              <a:ext uri="{FF2B5EF4-FFF2-40B4-BE49-F238E27FC236}">
                <ns2:creationId id="{36BFE408-DDAA-4AF4-A74F-99417C6C1735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31,72 L/planta/día</a:t>
            </a:r>
          </a:p>
        </p:txBody>
      </p:sp>
      <p:sp>
        <p:nvSpPr>
          <p:cNvPr id="18" name="">
            <a:extLst>
              <a:ext uri="{FF2B5EF4-FFF2-40B4-BE49-F238E27FC236}">
                <ns2:creationId id="{4818A6BE-77C8-47AA-BAB5-280201479288}"/>
              </a:ext>
            </a:extLst>
          </p:cNvPr>
          <p:cNvSpPr>
            <a:spLocks noGrp="1"/>
          </p:cNvSpPr>
          <p:nvPr/>
        </p:nvSpPr>
        <p:spPr>
          <a:xfrm>
            <a:off x="6191250" y="308610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Media diaria estimada por planta.</a:t>
            </a:r>
          </a:p>
        </p:txBody>
      </p:sp>
      <p:sp>
        <p:nvSpPr>
          <p:cNvPr id="19" name="">
            <a:extLst>
              <a:ext uri="{FF2B5EF4-FFF2-40B4-BE49-F238E27FC236}">
                <ns2:creationId id="{60A3867B-5509-439A-9272-69EBDA1F785A}"/>
              </a:ext>
            </a:extLst>
          </p:cNvPr>
          <p:cNvSpPr>
            <a:spLocks noGrp="1"/>
          </p:cNvSpPr>
          <p:nvPr/>
        </p:nvSpPr>
        <p:spPr>
          <a:xfrm>
            <a:off x="8686800" y="2266950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BBF62C6D-3090-4664-8A7B-1BF8EAE8FA22}"/>
              </a:ext>
            </a:extLst>
          </p:cNvPr>
          <p:cNvSpPr>
            <a:spLocks noGrp="1"/>
          </p:cNvSpPr>
          <p:nvPr/>
        </p:nvSpPr>
        <p:spPr>
          <a:xfrm>
            <a:off x="8858250" y="2419350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23A"/>
                </a:solidFill>
                <a:latin typeface="Aptos"/>
                <a:ea typeface="Aptos"/>
                <a:cs typeface="Aptos"/>
              </a:rPr>
              <a:t>Lámina diaria</a:t>
            </a:r>
          </a:p>
        </p:txBody>
      </p:sp>
      <p:sp>
        <p:nvSpPr>
          <p:cNvPr id="21" name="">
            <a:extLst>
              <a:ext uri="{FF2B5EF4-FFF2-40B4-BE49-F238E27FC236}">
                <ns2:creationId id="{7A04C442-71DC-472D-9C38-B90D9BA6086E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3,97 mm/día</a:t>
            </a:r>
          </a:p>
        </p:txBody>
      </p:sp>
      <p:sp>
        <p:nvSpPr>
          <p:cNvPr id="22" name="">
            <a:extLst>
              <a:ext uri="{FF2B5EF4-FFF2-40B4-BE49-F238E27FC236}">
                <ns2:creationId id="{2CA6107D-EBA8-410F-90EB-A92A3DAE9149}"/>
              </a:ext>
            </a:extLst>
          </p:cNvPr>
          <p:cNvSpPr>
            <a:spLocks noGrp="1"/>
          </p:cNvSpPr>
          <p:nvPr/>
        </p:nvSpPr>
        <p:spPr>
          <a:xfrm>
            <a:off x="8858250" y="308610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Profundidad media aplicada al terreno.</a:t>
            </a:r>
          </a:p>
        </p:txBody>
      </p:sp>
      <p:sp>
        <p:nvSpPr>
          <p:cNvPr id="23" name="">
            <a:extLst>
              <a:ext uri="{FF2B5EF4-FFF2-40B4-BE49-F238E27FC236}">
                <ns2:creationId id="{039BC57F-ADF2-42A3-AC26-FAAEC0EACA62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D59F60B4-8268-4DF7-87C4-E9970F968675}"/>
              </a:ext>
            </a:extLst>
          </p:cNvPr>
          <p:cNvSpPr>
            <a:spLocks noGrp="1"/>
          </p:cNvSpPr>
          <p:nvPr/>
        </p:nvSpPr>
        <p:spPr>
          <a:xfrm>
            <a:off x="857250" y="3800475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ET0 media</a:t>
            </a:r>
          </a:p>
        </p:txBody>
      </p:sp>
      <p:sp>
        <p:nvSpPr>
          <p:cNvPr id="25" name="">
            <a:extLst>
              <a:ext uri="{FF2B5EF4-FFF2-40B4-BE49-F238E27FC236}">
                <ns2:creationId id="{A5C4141E-7D17-45E3-A047-4B67B1FEF1BD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5,10 mm/día</a:t>
            </a:r>
          </a:p>
        </p:txBody>
      </p:sp>
      <p:sp>
        <p:nvSpPr>
          <p:cNvPr id="26" name="">
            <a:extLst>
              <a:ext uri="{FF2B5EF4-FFF2-40B4-BE49-F238E27FC236}">
                <ns2:creationId id="{43CC0666-1359-46E2-9190-9455ADECE215}"/>
              </a:ext>
            </a:extLst>
          </p:cNvPr>
          <p:cNvSpPr>
            <a:spLocks noGrp="1"/>
          </p:cNvSpPr>
          <p:nvPr/>
        </p:nvSpPr>
        <p:spPr>
          <a:xfrm>
            <a:off x="857250" y="4467225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Demanda atmosférica media del periodo.</a:t>
            </a:r>
          </a:p>
        </p:txBody>
      </p:sp>
      <p:sp>
        <p:nvSpPr>
          <p:cNvPr id="27" name="">
            <a:extLst>
              <a:ext uri="{FF2B5EF4-FFF2-40B4-BE49-F238E27FC236}">
                <ns2:creationId id="{5A5AA722-45BA-4396-BC86-E1719D9C0F5F}"/>
              </a:ext>
            </a:extLst>
          </p:cNvPr>
          <p:cNvSpPr>
            <a:spLocks noGrp="1"/>
          </p:cNvSpPr>
          <p:nvPr/>
        </p:nvSpPr>
        <p:spPr>
          <a:xfrm>
            <a:off x="3352800" y="3648075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E9A2D394-9A28-4591-8BBD-E2C3CA26ADE1}"/>
              </a:ext>
            </a:extLst>
          </p:cNvPr>
          <p:cNvSpPr>
            <a:spLocks noGrp="1"/>
          </p:cNvSpPr>
          <p:nvPr/>
        </p:nvSpPr>
        <p:spPr>
          <a:xfrm>
            <a:off x="3524250" y="3800475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Lluvia total</a:t>
            </a:r>
          </a:p>
        </p:txBody>
      </p:sp>
      <p:sp>
        <p:nvSpPr>
          <p:cNvPr id="29" name="">
            <a:extLst>
              <a:ext uri="{FF2B5EF4-FFF2-40B4-BE49-F238E27FC236}">
                <ns2:creationId id="{E159C21E-29F6-4D31-90F0-48AA534F78B3}"/>
              </a:ext>
            </a:extLst>
          </p:cNvPr>
          <p:cNvSpPr>
            <a:spLocks noGrp="1"/>
          </p:cNvSpPr>
          <p:nvPr/>
        </p:nvSpPr>
        <p:spPr>
          <a:xfrm>
            <a:off x="3524250" y="4029075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0,00 mm</a:t>
            </a:r>
          </a:p>
        </p:txBody>
      </p:sp>
      <p:sp>
        <p:nvSpPr>
          <p:cNvPr id="30" name="">
            <a:extLst>
              <a:ext uri="{FF2B5EF4-FFF2-40B4-BE49-F238E27FC236}">
                <ns2:creationId id="{064940AA-ED70-4AAD-9000-3352DFC5346E}"/>
              </a:ext>
            </a:extLst>
          </p:cNvPr>
          <p:cNvSpPr>
            <a:spLocks noGrp="1"/>
          </p:cNvSpPr>
          <p:nvPr/>
        </p:nvSpPr>
        <p:spPr>
          <a:xfrm>
            <a:off x="3524250" y="4467225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No reduce la necesidad de riego.</a:t>
            </a:r>
          </a:p>
        </p:txBody>
      </p:sp>
      <p:sp>
        <p:nvSpPr>
          <p:cNvPr id="31" name="">
            <a:extLst>
              <a:ext uri="{FF2B5EF4-FFF2-40B4-BE49-F238E27FC236}">
                <ns2:creationId id="{D0171A5D-B8BF-448E-B653-88990E8D7865}"/>
              </a:ext>
            </a:extLst>
          </p:cNvPr>
          <p:cNvSpPr>
            <a:spLocks noGrp="1"/>
          </p:cNvSpPr>
          <p:nvPr/>
        </p:nvSpPr>
        <p:spPr>
          <a:xfrm>
            <a:off x="6019800" y="3648075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F63C0A47-AA86-44E6-9F6C-5587E09C4872}"/>
              </a:ext>
            </a:extLst>
          </p:cNvPr>
          <p:cNvSpPr>
            <a:spLocks noGrp="1"/>
          </p:cNvSpPr>
          <p:nvPr/>
        </p:nvSpPr>
        <p:spPr>
          <a:xfrm>
            <a:off x="6191250" y="3800475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Predicción ML</a:t>
            </a:r>
          </a:p>
        </p:txBody>
      </p:sp>
      <p:sp>
        <p:nvSpPr>
          <p:cNvPr id="33" name="">
            <a:extLst>
              <a:ext uri="{FF2B5EF4-FFF2-40B4-BE49-F238E27FC236}">
                <ns2:creationId id="{60411B08-24D7-4A5B-9E5F-E93846A13AC7}"/>
              </a:ext>
            </a:extLst>
          </p:cNvPr>
          <p:cNvSpPr>
            <a:spLocks noGrp="1"/>
          </p:cNvSpPr>
          <p:nvPr/>
        </p:nvSpPr>
        <p:spPr>
          <a:xfrm>
            <a:off x="6191250" y="4029075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97.160 L</a:t>
            </a:r>
          </a:p>
        </p:txBody>
      </p:sp>
      <p:sp>
        <p:nvSpPr>
          <p:cNvPr id="34" name="">
            <a:extLst>
              <a:ext uri="{FF2B5EF4-FFF2-40B4-BE49-F238E27FC236}">
                <ns2:creationId id="{21F21FCA-8067-4466-99D0-A42F3310B6D6}"/>
              </a:ext>
            </a:extLst>
          </p:cNvPr>
          <p:cNvSpPr>
            <a:spLocks noGrp="1"/>
          </p:cNvSpPr>
          <p:nvPr/>
        </p:nvSpPr>
        <p:spPr>
          <a:xfrm>
            <a:off x="6191250" y="4467225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Resultado muy cercano al cálculo base.</a:t>
            </a:r>
          </a:p>
        </p:txBody>
      </p:sp>
      <p:sp>
        <p:nvSpPr>
          <p:cNvPr id="35" name="">
            <a:extLst>
              <a:ext uri="{FF2B5EF4-FFF2-40B4-BE49-F238E27FC236}">
                <ns2:creationId id="{41794ABC-6C1B-4E70-9312-05F016BDB97D}"/>
              </a:ext>
            </a:extLst>
          </p:cNvPr>
          <p:cNvSpPr>
            <a:spLocks noGrp="1"/>
          </p:cNvSpPr>
          <p:nvPr/>
        </p:nvSpPr>
        <p:spPr>
          <a:xfrm>
            <a:off x="8686800" y="3648075"/>
            <a:ext cx="2333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B8F6FCFE-9CDF-45CB-AA0F-D6E039721751}"/>
              </a:ext>
            </a:extLst>
          </p:cNvPr>
          <p:cNvSpPr>
            <a:spLocks noGrp="1"/>
          </p:cNvSpPr>
          <p:nvPr/>
        </p:nvSpPr>
        <p:spPr>
          <a:xfrm>
            <a:off x="8858250" y="3800475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23A"/>
                </a:solidFill>
                <a:latin typeface="Aptos"/>
                <a:ea typeface="Aptos"/>
                <a:cs typeface="Aptos"/>
              </a:rPr>
              <a:t>ETc media</a:t>
            </a:r>
          </a:p>
        </p:txBody>
      </p:sp>
      <p:sp>
        <p:nvSpPr>
          <p:cNvPr id="37" name="">
            <a:extLst>
              <a:ext uri="{FF2B5EF4-FFF2-40B4-BE49-F238E27FC236}">
                <ns2:creationId id="{14689882-0056-48D0-B4F4-9C1FAD210E73}"/>
              </a:ext>
            </a:extLst>
          </p:cNvPr>
          <p:cNvSpPr>
            <a:spLocks noGrp="1"/>
          </p:cNvSpPr>
          <p:nvPr/>
        </p:nvSpPr>
        <p:spPr>
          <a:xfrm>
            <a:off x="8858250" y="4029075"/>
            <a:ext cx="19907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3,57 mm/día</a:t>
            </a:r>
          </a:p>
        </p:txBody>
      </p:sp>
      <p:sp>
        <p:nvSpPr>
          <p:cNvPr id="38" name="">
            <a:extLst>
              <a:ext uri="{FF2B5EF4-FFF2-40B4-BE49-F238E27FC236}">
                <ns2:creationId id="{3E115C5E-ACD8-4F89-AA54-6AC79C50B457}"/>
              </a:ext>
            </a:extLst>
          </p:cNvPr>
          <p:cNvSpPr>
            <a:spLocks noGrp="1"/>
          </p:cNvSpPr>
          <p:nvPr/>
        </p:nvSpPr>
        <p:spPr>
          <a:xfrm>
            <a:off x="8858250" y="4467225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Demanda hídrica del cultivo tras aplicar Kc.</a:t>
            </a:r>
          </a:p>
        </p:txBody>
      </p:sp>
      <p:sp>
        <p:nvSpPr>
          <p:cNvPr id="39" name="">
            <a:extLst>
              <a:ext uri="{FF2B5EF4-FFF2-40B4-BE49-F238E27FC236}">
                <ns2:creationId id="{CEB1B434-E65F-445E-AC14-DD55ABADA65B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00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Lectura principal: para el escenario de olivar, el sistema recomienda aproximadamente 97 mil litros en el periodo completo.</a:t>
            </a:r>
          </a:p>
        </p:txBody>
      </p:sp>
    </p:spTree>
    <p:extLst>
      <p:ext uri="{BB962C8B-B14F-4D97-AF65-F5344CB8AC3E}">
        <ns3:creationId val="82037458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C49E08B-D6E2-48B7-8119-E7495EDF84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EDEC8DFC-D565-4627-9883-9CC6743C20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CFD156F-3629-476A-A077-CB8F8A2391FD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31BA594B-92B8-49DF-9B8E-5CD8EB8DEA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VALIDACIÓN TÉCNICA</a:t>
            </a:r>
          </a:p>
        </p:txBody>
      </p:sp>
      <p:sp>
        <p:nvSpPr>
          <p:cNvPr id="5" name="">
            <a:extLst>
              <a:ext uri="{FF2B5EF4-FFF2-40B4-BE49-F238E27FC236}">
                <ns2:creationId id="{9DF6DAE6-26EF-4CEF-9F39-6D73DE58C1A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La validación del prototipo se apoya en pruebas, datos versionados y control de cambios.</a:t>
            </a:r>
          </a:p>
        </p:txBody>
      </p:sp>
      <p:sp>
        <p:nvSpPr>
          <p:cNvPr id="6" name="">
            <a:extLst>
              <a:ext uri="{FF2B5EF4-FFF2-40B4-BE49-F238E27FC236}">
                <ns2:creationId id="{3F19453B-1BA9-40A5-BE14-A0D4987B6B4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validación se centra en demostrar coherencia interna y reproducibilidad del cálculo.</a:t>
            </a:r>
          </a:p>
        </p:txBody>
      </p:sp>
      <p:sp>
        <p:nvSpPr>
          <p:cNvPr id="7" name="">
            <a:extLst>
              <a:ext uri="{FF2B5EF4-FFF2-40B4-BE49-F238E27FC236}">
                <ns2:creationId id="{5F1DBA3A-6E0B-4976-B33C-A811620F932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238C619F-E934-4B29-A0EB-11EB7D53AD9F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Pruebas unitarias</a:t>
            </a:r>
          </a:p>
        </p:txBody>
      </p:sp>
      <p:sp>
        <p:nvSpPr>
          <p:cNvPr id="9" name="">
            <a:extLst>
              <a:ext uri="{FF2B5EF4-FFF2-40B4-BE49-F238E27FC236}">
                <ns2:creationId id="{866CC097-2555-453C-A12A-04EAD7428651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La batería de tests valida cálculo, cultivos, CLI, exportación y predicción ML.</a:t>
            </a:r>
          </a:p>
        </p:txBody>
      </p:sp>
      <p:sp>
        <p:nvSpPr>
          <p:cNvPr id="10" name="">
            <a:extLst>
              <a:ext uri="{FF2B5EF4-FFF2-40B4-BE49-F238E27FC236}">
                <ns2:creationId id="{DC713735-29D6-4616-83BD-36A95A32D724}"/>
              </a:ext>
            </a:extLst>
          </p:cNvPr>
          <p:cNvSpPr>
            <a:spLocks noGrp="1"/>
          </p:cNvSpPr>
          <p:nvPr/>
        </p:nvSpPr>
        <p:spPr>
          <a:xfrm>
            <a:off x="4114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709B98DC-42EB-40E0-A5D5-6A8326AB655F}"/>
              </a:ext>
            </a:extLst>
          </p:cNvPr>
          <p:cNvSpPr>
            <a:spLocks noGrp="1"/>
          </p:cNvSpPr>
          <p:nvPr/>
        </p:nvSpPr>
        <p:spPr>
          <a:xfrm>
            <a:off x="4286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Dataset versionado</a:t>
            </a:r>
          </a:p>
        </p:txBody>
      </p:sp>
      <p:sp>
        <p:nvSpPr>
          <p:cNvPr id="12" name="">
            <a:extLst>
              <a:ext uri="{FF2B5EF4-FFF2-40B4-BE49-F238E27FC236}">
                <ns2:creationId id="{EAF92ECC-676B-4024-8505-5A97120B4017}"/>
              </a:ext>
            </a:extLst>
          </p:cNvPr>
          <p:cNvSpPr>
            <a:spLocks noGrp="1"/>
          </p:cNvSpPr>
          <p:nvPr/>
        </p:nvSpPr>
        <p:spPr>
          <a:xfrm>
            <a:off x="4286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CSV de Sevilla está versionado para repetir la salida sin depender de la API.</a:t>
            </a:r>
          </a:p>
        </p:txBody>
      </p:sp>
      <p:sp>
        <p:nvSpPr>
          <p:cNvPr id="13" name="">
            <a:extLst>
              <a:ext uri="{FF2B5EF4-FFF2-40B4-BE49-F238E27FC236}">
                <ns2:creationId id="{BE0359D4-D476-4219-B8B9-17C52F6D50C4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867A35BB-F08B-465B-816B-9A000F0253CA}"/>
              </a:ext>
            </a:extLst>
          </p:cNvPr>
          <p:cNvSpPr>
            <a:spLocks noGrp="1"/>
          </p:cNvSpPr>
          <p:nvPr/>
        </p:nvSpPr>
        <p:spPr>
          <a:xfrm>
            <a:off x="7715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Modelo versionado</a:t>
            </a:r>
          </a:p>
        </p:txBody>
      </p:sp>
      <p:sp>
        <p:nvSpPr>
          <p:cNvPr id="15" name="">
            <a:extLst>
              <a:ext uri="{FF2B5EF4-FFF2-40B4-BE49-F238E27FC236}">
                <ns2:creationId id="{55C4928E-5BB6-44DC-95EB-BDFC353C93B7}"/>
              </a:ext>
            </a:extLst>
          </p:cNvPr>
          <p:cNvSpPr>
            <a:spLocks noGrp="1"/>
          </p:cNvSpPr>
          <p:nvPr/>
        </p:nvSpPr>
        <p:spPr>
          <a:xfrm>
            <a:off x="7715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modelo predictivo se conserva en el repositorio para reproducir la inferencia.</a:t>
            </a:r>
          </a:p>
        </p:txBody>
      </p:sp>
      <p:sp>
        <p:nvSpPr>
          <p:cNvPr id="16" name="">
            <a:extLst>
              <a:ext uri="{FF2B5EF4-FFF2-40B4-BE49-F238E27FC236}">
                <ns2:creationId id="{D9771ABB-A536-4AE1-9EA3-E21F99BBFE31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048000" cy="1200150"/>
          </a:xfrm>
          <a:prstGeom prst="rect">
            <a:avLst/>
          </a:prstGeom>
          <a:solidFill>
            <a:srgbClr val="FFF8E8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0802D9D2-98C0-4E81-B18B-9947E65FD0DB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23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8" name="">
            <a:extLst>
              <a:ext uri="{FF2B5EF4-FFF2-40B4-BE49-F238E27FC236}">
                <ns2:creationId id="{E79D8023-CF32-4404-8EFE-D04262606ACF}"/>
              </a:ext>
            </a:extLst>
          </p:cNvPr>
          <p:cNvSpPr>
            <a:spLocks noGrp="1"/>
          </p:cNvSpPr>
          <p:nvPr/>
        </p:nvSpPr>
        <p:spPr>
          <a:xfrm>
            <a:off x="857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código, documentación y resultados se mantienen bajo control de versiones.</a:t>
            </a:r>
          </a:p>
        </p:txBody>
      </p:sp>
      <p:sp>
        <p:nvSpPr>
          <p:cNvPr id="19" name="">
            <a:extLst>
              <a:ext uri="{FF2B5EF4-FFF2-40B4-BE49-F238E27FC236}">
                <ns2:creationId id="{410F5AFC-92C6-4D54-B1B5-FC84D28BB844}"/>
              </a:ext>
            </a:extLst>
          </p:cNvPr>
          <p:cNvSpPr>
            <a:spLocks noGrp="1"/>
          </p:cNvSpPr>
          <p:nvPr/>
        </p:nvSpPr>
        <p:spPr>
          <a:xfrm>
            <a:off x="4114800" y="3857625"/>
            <a:ext cx="3048000" cy="120015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03008ECF-A47F-43D1-9BF2-8081A6D6E5F2}"/>
              </a:ext>
            </a:extLst>
          </p:cNvPr>
          <p:cNvSpPr>
            <a:spLocks noGrp="1"/>
          </p:cNvSpPr>
          <p:nvPr/>
        </p:nvSpPr>
        <p:spPr>
          <a:xfrm>
            <a:off x="4286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Exportación</a:t>
            </a:r>
          </a:p>
        </p:txBody>
      </p:sp>
      <p:sp>
        <p:nvSpPr>
          <p:cNvPr id="21" name="">
            <a:extLst>
              <a:ext uri="{FF2B5EF4-FFF2-40B4-BE49-F238E27FC236}">
                <ns2:creationId id="{D00FD639-5489-4856-BDA2-CF5F50D5E827}"/>
              </a:ext>
            </a:extLst>
          </p:cNvPr>
          <p:cNvSpPr>
            <a:spLocks noGrp="1"/>
          </p:cNvSpPr>
          <p:nvPr/>
        </p:nvSpPr>
        <p:spPr>
          <a:xfrm>
            <a:off x="4286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La salida puede generarse en Markdown, JSON o desde la interfaz Streamlit.</a:t>
            </a:r>
          </a:p>
        </p:txBody>
      </p:sp>
      <p:sp>
        <p:nvSpPr>
          <p:cNvPr id="22" name="">
            <a:extLst>
              <a:ext uri="{FF2B5EF4-FFF2-40B4-BE49-F238E27FC236}">
                <ns2:creationId id="{BCC78B96-EE37-4E93-B612-FCA024BA8EA3}"/>
              </a:ext>
            </a:extLst>
          </p:cNvPr>
          <p:cNvSpPr>
            <a:spLocks noGrp="1"/>
          </p:cNvSpPr>
          <p:nvPr/>
        </p:nvSpPr>
        <p:spPr>
          <a:xfrm>
            <a:off x="7543800" y="3857625"/>
            <a:ext cx="3048000" cy="1200150"/>
          </a:xfrm>
          <a:prstGeom prst="rect">
            <a:avLst/>
          </a:prstGeom>
          <a:solidFill>
            <a:srgbClr val="EEF3F8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96112CDD-066E-4BA3-A3AF-8ED224B36542}"/>
              </a:ext>
            </a:extLst>
          </p:cNvPr>
          <p:cNvSpPr>
            <a:spLocks noGrp="1"/>
          </p:cNvSpPr>
          <p:nvPr/>
        </p:nvSpPr>
        <p:spPr>
          <a:xfrm>
            <a:off x="7715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Trazabilidad</a:t>
            </a:r>
          </a:p>
        </p:txBody>
      </p:sp>
      <p:sp>
        <p:nvSpPr>
          <p:cNvPr id="24" name="">
            <a:extLst>
              <a:ext uri="{FF2B5EF4-FFF2-40B4-BE49-F238E27FC236}">
                <ns2:creationId id="{4F996293-81BF-4263-84EE-FC18EF149077}"/>
              </a:ext>
            </a:extLst>
          </p:cNvPr>
          <p:cNvSpPr>
            <a:spLocks noGrp="1"/>
          </p:cNvSpPr>
          <p:nvPr/>
        </p:nvSpPr>
        <p:spPr>
          <a:xfrm>
            <a:off x="7715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Cada resultado puede explicarse desde las variables de entrada hasta la fórmula aplicada.</a:t>
            </a:r>
          </a:p>
        </p:txBody>
      </p:sp>
    </p:spTree>
    <p:extLst>
      <p:ext uri="{BB962C8B-B14F-4D97-AF65-F5344CB8AC3E}">
        <ns3:creationId val="160549544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8D1F30D1-3385-4151-9029-899364C4B5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50F5A918-71E7-467C-AB0C-97D21F2AA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327B661-84E7-4E61-93E4-E5A6662CE762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B6CD6398-64D0-4540-8FA4-5B6459ECEFC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LIMITACIONES</a:t>
            </a:r>
          </a:p>
        </p:txBody>
      </p:sp>
      <p:sp>
        <p:nvSpPr>
          <p:cNvPr id="5" name="">
            <a:extLst>
              <a:ext uri="{FF2B5EF4-FFF2-40B4-BE49-F238E27FC236}">
                <ns2:creationId id="{891CB399-E063-41AE-885D-02E978AA050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prototipo es aplicable como demostrador técnico, con límites claros para uso comercial.</a:t>
            </a:r>
          </a:p>
        </p:txBody>
      </p:sp>
      <p:sp>
        <p:nvSpPr>
          <p:cNvPr id="6" name="">
            <a:extLst>
              <a:ext uri="{FF2B5EF4-FFF2-40B4-BE49-F238E27FC236}">
                <ns2:creationId id="{FAA52002-D6B9-4508-8EA6-78AA2180CE1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delimitación evita atribuir al sistema capacidades no implementadas.</a:t>
            </a:r>
          </a:p>
        </p:txBody>
      </p:sp>
      <p:sp>
        <p:nvSpPr>
          <p:cNvPr id="7" name="">
            <a:extLst>
              <a:ext uri="{FF2B5EF4-FFF2-40B4-BE49-F238E27FC236}">
                <ns2:creationId id="{AF782CE5-089E-475E-8F0F-044724D9A67F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B8BD1B0-AD54-4D1A-A30C-75EE2AD1D458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62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622D"/>
                </a:solidFill>
                <a:latin typeface="Aptos"/>
                <a:ea typeface="Aptos"/>
                <a:cs typeface="Aptos"/>
              </a:rPr>
              <a:t>Sin campo real</a:t>
            </a:r>
          </a:p>
        </p:txBody>
      </p:sp>
      <p:sp>
        <p:nvSpPr>
          <p:cNvPr id="9" name="">
            <a:extLst>
              <a:ext uri="{FF2B5EF4-FFF2-40B4-BE49-F238E27FC236}">
                <ns2:creationId id="{92BB2017-E44C-4520-A540-9AD1E1BDDDF0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No se ha calibrado con riegos reales aplicados por agricultores.</a:t>
            </a:r>
          </a:p>
        </p:txBody>
      </p:sp>
      <p:sp>
        <p:nvSpPr>
          <p:cNvPr id="10" name="">
            <a:extLst>
              <a:ext uri="{FF2B5EF4-FFF2-40B4-BE49-F238E27FC236}">
                <ns2:creationId id="{2540744B-485A-459A-A055-4BECE52F244C}"/>
              </a:ext>
            </a:extLst>
          </p:cNvPr>
          <p:cNvSpPr>
            <a:spLocks noGrp="1"/>
          </p:cNvSpPr>
          <p:nvPr/>
        </p:nvSpPr>
        <p:spPr>
          <a:xfrm>
            <a:off x="4114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D592DB9E-D355-43DD-B959-EF3F7FE828D8}"/>
              </a:ext>
            </a:extLst>
          </p:cNvPr>
          <p:cNvSpPr>
            <a:spLocks noGrp="1"/>
          </p:cNvSpPr>
          <p:nvPr/>
        </p:nvSpPr>
        <p:spPr>
          <a:xfrm>
            <a:off x="4286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Sin IoT desplegado</a:t>
            </a:r>
          </a:p>
        </p:txBody>
      </p:sp>
      <p:sp>
        <p:nvSpPr>
          <p:cNvPr id="12" name="">
            <a:extLst>
              <a:ext uri="{FF2B5EF4-FFF2-40B4-BE49-F238E27FC236}">
                <ns2:creationId id="{B8E2BBCE-1801-4587-8513-94411052AB99}"/>
              </a:ext>
            </a:extLst>
          </p:cNvPr>
          <p:cNvSpPr>
            <a:spLocks noGrp="1"/>
          </p:cNvSpPr>
          <p:nvPr/>
        </p:nvSpPr>
        <p:spPr>
          <a:xfrm>
            <a:off x="4286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Los sensores se plantean como evolución para alimentar datos de suelo.</a:t>
            </a:r>
          </a:p>
        </p:txBody>
      </p:sp>
      <p:sp>
        <p:nvSpPr>
          <p:cNvPr id="13" name="">
            <a:extLst>
              <a:ext uri="{FF2B5EF4-FFF2-40B4-BE49-F238E27FC236}">
                <ns2:creationId id="{40DD93DD-7CA5-4D3F-99D7-1E9CDB7A49C3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EF9392E-9A3C-425C-99EC-A96A4D7F5E1B}"/>
              </a:ext>
            </a:extLst>
          </p:cNvPr>
          <p:cNvSpPr>
            <a:spLocks noGrp="1"/>
          </p:cNvSpPr>
          <p:nvPr/>
        </p:nvSpPr>
        <p:spPr>
          <a:xfrm>
            <a:off x="7715250" y="255270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Sin BigQuery operativo</a:t>
            </a:r>
          </a:p>
        </p:txBody>
      </p:sp>
      <p:sp>
        <p:nvSpPr>
          <p:cNvPr id="15" name="">
            <a:extLst>
              <a:ext uri="{FF2B5EF4-FFF2-40B4-BE49-F238E27FC236}">
                <ns2:creationId id="{FD0FF8A4-0BCF-48CF-90EE-FEF3148145B9}"/>
              </a:ext>
            </a:extLst>
          </p:cNvPr>
          <p:cNvSpPr>
            <a:spLocks noGrp="1"/>
          </p:cNvSpPr>
          <p:nvPr/>
        </p:nvSpPr>
        <p:spPr>
          <a:xfrm>
            <a:off x="7715250" y="28384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almacenamiento masivo se reserva para una fase cloud posterior.</a:t>
            </a:r>
          </a:p>
        </p:txBody>
      </p:sp>
      <p:sp>
        <p:nvSpPr>
          <p:cNvPr id="16" name="">
            <a:extLst>
              <a:ext uri="{FF2B5EF4-FFF2-40B4-BE49-F238E27FC236}">
                <ns2:creationId id="{6FFD2282-0F00-4190-8F62-446A1C5EA8F8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048000" cy="1200150"/>
          </a:xfrm>
          <a:prstGeom prst="rect">
            <a:avLst/>
          </a:prstGeom>
          <a:solidFill>
            <a:srgbClr val="FFF8E8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0CAA2E34-2D11-4220-8469-0F3672A07143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8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23A"/>
                </a:solidFill>
                <a:latin typeface="Aptos"/>
                <a:ea typeface="Aptos"/>
                <a:cs typeface="Aptos"/>
              </a:rPr>
              <a:t>Dependencia de datos</a:t>
            </a:r>
          </a:p>
        </p:txBody>
      </p:sp>
      <p:sp>
        <p:nvSpPr>
          <p:cNvPr id="18" name="">
            <a:extLst>
              <a:ext uri="{FF2B5EF4-FFF2-40B4-BE49-F238E27FC236}">
                <ns2:creationId id="{A0B6BB00-ED38-42DC-A341-E485E169A66A}"/>
              </a:ext>
            </a:extLst>
          </p:cNvPr>
          <p:cNvSpPr>
            <a:spLocks noGrp="1"/>
          </p:cNvSpPr>
          <p:nvPr/>
        </p:nvSpPr>
        <p:spPr>
          <a:xfrm>
            <a:off x="857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AEMET puede limitar peticiones; por eso se usa caché local en la validación.</a:t>
            </a:r>
          </a:p>
        </p:txBody>
      </p:sp>
      <p:sp>
        <p:nvSpPr>
          <p:cNvPr id="19" name="">
            <a:extLst>
              <a:ext uri="{FF2B5EF4-FFF2-40B4-BE49-F238E27FC236}">
                <ns2:creationId id="{0B38CB62-AD91-4EB6-A2F2-5B7724516314}"/>
              </a:ext>
            </a:extLst>
          </p:cNvPr>
          <p:cNvSpPr>
            <a:spLocks noGrp="1"/>
          </p:cNvSpPr>
          <p:nvPr/>
        </p:nvSpPr>
        <p:spPr>
          <a:xfrm>
            <a:off x="4114800" y="3857625"/>
            <a:ext cx="3048000" cy="120015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2EB7646B-9249-4696-AF3C-8EDE650C9A7F}"/>
              </a:ext>
            </a:extLst>
          </p:cNvPr>
          <p:cNvSpPr>
            <a:spLocks noGrp="1"/>
          </p:cNvSpPr>
          <p:nvPr/>
        </p:nvSpPr>
        <p:spPr>
          <a:xfrm>
            <a:off x="4286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Recomendación, no automatización</a:t>
            </a:r>
          </a:p>
        </p:txBody>
      </p:sp>
      <p:sp>
        <p:nvSpPr>
          <p:cNvPr id="21" name="">
            <a:extLst>
              <a:ext uri="{FF2B5EF4-FFF2-40B4-BE49-F238E27FC236}">
                <ns2:creationId id="{30EC230C-DCB1-4069-847E-BE6F53543E62}"/>
              </a:ext>
            </a:extLst>
          </p:cNvPr>
          <p:cNvSpPr>
            <a:spLocks noGrp="1"/>
          </p:cNvSpPr>
          <p:nvPr/>
        </p:nvSpPr>
        <p:spPr>
          <a:xfrm>
            <a:off x="4286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El sistema calcula agua recomendada; no abre ni cierra válvulas.</a:t>
            </a:r>
          </a:p>
        </p:txBody>
      </p:sp>
      <p:sp>
        <p:nvSpPr>
          <p:cNvPr id="22" name="">
            <a:extLst>
              <a:ext uri="{FF2B5EF4-FFF2-40B4-BE49-F238E27FC236}">
                <ns2:creationId id="{FA144132-A0CB-4176-B766-270CE443726E}"/>
              </a:ext>
            </a:extLst>
          </p:cNvPr>
          <p:cNvSpPr>
            <a:spLocks noGrp="1"/>
          </p:cNvSpPr>
          <p:nvPr/>
        </p:nvSpPr>
        <p:spPr>
          <a:xfrm>
            <a:off x="7543800" y="3857625"/>
            <a:ext cx="3048000" cy="1200150"/>
          </a:xfrm>
          <a:prstGeom prst="rect">
            <a:avLst/>
          </a:prstGeom>
          <a:solidFill>
            <a:srgbClr val="EEF3F8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ECB09235-AE3E-42F0-AEAF-10B1A2BE2CA9}"/>
              </a:ext>
            </a:extLst>
          </p:cNvPr>
          <p:cNvSpPr>
            <a:spLocks noGrp="1"/>
          </p:cNvSpPr>
          <p:nvPr/>
        </p:nvSpPr>
        <p:spPr>
          <a:xfrm>
            <a:off x="7715250" y="4029075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5E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E88"/>
                </a:solidFill>
                <a:latin typeface="Aptos"/>
                <a:ea typeface="Aptos"/>
                <a:cs typeface="Aptos"/>
              </a:rPr>
              <a:t>Modelo calibrable</a:t>
            </a:r>
          </a:p>
        </p:txBody>
      </p:sp>
      <p:sp>
        <p:nvSpPr>
          <p:cNvPr id="24" name="">
            <a:extLst>
              <a:ext uri="{FF2B5EF4-FFF2-40B4-BE49-F238E27FC236}">
                <ns2:creationId id="{232F998F-9860-46F3-BF13-8A880BCEB205}"/>
              </a:ext>
            </a:extLst>
          </p:cNvPr>
          <p:cNvSpPr>
            <a:spLocks noGrp="1"/>
          </p:cNvSpPr>
          <p:nvPr/>
        </p:nvSpPr>
        <p:spPr>
          <a:xfrm>
            <a:off x="7715250" y="4314825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La precisión real aumentaría con datos históricos de parcela y respuesta del cultivo.</a:t>
            </a:r>
          </a:p>
        </p:txBody>
      </p:sp>
    </p:spTree>
    <p:extLst>
      <p:ext uri="{BB962C8B-B14F-4D97-AF65-F5344CB8AC3E}">
        <ns3:creationId val="870551481"/>
      </p:ext>
    </p:extLst>
  </p:cSld>
</p:sld>
</file>

<file path=ppt/slides/slide1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69899094-B220-453E-861B-275801D6997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1E3E3A44-E48D-4C94-B7E8-129204BB4B3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60BDF2D3-CF6D-4431-8419-1B59D5F1DC6F}"/>
              </a:ext>
            </a:extLst>
          </ns0:cNvPr>
          <ns0:cNvSpPr>
            <a:spLocks noGrp="1"/>
          </ns0:cNvSpPr>
          <ns0:nvPr/>
        </ns0:nvSpPr>
        <ns0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15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7AE37D9F-DEE6-4924-A6B4-22B213ACC0FE}"/>
              </a:ext>
            </a:extLst>
          </ns0:cNvPr>
          <ns0:cNvSpPr>
            <a:spLocks noGrp="1"/>
          </ns0:cNvSpPr>
          <ns0:nvPr/>
        </ns0:nvSpPr>
        <ns0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EVOLUCIÓN FUTURA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586B73F8-3708-48DA-85DF-5DC9E7C7BF63}"/>
              </a:ext>
            </a:extLst>
          </ns0:cNvPr>
          <ns0:cNvSpPr>
            <a:spLocks noGrp="1"/>
          </ns0:cNvSpPr>
          <ns0:nvPr/>
        </ns0:nvSpPr>
        <ns0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camino de mejora convierte el prototipo en un servicio predictivo de mayor valor.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B92EE0A4-C661-4A51-B987-BF63FFB7674D}"/>
              </a:ext>
            </a:extLst>
          </ns0:cNvPr>
          <ns0:cNvSpPr>
            <a:spLocks noGrp="1"/>
          </ns0:cNvSpPr>
          <ns0:nvPr/>
        </ns0:nvSpPr>
        <ns0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arquitectura actual permite crecer sin perder trazabilidad.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C6B71222-E791-464E-B676-76E0CC195CDC}"/>
              </a:ext>
            </a:extLst>
          </ns0:cNvPr>
          <ns0:cNvSpPr>
            <a:spLocks noGrp="1"/>
          </ns0:cNvSpPr>
          <ns0:nvPr/>
        </ns0:nvSpPr>
        <ns0:spPr>
          <a:xfrm>
            <a:off x="68580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8" name="">
            <a:extLst>
              <a:ext uri="{FF2B5EF4-FFF2-40B4-BE49-F238E27FC236}">
                <ns2:creationId id="{582203E0-87E8-410B-BC82-C510BD0127F0}"/>
              </a:ext>
            </a:extLst>
          </ns0:cNvPr>
          <ns0:cNvSpPr>
            <a:spLocks noGrp="1"/>
          </ns0:cNvSpPr>
          <ns0:nvPr/>
        </ns0:nvSpPr>
        <ns0:spPr>
          <a:xfrm>
            <a:off x="85725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E3BE8A67-C935-48A0-BD9C-586A3F4CF7F8}"/>
              </a:ext>
            </a:extLst>
          </ns0:cNvPr>
          <ns0:cNvSpPr>
            <a:spLocks noGrp="1"/>
          </ns0:cNvSpPr>
          <ns0:nvPr/>
        </ns0:nvSpPr>
        <ns0:spPr>
          <a:xfrm>
            <a:off x="85725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Riegos reales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F87980CF-187A-4A82-9DE4-B7C6BCDEA848}"/>
              </a:ext>
            </a:extLst>
          </ns0:cNvPr>
          <ns0:cNvSpPr>
            <a:spLocks noGrp="1"/>
          </ns0:cNvSpPr>
          <ns0:nvPr/>
        </ns0:nvSpPr>
        <ns0:spPr>
          <a:xfrm>
            <a:off x="85725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Etiquetas de campo para calibrar el modelo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9180E126-F97D-42B3-8A3F-80AD6F0AA8F5}"/>
              </a:ext>
            </a:extLst>
          </ns0:cNvPr>
          <ns0:cNvSpPr>
            <a:spLocks noGrp="1"/>
          </ns0:cNvSpPr>
          <ns0:nvPr/>
        </ns0:nvSpPr>
        <ns0:spPr>
          <a:xfrm>
            <a:off x="201930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3E6373F1-8085-40E3-B270-597CA49A062A}"/>
              </a:ext>
            </a:extLst>
          </ns0:cNvPr>
          <ns0:cNvSpPr>
            <a:spLocks noGrp="1"/>
          </ns0:cNvSpPr>
          <ns0:nvPr/>
        </ns0:nvSpPr>
        <ns0:spPr>
          <a:xfrm>
            <a:off x="225742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A598014A-A998-4F98-975A-A999F5C787D5}"/>
              </a:ext>
            </a:extLst>
          </ns0:cNvPr>
          <ns0:cNvSpPr>
            <a:spLocks noGrp="1"/>
          </ns0:cNvSpPr>
          <ns0:nvPr/>
        </ns0:nvSpPr>
        <ns0:spPr>
          <a:xfrm>
            <a:off x="242887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AFA3698D-F5A0-46E4-8AC3-01BAA89F197C}"/>
              </a:ext>
            </a:extLst>
          </ns0:cNvPr>
          <ns0:cNvSpPr>
            <a:spLocks noGrp="1"/>
          </ns0:cNvSpPr>
          <ns0:nvPr/>
        </ns0:nvSpPr>
        <ns0:spPr>
          <a:xfrm>
            <a:off x="242887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Sensores IoT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F360FD3A-8439-466E-8EA8-2534ED801CA4}"/>
              </a:ext>
            </a:extLst>
          </ns0:cNvPr>
          <ns0:cNvSpPr>
            <a:spLocks noGrp="1"/>
          </ns0:cNvSpPr>
          <ns0:nvPr/>
        </ns0:nvSpPr>
        <ns0:spPr>
          <a:xfrm>
            <a:off x="242887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Humedad de suelo y respuesta local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0CC1B686-9731-41DA-91C1-C47F5F09D3EC}"/>
              </a:ext>
            </a:extLst>
          </ns0:cNvPr>
          <ns0:cNvSpPr>
            <a:spLocks noGrp="1"/>
          </ns0:cNvSpPr>
          <ns0:nvPr/>
        </ns0:nvSpPr>
        <ns0:spPr>
          <a:xfrm>
            <a:off x="359092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B4D9E18-061E-4EC5-8ADB-39855ADDB8FF}"/>
              </a:ext>
            </a:extLst>
          </ns0:cNvPr>
          <ns0:cNvSpPr>
            <a:spLocks noGrp="1"/>
          </ns0:cNvSpPr>
          <ns0:nvPr/>
        </ns0:nvSpPr>
        <ns0:spPr>
          <a:xfrm>
            <a:off x="382905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4FF25A99-1BAA-48B4-B120-DB962A1719D0}"/>
              </a:ext>
            </a:extLst>
          </ns0:cNvPr>
          <ns0:cNvSpPr>
            <a:spLocks noGrp="1"/>
          </ns0:cNvSpPr>
          <ns0:nvPr/>
        </ns0:nvSpPr>
        <ns0:spPr>
          <a:xfrm>
            <a:off x="400050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6DA627A-2E35-4AA0-A47D-08F7CC7E82F9}"/>
              </a:ext>
            </a:extLst>
          </ns0:cNvPr>
          <ns0:cNvSpPr>
            <a:spLocks noGrp="1"/>
          </ns0:cNvSpPr>
          <ns0:nvPr/>
        </ns0:nvSpPr>
        <ns0:spPr>
          <a:xfrm>
            <a:off x="400050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Predicción climática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E497A006-ACA6-4C58-AC7E-1D4AC67DA7F6}"/>
              </a:ext>
            </a:extLst>
          </ns0:cNvPr>
          <ns0:cNvSpPr>
            <a:spLocks noGrp="1"/>
          </ns0:cNvSpPr>
          <ns0:nvPr/>
        </ns0:nvSpPr>
        <ns0:spPr>
          <a:xfrm>
            <a:off x="400050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Incorporar previsión meteorológica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271075DF-1B62-4B8D-AF83-3E1155004BDD}"/>
              </a:ext>
            </a:extLst>
          </ns0:cNvPr>
          <ns0:cNvSpPr>
            <a:spLocks noGrp="1"/>
          </ns0:cNvSpPr>
          <ns0:nvPr/>
        </ns0:nvSpPr>
        <ns0:spPr>
          <a:xfrm>
            <a:off x="516255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D889A155-ADA8-4666-BDB5-B8E496A3F4F4}"/>
              </a:ext>
            </a:extLst>
          </ns0:cNvPr>
          <ns0:cNvSpPr>
            <a:spLocks noGrp="1"/>
          </ns0:cNvSpPr>
          <ns0:nvPr/>
        </ns0:nvSpPr>
        <ns0:spPr>
          <a:xfrm>
            <a:off x="540067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C03ABC83-81F4-4A81-A9BC-4E4EDEA521B7}"/>
              </a:ext>
            </a:extLst>
          </ns0:cNvPr>
          <ns0:cNvSpPr>
            <a:spLocks noGrp="1"/>
          </ns0:cNvSpPr>
          <ns0:nvPr/>
        </ns0:nvSpPr>
        <ns0:spPr>
          <a:xfrm>
            <a:off x="557212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D8A2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8A23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8AF8BA2B-5691-4488-AD17-31FED1D73C95}"/>
              </a:ext>
            </a:extLst>
          </ns0:cNvPr>
          <ns0:cNvSpPr>
            <a:spLocks noGrp="1"/>
          </ns0:cNvSpPr>
          <ns0:nvPr/>
        </ns0:nvSpPr>
        <ns0:spPr>
          <a:xfrm>
            <a:off x="557212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BigQuery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015F1A13-997D-4930-9AB6-ECC91E0A6EF7}"/>
              </a:ext>
            </a:extLst>
          </ns0:cNvPr>
          <ns0:cNvSpPr>
            <a:spLocks noGrp="1"/>
          </ns0:cNvSpPr>
          <ns0:nvPr/>
        </ns0:nvSpPr>
        <ns0:spPr>
          <a:xfrm>
            <a:off x="557212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Históricos y escalado de datos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0F4C16DB-6229-4926-B38A-7660BFCDADF8}"/>
              </a:ext>
            </a:extLst>
          </ns0:cNvPr>
          <ns0:cNvSpPr>
            <a:spLocks noGrp="1"/>
          </ns0:cNvSpPr>
          <ns0:nvPr/>
        </ns0:nvSpPr>
        <ns0:spPr>
          <a:xfrm>
            <a:off x="673417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9002DF0E-64FF-4814-BE86-5E7851B9AA56}"/>
              </a:ext>
            </a:extLst>
          </ns0:cNvPr>
          <ns0:cNvSpPr>
            <a:spLocks noGrp="1"/>
          </ns0:cNvSpPr>
          <ns0:nvPr/>
        </ns0:nvSpPr>
        <ns0:spPr>
          <a:xfrm>
            <a:off x="697230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BD8C9CB9-E989-4C68-86F5-DE2F22A6B9B3}"/>
              </a:ext>
            </a:extLst>
          </ns0:cNvPr>
          <ns0:cNvSpPr>
            <a:spLocks noGrp="1"/>
          </ns0:cNvSpPr>
          <ns0:nvPr/>
        </ns0:nvSpPr>
        <ns0:spPr>
          <a:xfrm>
            <a:off x="714375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E6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DBC13556-158A-48A8-BE2D-1E9BCDEBB103}"/>
              </a:ext>
            </a:extLst>
          </ns0:cNvPr>
          <ns0:cNvSpPr>
            <a:spLocks noGrp="1"/>
          </ns0:cNvSpPr>
          <ns0:nvPr/>
        </ns0:nvSpPr>
        <ns0:spPr>
          <a:xfrm>
            <a:off x="714375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Parcelas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DA2F818C-3EB2-4FA9-9B84-3FCFA060AD02}"/>
              </a:ext>
            </a:extLst>
          </ns0:cNvPr>
          <ns0:cNvSpPr>
            <a:spLocks noGrp="1"/>
          </ns0:cNvSpPr>
          <ns0:nvPr/>
        </ns0:nvSpPr>
        <ns0:spPr>
          <a:xfrm>
            <a:off x="714375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Gestión de clientes y ubicaciones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5D1B3C88-4DE3-42D9-B015-C268CBE94AE8}"/>
              </a:ext>
            </a:extLst>
          </ns0:cNvPr>
          <ns0:cNvSpPr>
            <a:spLocks noGrp="1"/>
          </ns0:cNvSpPr>
          <ns0:nvPr/>
        </ns0:nvSpPr>
        <ns0:spPr>
          <a:xfrm>
            <a:off x="8305800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878091F1-3D2E-46DB-8AC2-03A87650D3C4}"/>
              </a:ext>
            </a:extLst>
          </ns0:cNvPr>
          <ns0:cNvSpPr>
            <a:spLocks noGrp="1"/>
          </ns0:cNvSpPr>
          <ns0:nvPr/>
        </ns0:nvSpPr>
        <ns0:spPr>
          <a:xfrm>
            <a:off x="8543925" y="2381250"/>
            <a:ext cx="1333500" cy="13335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3" name="">
            <a:extLst>
              <a:ext uri="{FF2B5EF4-FFF2-40B4-BE49-F238E27FC236}">
                <ns2:creationId id="{AF9671F7-ECA6-4D2E-8D9B-286D0799D3EA}"/>
              </a:ext>
            </a:extLst>
          </ns0:cNvPr>
          <ns0:cNvSpPr>
            <a:spLocks noGrp="1"/>
          </ns0:cNvSpPr>
          <ns0:nvPr/>
        </ns0:nvSpPr>
        <ns0:spPr>
          <a:xfrm>
            <a:off x="8715375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F5E8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78038550-347B-46CE-AA21-0845798ECBE5}"/>
              </a:ext>
            </a:extLst>
          </ns0:cNvPr>
          <ns0:cNvSpPr>
            <a:spLocks noGrp="1"/>
          </ns0:cNvSpPr>
          <ns0:nvPr/>
        </ns0:nvSpPr>
        <ns0:spPr>
          <a:xfrm>
            <a:off x="8715375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Alertas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3ADFC751-7E0D-45D1-BD69-0B4417BEC3C1}"/>
              </a:ext>
            </a:extLst>
          </ns0:cNvPr>
          <ns0:cNvSpPr>
            <a:spLocks noGrp="1"/>
          </ns0:cNvSpPr>
          <ns0:nvPr/>
        </ns0:nvSpPr>
        <ns0:spPr>
          <a:xfrm>
            <a:off x="8715375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Recomendaciones recurrentes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2AA84312-4B71-470C-83EB-FD77DE4AE934}"/>
              </a:ext>
            </a:extLst>
          </ns0:cNvPr>
          <ns0:cNvSpPr>
            <a:spLocks noGrp="1"/>
          </ns0:cNvSpPr>
          <ns0:nvPr/>
        </ns0:nvSpPr>
        <ns0:spPr>
          <a:xfrm>
            <a:off x="9877425" y="3028950"/>
            <a:ext cx="304800" cy="38100"/>
          </a:xfrm>
          <a:prstGeom prst="rect">
            <a:avLst/>
          </a:prstGeom>
          <a:solidFill>
            <a:srgbClr val="CBD5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7" name="">
            <a:extLst>
              <a:ext uri="{FF2B5EF4-FFF2-40B4-BE49-F238E27FC236}">
                <ns2:creationId id="{5FB6CB37-4768-453D-BC43-12C4AE457E82}"/>
              </a:ext>
            </a:extLst>
          </ns0:cNvPr>
          <ns0:cNvSpPr>
            <a:spLocks noGrp="1"/>
          </ns0:cNvSpPr>
          <ns0:nvPr/>
        </ns0:nvSpPr>
        <ns0:spPr>
          <a:xfrm>
            <a:off x="10115550" y="23812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ns0:spPr>
      </ns0:sp>
      <ns0:sp>
        <ns0:nvSpPr>
          <ns0:cNvPr id="38" name="">
            <a:extLst>
              <a:ext uri="{FF2B5EF4-FFF2-40B4-BE49-F238E27FC236}">
                <ns2:creationId id="{74BD7CA3-EA3E-43DB-A8C3-A3249985150A}"/>
              </a:ext>
            </a:extLst>
          </ns0:cNvPr>
          <ns0:cNvSpPr>
            <a:spLocks noGrp="1"/>
          </ns0:cNvSpPr>
          <ns0:nvPr/>
        </ns0:nvSpPr>
        <ns0:spPr>
          <a:xfrm>
            <a:off x="10287000" y="25527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22D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ns0:txBody>
      </ns0:sp>
      <ns0:sp>
        <ns0:nvSpPr>
          <ns0:cNvPr id="39" name="">
            <a:extLst>
              <a:ext uri="{FF2B5EF4-FFF2-40B4-BE49-F238E27FC236}">
                <ns2:creationId id="{BBEF31D5-7B38-4041-B17E-6AA321727DCD}"/>
              </a:ext>
            </a:extLst>
          </ns0:cNvPr>
          <ns0:cNvSpPr>
            <a:spLocks noGrp="1"/>
          </ns0:cNvSpPr>
          <ns0:nvPr/>
        </ns0:nvSpPr>
        <ns0:spPr>
          <a:xfrm>
            <a:off x="10287000" y="2952750"/>
            <a:ext cx="1000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SaaS</a:t>
            </a:r>
          </a:p>
        </ns0:txBody>
      </ns0:sp>
      <ns0:sp>
        <ns0:nvSpPr>
          <ns0:cNvPr id="40" name="">
            <a:extLst>
              <a:ext uri="{FF2B5EF4-FFF2-40B4-BE49-F238E27FC236}">
                <ns2:creationId id="{0BC0BC00-9AB5-42D5-9E0C-0B9C5165776E}"/>
              </a:ext>
            </a:extLst>
          </ns0:cNvPr>
          <ns0:cNvSpPr>
            <a:spLocks noGrp="1"/>
          </ns0:cNvSpPr>
          <ns0:nvPr/>
        </ns0:nvSpPr>
        <ns0:spPr>
          <a:xfrm>
            <a:off x="10287000" y="3409950"/>
            <a:ext cx="990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Servicio comercializable</a:t>
            </a:r>
          </a:p>
        </ns0:txBody>
      </ns0:sp>
      <ns0:sp>
        <ns0:nvSpPr>
          <ns0:cNvPr id="41" name="">
            <a:extLst>
              <a:ext uri="{FF2B5EF4-FFF2-40B4-BE49-F238E27FC236}">
                <ns2:creationId id="{18D3EF1D-7532-4B9D-80AC-55FBFA053184}"/>
              </a:ext>
            </a:extLst>
          </ns0:cNvPr>
          <ns0:cNvSpPr>
            <a:spLocks noGrp="1"/>
          </ns0:cNvSpPr>
          <ns0:nvPr/>
        </ns0:nvSpPr>
        <ns0:spPr>
          <a:xfrm>
            <a:off x="685800" y="4476750"/>
            <a:ext cx="9858375" cy="7810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ns0:spPr>
      </ns0:sp>
      <ns0:sp>
        <ns0:nvSpPr>
          <ns0:cNvPr id="42" name="">
            <a:extLst>
              <a:ext uri="{FF2B5EF4-FFF2-40B4-BE49-F238E27FC236}">
                <ns2:creationId id="{3C4FE617-52E9-402A-9308-EA9BFF6B3F72}"/>
              </a:ext>
            </a:extLst>
          </ns0:cNvPr>
          <ns0:cNvSpPr>
            <a:spLocks noGrp="1"/>
          </ns0:cNvSpPr>
          <ns0:nvPr/>
        </ns0:nvSpPr>
        <ns0:spPr>
          <a:xfrm>
            <a:off x="990600" y="4705350"/>
            <a:ext cx="923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prioridad de la siguiente fase sería entrenar con riegos reales para pasar de una referencia técnica a un modelo calibrado por parcela.</a:t>
            </a:r>
          </a:p>
        </ns0:txBody>
      </ns0:sp>
    </ns0:spTree>
    <ns0:extLst>
      <ns0:ext uri="{BB962C8B-B14F-4D97-AF65-F5344CB8AC3E}">
        <ns3:creationId val="52160478"/>
      </ns0:ext>
    </ns0:extLst>
  </ns0:cSld>
</ns0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FAF41D1-0992-4FB6-ACB3-87027A1FE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D4A8B8D5-CACB-4601-82C9-BBB89F981E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B30E1C0F-78CF-4195-8DBF-120F27E25629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0F03CC9E-502C-485A-B9C6-6F43567B05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CONCLUSIÓN</a:t>
            </a:r>
          </a:p>
        </p:txBody>
      </p:sp>
      <p:sp>
        <p:nvSpPr>
          <p:cNvPr id="5" name="">
            <a:extLst>
              <a:ext uri="{FF2B5EF4-FFF2-40B4-BE49-F238E27FC236}">
                <ns2:creationId id="{54F7438E-B96A-46F2-8BBA-227C34EA5EF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El proyecto demuestra una cadena completa desde el dato oficial hasta la recomendación de riego.</a:t>
            </a:r>
          </a:p>
        </p:txBody>
      </p:sp>
      <p:sp>
        <p:nvSpPr>
          <p:cNvPr id="6" name="">
            <a:extLst>
              <a:ext uri="{FF2B5EF4-FFF2-40B4-BE49-F238E27FC236}">
                <ns2:creationId id="{106AF2EE-FC13-4D4D-A823-E530031B887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El resultado es un prototipo técnicamente justificable, reproducible y ampliable.</a:t>
            </a:r>
          </a:p>
        </p:txBody>
      </p:sp>
      <p:sp>
        <p:nvSpPr>
          <p:cNvPr id="7" name="">
            <a:extLst>
              <a:ext uri="{FF2B5EF4-FFF2-40B4-BE49-F238E27FC236}">
                <ns2:creationId id="{EC5B1B9D-CB6C-47B6-B40A-737B267FD1E7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9144000" cy="31432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2C5D8A2-269B-4450-92C8-12D5C918963D}"/>
              </a:ext>
            </a:extLst>
          </p:cNvPr>
          <p:cNvSpPr>
            <a:spLocks noGrp="1"/>
          </p:cNvSpPr>
          <p:nvPr/>
        </p:nvSpPr>
        <p:spPr>
          <a:xfrm>
            <a:off x="1619250" y="2819400"/>
            <a:ext cx="8191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sistema responde a una pregunta concreta: cuánta agua necesita una plantación según lugar, cultivo, fechas y superficie.</a:t>
            </a:r>
          </a:p>
        </p:txBody>
      </p:sp>
      <p:sp>
        <p:nvSpPr>
          <p:cNvPr id="9" name="">
            <a:extLst>
              <a:ext uri="{FF2B5EF4-FFF2-40B4-BE49-F238E27FC236}">
                <ns2:creationId id="{A8CAE036-0494-4203-ADB4-686BAC7CE07A}"/>
              </a:ext>
            </a:extLst>
          </p:cNvPr>
          <p:cNvSpPr>
            <a:spLocks noGrp="1"/>
          </p:cNvSpPr>
          <p:nvPr/>
        </p:nvSpPr>
        <p:spPr>
          <a:xfrm>
            <a:off x="4495800" y="4248150"/>
            <a:ext cx="1952625" cy="66675"/>
          </a:xfrm>
          <a:prstGeom prst="rect">
            <a:avLst/>
          </a:prstGeom>
          <a:solidFill>
            <a:srgbClr val="D8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7CDB0E5-C6BC-4D88-A064-9DADDC5F67DC}"/>
              </a:ext>
            </a:extLst>
          </p:cNvPr>
          <p:cNvSpPr>
            <a:spLocks noGrp="1"/>
          </p:cNvSpPr>
          <p:nvPr/>
        </p:nvSpPr>
        <p:spPr>
          <a:xfrm>
            <a:off x="2095500" y="45148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CEA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AD8"/>
                </a:solidFill>
                <a:latin typeface="Aptos"/>
                <a:ea typeface="Aptos"/>
                <a:cs typeface="Aptos"/>
              </a:rPr>
              <a:t>La solución no depende del número de goteros; se centra en la demanda hídrica de la parcela y en una salida comprensible para el agricultor.</a:t>
            </a:r>
          </a:p>
        </p:txBody>
      </p:sp>
    </p:spTree>
    <p:extLst>
      <p:ext uri="{BB962C8B-B14F-4D97-AF65-F5344CB8AC3E}">
        <ns3:creationId val="1555164331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77601D8-1748-4853-8C44-5128A2EBE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4196D5E8-53FD-42AC-91FA-F033D7E4CE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CDAD066F-44BC-4B39-8105-6442A42C3B72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B63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F62BCB2C-635C-458C-AB4E-FD88524C5D6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6B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B45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5" name="">
            <a:extLst>
              <a:ext uri="{FF2B5EF4-FFF2-40B4-BE49-F238E27FC236}">
                <ns2:creationId id="{6C75894D-48D3-4824-8E2D-903C5560829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B2630"/>
                </a:solidFill>
                <a:latin typeface="Aptos Display"/>
                <a:ea typeface="Aptos Display"/>
                <a:cs typeface="Aptos Display"/>
              </a:rPr>
              <a:t>Fuentes principales empleadas en la fundamentación técnica.</a:t>
            </a:r>
          </a:p>
        </p:txBody>
      </p:sp>
      <p:sp>
        <p:nvSpPr>
          <p:cNvPr id="6" name="">
            <a:extLst>
              <a:ext uri="{FF2B5EF4-FFF2-40B4-BE49-F238E27FC236}">
                <ns2:creationId id="{4C7B4705-1018-43BF-99EF-DB789AF7C35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Referencias en formato IEEE, ampliadas en la memoria del proyecto.</a:t>
            </a:r>
          </a:p>
        </p:txBody>
      </p:sp>
      <p:sp>
        <p:nvSpPr>
          <p:cNvPr id="7" name="">
            <a:extLst>
              <a:ext uri="{FF2B5EF4-FFF2-40B4-BE49-F238E27FC236}">
                <ns2:creationId id="{DAEB903A-944F-40F7-BF50-0DA636E3BE75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85725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41B76466-FD08-471D-95BD-53479FCFE25D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Ref.</a:t>
            </a:r>
          </a:p>
        </p:txBody>
      </p:sp>
      <p:sp>
        <p:nvSpPr>
          <p:cNvPr id="9" name="">
            <a:extLst>
              <a:ext uri="{FF2B5EF4-FFF2-40B4-BE49-F238E27FC236}">
                <ns2:creationId id="{682ADDE1-AB0C-4CB3-B488-DA17E8FBDA4C}"/>
              </a:ext>
            </a:extLst>
          </p:cNvPr>
          <p:cNvSpPr>
            <a:spLocks noGrp="1"/>
          </p:cNvSpPr>
          <p:nvPr/>
        </p:nvSpPr>
        <p:spPr>
          <a:xfrm>
            <a:off x="1543050" y="2305050"/>
            <a:ext cx="64770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AC3274D-9D00-4EA6-BFFD-ED551455BBE4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628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Fuente</a:t>
            </a:r>
          </a:p>
        </p:txBody>
      </p:sp>
      <p:sp>
        <p:nvSpPr>
          <p:cNvPr id="11" name="">
            <a:extLst>
              <a:ext uri="{FF2B5EF4-FFF2-40B4-BE49-F238E27FC236}">
                <ns2:creationId id="{A89FC7DA-2F25-4BCC-A688-7CFCC892F61C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2667000" cy="361950"/>
          </a:xfrm>
          <a:prstGeom prst="rect">
            <a:avLst/>
          </a:prstGeom>
          <a:solidFill>
            <a:srgbClr val="2E6B45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BCB679D-4D02-4C2A-883C-AA879622D343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en el proyecto</a:t>
            </a:r>
          </a:p>
        </p:txBody>
      </p:sp>
      <p:sp>
        <p:nvSpPr>
          <p:cNvPr id="13" name="">
            <a:extLst>
              <a:ext uri="{FF2B5EF4-FFF2-40B4-BE49-F238E27FC236}">
                <ns2:creationId id="{CAF61665-10DE-45E0-8CCB-4512C31F7E38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857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77F5E4F-A2E3-4DC2-A7FD-1D071FDF8E54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[1]</a:t>
            </a:r>
          </a:p>
        </p:txBody>
      </p:sp>
      <p:sp>
        <p:nvSpPr>
          <p:cNvPr id="15" name="">
            <a:extLst>
              <a:ext uri="{FF2B5EF4-FFF2-40B4-BE49-F238E27FC236}">
                <ns2:creationId id="{AAEE8CD2-B30A-48B3-88E5-FCAEB85982B5}"/>
              </a:ext>
            </a:extLst>
          </p:cNvPr>
          <p:cNvSpPr>
            <a:spLocks noGrp="1"/>
          </p:cNvSpPr>
          <p:nvPr/>
        </p:nvSpPr>
        <p:spPr>
          <a:xfrm>
            <a:off x="1543050" y="2667000"/>
            <a:ext cx="647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6C09ABA7-1E94-4BA5-9326-9E66280BDAD5}"/>
              </a:ext>
            </a:extLst>
          </p:cNvPr>
          <p:cNvSpPr>
            <a:spLocks noGrp="1"/>
          </p:cNvSpPr>
          <p:nvPr/>
        </p:nvSpPr>
        <p:spPr>
          <a:xfrm>
            <a:off x="1638300" y="27622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AEMET, "AEMET OpenData API," Agencia Estatal de Meteorología.</a:t>
            </a:r>
          </a:p>
        </p:txBody>
      </p:sp>
      <p:sp>
        <p:nvSpPr>
          <p:cNvPr id="17" name="">
            <a:extLst>
              <a:ext uri="{FF2B5EF4-FFF2-40B4-BE49-F238E27FC236}">
                <ns2:creationId id="{431BB2B0-FC55-4765-8783-43AFA773E9D9}"/>
              </a:ext>
            </a:extLst>
          </p:cNvPr>
          <p:cNvSpPr>
            <a:spLocks noGrp="1"/>
          </p:cNvSpPr>
          <p:nvPr/>
        </p:nvSpPr>
        <p:spPr>
          <a:xfrm>
            <a:off x="8020050" y="26670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DD4E2F6E-495B-450C-83D9-1B24E5EBCC06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Datos meteorológicos.</a:t>
            </a:r>
          </a:p>
        </p:txBody>
      </p:sp>
      <p:sp>
        <p:nvSpPr>
          <p:cNvPr id="19" name="">
            <a:extLst>
              <a:ext uri="{FF2B5EF4-FFF2-40B4-BE49-F238E27FC236}">
                <ns2:creationId id="{540B8A5B-1CD0-4FD3-AEF2-D57E14221216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857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64D2BE3-EDEF-4F37-BB5E-15EF0311A5D5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[2]</a:t>
            </a:r>
          </a:p>
        </p:txBody>
      </p:sp>
      <p:sp>
        <p:nvSpPr>
          <p:cNvPr id="21" name="">
            <a:extLst>
              <a:ext uri="{FF2B5EF4-FFF2-40B4-BE49-F238E27FC236}">
                <ns2:creationId id="{38E907C6-BF3E-4C80-870C-55C76C2B50AB}"/>
              </a:ext>
            </a:extLst>
          </p:cNvPr>
          <p:cNvSpPr>
            <a:spLocks noGrp="1"/>
          </p:cNvSpPr>
          <p:nvPr/>
        </p:nvSpPr>
        <p:spPr>
          <a:xfrm>
            <a:off x="1543050" y="3086100"/>
            <a:ext cx="647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B78BA48-7079-4FD6-ADA1-95CDC3752804}"/>
              </a:ext>
            </a:extLst>
          </p:cNvPr>
          <p:cNvSpPr>
            <a:spLocks noGrp="1"/>
          </p:cNvSpPr>
          <p:nvPr/>
        </p:nvSpPr>
        <p:spPr>
          <a:xfrm>
            <a:off x="1638300" y="31813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R. G. Allen et al., Crop Evapotranspiration, FAO Irrigation and Drainage Paper 56, 1998.</a:t>
            </a:r>
          </a:p>
        </p:txBody>
      </p:sp>
      <p:sp>
        <p:nvSpPr>
          <p:cNvPr id="23" name="">
            <a:extLst>
              <a:ext uri="{FF2B5EF4-FFF2-40B4-BE49-F238E27FC236}">
                <ns2:creationId id="{1D10264D-800A-4850-B089-70BE38581423}"/>
              </a:ext>
            </a:extLst>
          </p:cNvPr>
          <p:cNvSpPr>
            <a:spLocks noGrp="1"/>
          </p:cNvSpPr>
          <p:nvPr/>
        </p:nvSpPr>
        <p:spPr>
          <a:xfrm>
            <a:off x="8020050" y="30861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48D39DF5-E435-43C1-B558-3E7F59A23FE5}"/>
              </a:ext>
            </a:extLst>
          </p:cNvPr>
          <p:cNvSpPr>
            <a:spLocks noGrp="1"/>
          </p:cNvSpPr>
          <p:nvPr/>
        </p:nvSpPr>
        <p:spPr>
          <a:xfrm>
            <a:off x="8115300" y="3181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ET0, ETc y Kc.</a:t>
            </a:r>
          </a:p>
        </p:txBody>
      </p:sp>
      <p:sp>
        <p:nvSpPr>
          <p:cNvPr id="25" name="">
            <a:extLst>
              <a:ext uri="{FF2B5EF4-FFF2-40B4-BE49-F238E27FC236}">
                <ns2:creationId id="{B803A8B6-8C6B-40A0-835D-AA6F2CB9A876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857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4300081C-6ED3-436E-BCF3-314E8353982F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[3]</a:t>
            </a:r>
          </a:p>
        </p:txBody>
      </p:sp>
      <p:sp>
        <p:nvSpPr>
          <p:cNvPr id="27" name="">
            <a:extLst>
              <a:ext uri="{FF2B5EF4-FFF2-40B4-BE49-F238E27FC236}">
                <ns2:creationId id="{F73733BB-EA59-4315-BEBD-71BF08937238}"/>
              </a:ext>
            </a:extLst>
          </p:cNvPr>
          <p:cNvSpPr>
            <a:spLocks noGrp="1"/>
          </p:cNvSpPr>
          <p:nvPr/>
        </p:nvSpPr>
        <p:spPr>
          <a:xfrm>
            <a:off x="1543050" y="3505200"/>
            <a:ext cx="647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96232AB5-D3AD-4714-8F4F-2403DB27BD4F}"/>
              </a:ext>
            </a:extLst>
          </p:cNvPr>
          <p:cNvSpPr>
            <a:spLocks noGrp="1"/>
          </p:cNvSpPr>
          <p:nvPr/>
        </p:nvSpPr>
        <p:spPr>
          <a:xfrm>
            <a:off x="1638300" y="36004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G. H. Hargreaves and Z. A. Samani, "Reference crop evapotranspiration from temperature," Applied Engineering in Agriculture, 1985.</a:t>
            </a:r>
          </a:p>
        </p:txBody>
      </p:sp>
      <p:sp>
        <p:nvSpPr>
          <p:cNvPr id="29" name="">
            <a:extLst>
              <a:ext uri="{FF2B5EF4-FFF2-40B4-BE49-F238E27FC236}">
                <ns2:creationId id="{31975EBD-8E7E-431A-A9B8-5B22D1BD884C}"/>
              </a:ext>
            </a:extLst>
          </p:cNvPr>
          <p:cNvSpPr>
            <a:spLocks noGrp="1"/>
          </p:cNvSpPr>
          <p:nvPr/>
        </p:nvSpPr>
        <p:spPr>
          <a:xfrm>
            <a:off x="8020050" y="35052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63D7EA7C-8D23-4CEA-A54D-C6368A8E31C4}"/>
              </a:ext>
            </a:extLst>
          </p:cNvPr>
          <p:cNvSpPr>
            <a:spLocks noGrp="1"/>
          </p:cNvSpPr>
          <p:nvPr/>
        </p:nvSpPr>
        <p:spPr>
          <a:xfrm>
            <a:off x="8115300" y="3600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Estimación ET0.</a:t>
            </a:r>
          </a:p>
        </p:txBody>
      </p:sp>
      <p:sp>
        <p:nvSpPr>
          <p:cNvPr id="31" name="">
            <a:extLst>
              <a:ext uri="{FF2B5EF4-FFF2-40B4-BE49-F238E27FC236}">
                <ns2:creationId id="{51F7473A-4120-4C4D-A352-33F4E6BBFBF4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857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B71B355C-D3A6-4011-98F6-BDF45AB97C4D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[4]</a:t>
            </a:r>
          </a:p>
        </p:txBody>
      </p:sp>
      <p:sp>
        <p:nvSpPr>
          <p:cNvPr id="33" name="">
            <a:extLst>
              <a:ext uri="{FF2B5EF4-FFF2-40B4-BE49-F238E27FC236}">
                <ns2:creationId id="{E0910C31-9834-48ED-9FB6-78BF8460E70F}"/>
              </a:ext>
            </a:extLst>
          </p:cNvPr>
          <p:cNvSpPr>
            <a:spLocks noGrp="1"/>
          </p:cNvSpPr>
          <p:nvPr/>
        </p:nvSpPr>
        <p:spPr>
          <a:xfrm>
            <a:off x="1543050" y="3924300"/>
            <a:ext cx="647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A524FB3F-EDB0-4C04-A1E4-11F62F329482}"/>
              </a:ext>
            </a:extLst>
          </p:cNvPr>
          <p:cNvSpPr>
            <a:spLocks noGrp="1"/>
          </p:cNvSpPr>
          <p:nvPr/>
        </p:nvSpPr>
        <p:spPr>
          <a:xfrm>
            <a:off x="1638300" y="40195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F. Chollet, Deep Learning with Python, 2nd ed., Manning, 2021.</a:t>
            </a:r>
          </a:p>
        </p:txBody>
      </p:sp>
      <p:sp>
        <p:nvSpPr>
          <p:cNvPr id="35" name="">
            <a:extLst>
              <a:ext uri="{FF2B5EF4-FFF2-40B4-BE49-F238E27FC236}">
                <ns2:creationId id="{25680515-7A89-45D4-A1C3-20EA5C1485BE}"/>
              </a:ext>
            </a:extLst>
          </p:cNvPr>
          <p:cNvSpPr>
            <a:spLocks noGrp="1"/>
          </p:cNvSpPr>
          <p:nvPr/>
        </p:nvSpPr>
        <p:spPr>
          <a:xfrm>
            <a:off x="8020050" y="39243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BE3EAFC4-C275-4184-B36F-F214233E178A}"/>
              </a:ext>
            </a:extLst>
          </p:cNvPr>
          <p:cNvSpPr>
            <a:spLocks noGrp="1"/>
          </p:cNvSpPr>
          <p:nvPr/>
        </p:nvSpPr>
        <p:spPr>
          <a:xfrm>
            <a:off x="8115300" y="4019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Base conceptual ML/Keras.</a:t>
            </a:r>
          </a:p>
        </p:txBody>
      </p:sp>
      <p:sp>
        <p:nvSpPr>
          <p:cNvPr id="37" name="">
            <a:extLst>
              <a:ext uri="{FF2B5EF4-FFF2-40B4-BE49-F238E27FC236}">
                <ns2:creationId id="{E8BA0D99-EFE5-422C-A67B-D2D142F3DCCE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857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8800201D-6DEB-4795-841C-7AD3C1B25F8E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[5]</a:t>
            </a:r>
          </a:p>
        </p:txBody>
      </p:sp>
      <p:sp>
        <p:nvSpPr>
          <p:cNvPr id="39" name="">
            <a:extLst>
              <a:ext uri="{FF2B5EF4-FFF2-40B4-BE49-F238E27FC236}">
                <ns2:creationId id="{F1877239-A440-4A41-B4BA-D994FC8E7EA2}"/>
              </a:ext>
            </a:extLst>
          </p:cNvPr>
          <p:cNvSpPr>
            <a:spLocks noGrp="1"/>
          </p:cNvSpPr>
          <p:nvPr/>
        </p:nvSpPr>
        <p:spPr>
          <a:xfrm>
            <a:off x="1543050" y="4343400"/>
            <a:ext cx="647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74CCC2EC-3139-4449-9C38-BF78ACABBF1E}"/>
              </a:ext>
            </a:extLst>
          </p:cNvPr>
          <p:cNvSpPr>
            <a:spLocks noGrp="1"/>
          </p:cNvSpPr>
          <p:nvPr/>
        </p:nvSpPr>
        <p:spPr>
          <a:xfrm>
            <a:off x="1638300" y="44386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TensorFlow, "TensorFlow documentation," Google, 2026. [Online]. Available: https://www.tensorflow.org/.</a:t>
            </a:r>
          </a:p>
        </p:txBody>
      </p:sp>
      <p:sp>
        <p:nvSpPr>
          <p:cNvPr id="41" name="">
            <a:extLst>
              <a:ext uri="{FF2B5EF4-FFF2-40B4-BE49-F238E27FC236}">
                <ns2:creationId id="{F103AC7D-BED1-4F6D-B953-E4404550137E}"/>
              </a:ext>
            </a:extLst>
          </p:cNvPr>
          <p:cNvSpPr>
            <a:spLocks noGrp="1"/>
          </p:cNvSpPr>
          <p:nvPr/>
        </p:nvSpPr>
        <p:spPr>
          <a:xfrm>
            <a:off x="8020050" y="4343400"/>
            <a:ext cx="2667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8F01C0DC-8384-447D-938E-22139BFAF279}"/>
              </a:ext>
            </a:extLst>
          </p:cNvPr>
          <p:cNvSpPr>
            <a:spLocks noGrp="1"/>
          </p:cNvSpPr>
          <p:nvPr/>
        </p:nvSpPr>
        <p:spPr>
          <a:xfrm>
            <a:off x="81153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Capa predictiva.</a:t>
            </a:r>
          </a:p>
        </p:txBody>
      </p:sp>
      <p:sp>
        <p:nvSpPr>
          <p:cNvPr id="43" name="">
            <a:extLst>
              <a:ext uri="{FF2B5EF4-FFF2-40B4-BE49-F238E27FC236}">
                <ns2:creationId id="{7F180378-D942-4020-A7D7-1EC771574C88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85725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2B0019D8-2A48-48D8-A8F6-F2707216BA9B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[6]</a:t>
            </a:r>
          </a:p>
        </p:txBody>
      </p:sp>
      <p:sp>
        <p:nvSpPr>
          <p:cNvPr id="45" name="">
            <a:extLst>
              <a:ext uri="{FF2B5EF4-FFF2-40B4-BE49-F238E27FC236}">
                <ns2:creationId id="{DD0C4FB8-F5F0-46AD-86C8-955292511C0C}"/>
              </a:ext>
            </a:extLst>
          </p:cNvPr>
          <p:cNvSpPr>
            <a:spLocks noGrp="1"/>
          </p:cNvSpPr>
          <p:nvPr/>
        </p:nvSpPr>
        <p:spPr>
          <a:xfrm>
            <a:off x="1543050" y="4762500"/>
            <a:ext cx="647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7482D387-563C-4995-AC10-AF4B51372901}"/>
              </a:ext>
            </a:extLst>
          </p:cNvPr>
          <p:cNvSpPr>
            <a:spLocks noGrp="1"/>
          </p:cNvSpPr>
          <p:nvPr/>
        </p:nvSpPr>
        <p:spPr>
          <a:xfrm>
            <a:off x="1638300" y="485775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Streamlit, "Streamlit documentation," 2026. [Online]. Available: https://docs.streamlit.io/.</a:t>
            </a:r>
          </a:p>
        </p:txBody>
      </p:sp>
      <p:sp>
        <p:nvSpPr>
          <p:cNvPr id="47" name="">
            <a:extLst>
              <a:ext uri="{FF2B5EF4-FFF2-40B4-BE49-F238E27FC236}">
                <ns2:creationId id="{01734D72-3C21-4516-AE7D-90D83C4422D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2667000" cy="419100"/>
          </a:xfrm>
          <a:prstGeom prst="rect">
            <a:avLst/>
          </a:prstGeom>
          <a:solidFill>
            <a:srgbClr val="EEF4EF"/>
          </a:solidFill>
          <a:ln w="9525">
            <a:solidFill>
              <a:srgbClr val="CBD5C7"/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FB89E348-A071-4639-815D-E5C241828E6E}"/>
              </a:ext>
            </a:extLst>
          </p:cNvPr>
          <p:cNvSpPr>
            <a:spLocks noGrp="1"/>
          </p:cNvSpPr>
          <p:nvPr/>
        </p:nvSpPr>
        <p:spPr>
          <a:xfrm>
            <a:off x="8115300" y="48577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B263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B2630"/>
                </a:solidFill>
                <a:latin typeface="Aptos"/>
                <a:ea typeface="Aptos"/>
                <a:cs typeface="Aptos"/>
              </a:rPr>
              <a:t>Interfaz web.</a:t>
            </a:r>
          </a:p>
        </p:txBody>
      </p:sp>
      <p:sp>
        <p:nvSpPr>
          <p:cNvPr id="49" name="">
            <a:extLst>
              <a:ext uri="{FF2B5EF4-FFF2-40B4-BE49-F238E27FC236}">
                <ns2:creationId id="{66BBCED6-744E-4787-A135-00DE8D914212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63"/>
                </a:solidFill>
                <a:latin typeface="Aptos"/>
                <a:ea typeface="Aptos"/>
                <a:cs typeface="Aptos"/>
              </a:rPr>
              <a:t>La memoria incluye el desarrollo documental completo y el repositorio conserva código, datos versionados y modelo.</a:t>
            </a:r>
          </a:p>
        </p:txBody>
      </p:sp>
    </p:spTree>
    <p:extLst>
      <p:ext uri="{BB962C8B-B14F-4D97-AF65-F5344CB8AC3E}">
        <ns3:creationId val="2022742752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rra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47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N?mero"/>
          <p:cNvSpPr/>
          <p:nvPr/>
        </p:nvSpPr>
        <p:spPr>
          <a:xfrm>
            <a:off x="11049000" y="619125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900">
                <a:solidFill>
                  <a:srgbClr val="154734"/>
                </a:solidFill>
              </a:rPr>
              <a:t>18</a:t>
            </a:r>
          </a:p>
        </p:txBody>
      </p:sp>
      <p:sp>
        <p:nvSpPr>
          <p:cNvPr id="5" name="T?tulo"/>
          <p:cNvSpPr/>
          <p:nvPr/>
        </p:nvSpPr>
        <p:spPr>
          <a:xfrm>
            <a:off x="685800" y="400050"/>
            <a:ext cx="90000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1850" b="1">
                <a:solidFill>
                  <a:srgbClr val="0C1720"/>
                </a:solidFill>
              </a:rPr>
              <a:t>INTERFAZ STREAMLIT</a:t>
            </a:r>
          </a:p>
        </p:txBody>
      </p:sp>
      <p:sp>
        <p:nvSpPr>
          <p:cNvPr id="6" name="Subt?tulo"/>
          <p:cNvSpPr/>
          <p:nvPr/>
        </p:nvSpPr>
        <p:spPr>
          <a:xfrm>
            <a:off x="685800" y="780000"/>
            <a:ext cx="9800000" cy="6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1200">
                <a:solidFill>
                  <a:srgbClr val="46544C"/>
                </a:solidFill>
              </a:rPr>
              <a:t>La interfaz muestra el inventario nacional AEMET y los resultados del escenario reproducible con Sevilla Aeropuerto.</a:t>
            </a:r>
          </a:p>
        </p:txBody>
      </p:sp>
      <p:pic>
        <p:nvPicPr>
          <p:cNvPr id="7" name="Inventario nacional AEMET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85800" y="1714500"/>
            <a:ext cx="5181600" cy="3115560"/>
          </a:xfrm>
          <a:prstGeom prst="rect">
            <a:avLst/>
          </a:prstGeom>
          <a:ln w="12000">
            <a:solidFill>
              <a:srgbClr val="D3D8CE"/>
            </a:solidFill>
          </a:ln>
        </p:spPr>
      </p:pic>
      <p:pic>
        <p:nvPicPr>
          <p:cNvPr id="8" name="Resultados principales"/>
          <p:cNvPicPr/>
          <p:nvPr/>
        </p:nvPicPr>
        <p:blipFill>
          <a:blip r:embed="rIdImg2"/>
          <a:stretch>
            <a:fillRect/>
          </a:stretch>
        </p:blipFill>
        <p:spPr>
          <a:xfrm>
            <a:off x="6477000" y="1714500"/>
            <a:ext cx="5181600" cy="3115560"/>
          </a:xfrm>
          <a:prstGeom prst="rect">
            <a:avLst/>
          </a:prstGeom>
          <a:ln w="12000">
            <a:solidFill>
              <a:srgbClr val="D3D8CE"/>
            </a:solidFill>
          </a:ln>
        </p:spPr>
      </p:pic>
      <p:sp>
        <p:nvSpPr>
          <p:cNvPr id="9" name="Pie izquierdo"/>
          <p:cNvSpPr/>
          <p:nvPr/>
        </p:nvSpPr>
        <p:spPr>
          <a:xfrm>
            <a:off x="685800" y="5050000"/>
            <a:ext cx="5181600" cy="57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1050" b="1">
                <a:solidFill>
                  <a:srgbClr val="154734"/>
                </a:solidFill>
              </a:rPr>
              <a:t>Inventario nacional: 920 estaciones visibles con filtro por provincia y nombre.</a:t>
            </a:r>
          </a:p>
        </p:txBody>
      </p:sp>
      <p:sp>
        <p:nvSpPr>
          <p:cNvPr id="10" name="Pie derecho"/>
          <p:cNvSpPr/>
          <p:nvPr/>
        </p:nvSpPr>
        <p:spPr>
          <a:xfrm>
            <a:off x="6477000" y="5050000"/>
            <a:ext cx="5181600" cy="57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1050" b="1">
                <a:solidFill>
                  <a:srgbClr val="154734"/>
                </a:solidFill>
              </a:rPr>
              <a:t>Resultados: 97.156 L en 7 días y 13.879 L/día para 3.500 m² de olivar.</a:t>
            </a:r>
          </a:p>
        </p:txBody>
      </p:sp>
      <p:sp>
        <p:nvSpPr>
          <p:cNvPr id="11" name="Nota"/>
          <p:cNvSpPr/>
          <p:nvPr/>
        </p:nvSpPr>
        <p:spPr>
          <a:xfrm>
            <a:off x="685800" y="5753100"/>
            <a:ext cx="101000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s-ES" sz="950">
                <a:solidFill>
                  <a:srgbClr val="46544C"/>
                </a:solidFill>
              </a:rPr>
              <a:t>En modo CSV local, el cálculo se fija a Sevilla Aeropuerto porque el dataset versionado contiene esa estación.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18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2026-05-19T20:57:00.0580000Z</dcterms:created>
  <dcterms:modified xsi:type="dcterms:W3CDTF">2026-05-19T20:57:00.0580000Z</dcterms:modified>
</coreProperties>
</file>